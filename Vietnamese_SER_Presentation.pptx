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trình bày đề tài Nhận diện cảm xúc từ giọng nói tiếng Việt. Trọng tâm của đồ án không phải là tuyên bố một mô hình hoàn hảo, mà là xây dựng một pipeline có thể chạy, benchmark minh bạch và chỉ ra rõ khoảng cách giữa demo và một hệ thống đủ tin cậy.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của bài toán là sự khác biệt giữa nội dung và cách nói. Cùng một câu nhưng pitch, năng lượng hay tốc độ nói khác nhau có thể mang cảm xúc khác. SER có thể hỗ trợ call center, trợ lý ảo hoặc giáo dục, nhưng trong mental health chỉ nên là tín hiệu tham khảo, tuyệt đối không phải công cụ chẩn đoán.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của em gồm bốn phần: hiểu SER, benchmark model công khai, xây dựng app Gradio và deploy demo. Phạm vi chỉ gồm bốn cảm xúc của ViSEC, không fine-tune và không nhận dạng người nói. Mốc mong muốn là 65% accuracy nhưng kết quả hiện tại 40,25%, còn thiếu 24,75 điểm phần trăm.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 nhận audio, đưa về 16 kHz mono, sau đó model biến tín hiệu thành logits và softmax thành phân phối xác suất. Các dấu hiệu quan trọng gồm pitch, energy, tốc độ nói và spectrogram. Đầu ra cuối cùng là top-1 emotion nhưng vẫn cần giữ toàn bộ vector xác suất để người dùng thấy mức phân vân.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Tiếng Việt khó vì sáu thanh điệu vốn đã thay đổi cao độ để phân biệt nghĩa. Cảm xúc cũng làm thay đổi cao độ, năng lượng và nhịp nói nên hai nguồn biến thiên dễ chồng lên nhau. Ngoài ra accent Bắc, Trung, Nam và dữ liệu có nhãn còn ít khiến một model đa ngôn ngữ khó tổng quát tốt.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ViSEC có 5.280 utterances và bốn cảm xúc. Để benchmark nhanh, tái lập được và không thiên lệch class, em lấy 400 clips, đúng 100 cho mỗi class với seed bằng 0. Đây chỉ là một subset cố định, chưa phải đánh giá full dataset hay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MERaLiON-SER-v1 kết hợp Whisper-Medium để trích đặc trưng nội dung âm thanh, ECAPA-TDNN để bổ sung speaker embedding và LoRA cho task emotion. Model trả bảy nhãn raw. UI giữ fearful, disgusted và surprised, không merge vào neutral hay class khác. Khi audit, em phát hiện benchmark runner hiện lấy argmax trong bốn nhãn ViSEC; điểm này được công khai ở slide methodology và cần rerun theo raw top-1.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cũ là chunkformer. Theo kết quả legacy được ghi trong tài liệu trình bày, model đạt 28% accuracy, 15,84% macro-F1 và khoảng 95% dự đoán rơi vào neutral. Vì artifact hiện tại không còn log raw của chunkformer, em chỉ dùng các số này như kết quả lịch sử đã được tài liệu hóa, không dựng thêm confusion matrix.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MERaLiON tốt hơn chunkformer trên accuracy, macro-F1 và F1 của cả bốn class theo tài liệu hiện có. Vì vậy model được chọn làm baseline mặc định. Tuy nhiên từ 40,25% đến ngưỡng 65% vẫn còn rất xa, nên quyết định này chỉ có nghĩa là chọn baseline tốt hơn, không phải model đã đủ production.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bốn số cần nhớ: accuracy 40,25%, macro-F1 40,70%, N bằng 400 và latency trung bình 69 ms mỗi clip trên RTX 4050 FP16. Stop criterion 65% chưa đạt. Nói cách khác, app chạy nhanh nhưng chất lượng dự đoán vẫn là nút thắt chính.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theo từng class, happy và sad yếu nhất, F1 lần lượt khoảng 0,31 và 0,33. Neutral và angry cao hơn, gần 0,50. Em dùng từ dễ hơn theo nghĩa tương đối trong benchmark này, không có nghĩa hai class đó đã đủ chính xác để tin tuyệt đối.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được tách thành ba tầng. Presentation là Gradio app, inference chịu trách nhiệm load audio, quản lý singleton và định dạng kết quả, còn model nằm sau adapter. Hai interface nhỏ giúp UI không phụ thuộc trực tiếp vào implementation của MERaLiON và tạo nền để thay model sau này.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BaseAdapter định nghĩa các hàm load, unload, predict và get_model_info. MeralionAdapter triển khai contract này. UI chỉ gọi inference nên nếu sau này thay bằng Wav2Vec2 hay model custom, phần giao diện hầu như không cần biết chi tiết loader hoặc tensor bên dưới.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người dùng đưa audio vào, Gradio gọi inference.predict. Audio được load và resample về 16 kHz, adapter gọi model để lấy logits rồi softmax thành bảy score thật. Kết quả trả ngược lên UI gồm label, confidence, latency và device. Test đảm bảo không có phân phối uniform giả hoặc giá trị NaN, âm.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 được trình bày như một màn hình gồm ba mode input theo tài liệu: upload, microphone và samples. Kết quả tập trung vào label, confidence, latency, device và toàn bộ bảy class softmax. Em không đưa số confidence minh họa vào mockup vì đó sẽ là số không đến từ một lần chạy thật.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RTX 4050 Laptop 6 GB, model chạy FP16 với trung bình 69 ms mỗi clip. Tổng benchmark 400 clips khoảng 28 giây. Budget VRAM khoảng 1 GB gồm 600 MB weights, khoảng 150 MB activation và 250 MB buffer. Tốc độ đủ cho demo tương tác, nhưng tốc độ nhanh không bù được accuracy thấp.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đi từ repo lên Hugging Face Space dùng Gradio và CPU Basic. Space tải model từ Hub, nên lần đầu có cold start khoảng 30 giây trên CPU. Đây là cách tốt để chia sẻ demo công khai, nhưng không nên hiểu là production deployment có SLA, autoscaling hay giám sát đầy đủ.</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Cài local gồm bốn bước: clone repo, tạo virtual environment, cài requirements và chạy app.py. App mở ở cổng 7860. Nếu có NVIDIA GPU thì cài torch wheel khớp CUDA; đây là bước tùy chọn vì bản Space mặc định dùng CPU.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dùng app rất ngắn: chọn nguồn audio, đưa audio vào, bấm Analyze và đọc kết quả. Điểm cần nhấn mạnh là confidence chỉ phản ánh độ tự tin của model, không đảm bảo dự đoán đúng. Với accuracy 40,25%, kể cả score cao vẫn cần thận trọng và không dùng cho quyết định nhạy cảm.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chuẩn bị vài mẫu gồm neutral, angry và một mẫu happy hoặc sad. Trước demo cần warmup model để tránh cold start. Nếu model dự đoán sai, em không che hay chạy lại đến khi đúng; em dùng kết quả đó để liên hệ với benchmark và nhấn mạnh demo chỉ chứng minh pipeline end-to-end hoạt động.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dùng 400 clips cân bằng, 100 mỗi class, seed 0. Confusion matrix được tính lại từ CSV và có 161 dự đoán đúng. Tuy nhiên audit code cho thấy runner hiện chọn argmax chỉ trong bốn xác suất ViSEC, nên artifact 40,25% không lưu những lần raw top-1 rơi vào ba nhãn ngoài ViSEC. Đây là hạn chế cần sửa và rerun; em vẫn báo cáo số canonical theo yêu cầu nhưng không khẳng định nó đã tuân thủ strict no-merge scoring.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CSV cho thấy lỗi lớn nhất là happy sang sad 46 trên 100 và angry sang sad 49 trên 100. Sad sang neutral là 30, happy sang neutral là 19. Vì vậy em vẫn nhắc neutral là class gây nhầm cho happy và sad, nhưng không nói đó là pattern duy nhất. Tone và accent là giả thuyết hợp lý, chưa có ablation để khẳng định nguyên nhân.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hạn chế chính gồm accuracy dưới 65%, chưa fine-tune, chưa cross-validation và subset còn nhỏ. MERaLiON xem Vietnamese là ngôn ngữ secondary. Vì vậy hệ thống chỉ nên được gọi là runnable demo hoặc research baseline, tuyệt đối không dùng cho quyết định y tế, tuyển dụng hay các quyết định nhạy cảm.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Đóng góp chính của đồ án là app end-to-end, benchmark có artifact, kiến trúc ba tầng với adapter và safety guard chống dựng score giả hoặc merge label. Bài học lớn nhất là demo chạy được không đồng nghĩa model đủ tốt. Việc nói đúng giới hạn là một phần của chất lượng kỹ thuật.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tiếp theo nên bắt đầu bằng fine-tune MERaLiON trên full ViSEC và augmentation. Sau đó có thể thử ensemble với Wav2Vec2-VN, pseudo-labeling, rồi quantization khi chất lượng đã đủ tốt. Mọi cải tiến cần được đánh giá bằng cross-validation và artifact tái lập. Em xin kết thúc và sẵn sàng nhận câu hỏi.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AFC"/>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svg"/><Relationship Id="rId7"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7.svg"/><Relationship Id="rId5" Type="http://schemas.openxmlformats.org/officeDocument/2006/relationships/image" Target="../media/image12.svg"/><Relationship Id="rId10" Type="http://schemas.openxmlformats.org/officeDocument/2006/relationships/image" Target="../media/image16.svg"/><Relationship Id="rId4" Type="http://schemas.openxmlformats.org/officeDocument/2006/relationships/image" Target="../media/image11.sv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svg"/></Relationships>
</file>

<file path=ppt/slides/_rels/slide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20.svg"/><Relationship Id="rId4"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4.svg"/></Relationships>
</file>

<file path=ppt/slides/_rels/slide12.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svg"/></Relationships>
</file>

<file path=ppt/slides/_rels/slide1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7.svg"/></Relationships>
</file>

<file path=ppt/slides/_rels/slide14.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37.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5.svg"/></Relationships>
</file>

<file path=ppt/slides/_rels/slide15.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46.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6.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9.svg"/><Relationship Id="rId4" Type="http://schemas.openxmlformats.org/officeDocument/2006/relationships/image" Target="../media/image48.svg"/></Relationships>
</file>

<file path=ppt/slides/_rels/slide17.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50.svg"/><Relationship Id="rId7" Type="http://schemas.openxmlformats.org/officeDocument/2006/relationships/image" Target="../media/image52.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37.svg"/><Relationship Id="rId4" Type="http://schemas.openxmlformats.org/officeDocument/2006/relationships/image" Target="../media/image51.svg"/></Relationships>
</file>

<file path=ppt/slides/_rels/slide18.xml.rels><?xml version="1.0" encoding="UTF-8" standalone="yes"?>
<Relationships xmlns="http://schemas.openxmlformats.org/package/2006/relationships"><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7.svg"/><Relationship Id="rId5" Type="http://schemas.openxmlformats.org/officeDocument/2006/relationships/image" Target="../media/image56.svg"/><Relationship Id="rId4" Type="http://schemas.openxmlformats.org/officeDocument/2006/relationships/image" Target="../media/image55.svg"/></Relationships>
</file>

<file path=ppt/slides/_rels/slide19.xml.rels><?xml version="1.0" encoding="UTF-8" standalone="yes"?>
<Relationships xmlns="http://schemas.openxmlformats.org/package/2006/relationships"><Relationship Id="rId3" Type="http://schemas.openxmlformats.org/officeDocument/2006/relationships/image" Target="../media/image59.svg"/><Relationship Id="rId7" Type="http://schemas.openxmlformats.org/officeDocument/2006/relationships/image" Target="../media/image31.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61.svg"/><Relationship Id="rId4" Type="http://schemas.openxmlformats.org/officeDocument/2006/relationships/image" Target="../media/image60.svg"/></Relationships>
</file>

<file path=ppt/slides/_rels/slide20.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64.svg"/><Relationship Id="rId4" Type="http://schemas.openxmlformats.org/officeDocument/2006/relationships/image" Target="../media/image63.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7.svg"/><Relationship Id="rId4" Type="http://schemas.openxmlformats.org/officeDocument/2006/relationships/image" Target="../media/image66.svg"/></Relationships>
</file>

<file path=ppt/slides/_rels/slide23.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1.svg"/><Relationship Id="rId5" Type="http://schemas.openxmlformats.org/officeDocument/2006/relationships/image" Target="../media/image70.svg"/><Relationship Id="rId4" Type="http://schemas.openxmlformats.org/officeDocument/2006/relationships/image" Target="../media/image69.svg"/></Relationships>
</file>

<file path=ppt/slides/_rels/slide24.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6.svg"/><Relationship Id="rId5" Type="http://schemas.openxmlformats.org/officeDocument/2006/relationships/image" Target="../media/image75.svg"/><Relationship Id="rId4" Type="http://schemas.openxmlformats.org/officeDocument/2006/relationships/image" Target="../media/image74.svg"/></Relationships>
</file>

<file path=ppt/slides/_rels/slide25.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78.svg"/><Relationship Id="rId4"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pic>
        <p:nvPicPr>
          <p:cNvPr id="2" name="Image 0" descr="/home/quocphuhandsome/Downloads/300nganproject/presentation_assets/audio_ai_cover.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6035040" cy="6858000"/>
          </a:xfrm>
          <a:prstGeom prst="rect">
            <a:avLst/>
          </a:prstGeom>
          <a:solidFill>
            <a:srgbClr val="0F172A">
              <a:alpha val="84000"/>
            </a:srgbClr>
          </a:solidFill>
          <a:ln w="12700">
            <a:solidFill>
              <a:srgbClr val="0F172A">
                <a:alpha val="0"/>
              </a:srgbClr>
            </a:solidFill>
            <a:prstDash val="solid"/>
          </a:ln>
        </p:spPr>
      </p:sp>
      <p:sp>
        <p:nvSpPr>
          <p:cNvPr id="4" name="Shape 1"/>
          <p:cNvSpPr/>
          <p:nvPr/>
        </p:nvSpPr>
        <p:spPr>
          <a:xfrm>
            <a:off x="566928" y="621792"/>
            <a:ext cx="73152" cy="4160520"/>
          </a:xfrm>
          <a:prstGeom prst="rect">
            <a:avLst/>
          </a:prstGeom>
          <a:solidFill>
            <a:srgbClr val="38BDF8"/>
          </a:solidFill>
          <a:ln w="12700">
            <a:solidFill>
              <a:srgbClr val="38BDF8"/>
            </a:solidFill>
            <a:prstDash val="solid"/>
          </a:ln>
        </p:spPr>
      </p:sp>
      <p:sp>
        <p:nvSpPr>
          <p:cNvPr id="5" name="Shape 2"/>
          <p:cNvSpPr/>
          <p:nvPr/>
        </p:nvSpPr>
        <p:spPr>
          <a:xfrm>
            <a:off x="841248" y="658368"/>
            <a:ext cx="2304288" cy="347472"/>
          </a:xfrm>
          <a:prstGeom prst="roundRect">
            <a:avLst>
              <a:gd name="adj" fmla="val 10526"/>
            </a:avLst>
          </a:prstGeom>
          <a:solidFill>
            <a:srgbClr val="17375E"/>
          </a:solidFill>
          <a:ln w="12700">
            <a:solidFill>
              <a:srgbClr val="17375E"/>
            </a:solidFill>
            <a:prstDash val="solid"/>
          </a:ln>
        </p:spPr>
      </p:sp>
      <p:sp>
        <p:nvSpPr>
          <p:cNvPr id="6" name="Text 3"/>
          <p:cNvSpPr txBox="1"/>
          <p:nvPr/>
        </p:nvSpPr>
        <p:spPr>
          <a:xfrm>
            <a:off x="914400" y="658368"/>
            <a:ext cx="2157984" cy="347472"/>
          </a:xfrm>
          <a:prstGeom prst="rect">
            <a:avLst/>
          </a:prstGeom>
          <a:noFill/>
          <a:ln/>
        </p:spPr>
        <p:txBody>
          <a:bodyPr wrap="square" lIns="0" tIns="0" rIns="0" bIns="0" rtlCol="0" anchor="ctr">
            <a:normAutofit/>
          </a:bodyPr>
          <a:lstStyle/>
          <a:p>
            <a:pPr marL="0" indent="0" algn="ctr">
              <a:buNone/>
            </a:pPr>
            <a:r>
              <a:rPr lang="en-US" sz="1000" b="1" dirty="0">
                <a:solidFill>
                  <a:srgbClr val="BAE6FD"/>
                </a:solidFill>
                <a:latin typeface="Arial" pitchFamily="34" charset="0"/>
                <a:ea typeface="Arial" pitchFamily="34" charset="-122"/>
                <a:cs typeface="Arial" pitchFamily="34" charset="-120"/>
              </a:rPr>
              <a:t>BẢO VỆ ĐỒ ÁN  •  AI / NLP</a:t>
            </a:r>
            <a:endParaRPr lang="en-US" sz="1000" dirty="0"/>
          </a:p>
        </p:txBody>
      </p:sp>
      <p:sp>
        <p:nvSpPr>
          <p:cNvPr id="7" name="Text 4"/>
          <p:cNvSpPr txBox="1"/>
          <p:nvPr/>
        </p:nvSpPr>
        <p:spPr>
          <a:xfrm>
            <a:off x="841248" y="1225296"/>
            <a:ext cx="4754880" cy="1417320"/>
          </a:xfrm>
          <a:prstGeom prst="rect">
            <a:avLst/>
          </a:prstGeom>
          <a:noFill/>
          <a:ln/>
        </p:spPr>
        <p:txBody>
          <a:bodyPr wrap="square" lIns="0" tIns="0" rIns="0" bIns="0" rtlCol="0" anchor="t">
            <a:normAutofit/>
          </a:bodyPr>
          <a:lstStyle/>
          <a:p>
            <a:pPr marL="0" indent="0" algn="l">
              <a:buNone/>
            </a:pPr>
            <a:r>
              <a:rPr lang="en-US" sz="2900" b="1" dirty="0">
                <a:solidFill>
                  <a:srgbClr val="FFFFFF"/>
                </a:solidFill>
                <a:latin typeface="Arial" pitchFamily="34" charset="0"/>
                <a:ea typeface="Arial" pitchFamily="34" charset="-122"/>
                <a:cs typeface="Arial" pitchFamily="34" charset="-120"/>
              </a:rPr>
              <a:t>Vietnamese Speech</a:t>
            </a:r>
            <a:endParaRPr lang="en-US" sz="2900" dirty="0"/>
          </a:p>
          <a:p>
            <a:pPr marL="0" indent="0" algn="l">
              <a:buNone/>
            </a:pPr>
            <a:r>
              <a:rPr lang="en-US" sz="2900" b="1" dirty="0">
                <a:solidFill>
                  <a:srgbClr val="FFFFFF"/>
                </a:solidFill>
                <a:latin typeface="Arial" pitchFamily="34" charset="0"/>
                <a:ea typeface="Arial" pitchFamily="34" charset="-122"/>
                <a:cs typeface="Arial" pitchFamily="34" charset="-120"/>
              </a:rPr>
              <a:t>Emotion Recognition</a:t>
            </a:r>
            <a:endParaRPr lang="en-US" sz="2900" dirty="0"/>
          </a:p>
        </p:txBody>
      </p:sp>
      <p:sp>
        <p:nvSpPr>
          <p:cNvPr id="8" name="Text 5"/>
          <p:cNvSpPr txBox="1"/>
          <p:nvPr/>
        </p:nvSpPr>
        <p:spPr>
          <a:xfrm>
            <a:off x="859536" y="2788920"/>
            <a:ext cx="4480560" cy="438912"/>
          </a:xfrm>
          <a:prstGeom prst="rect">
            <a:avLst/>
          </a:prstGeom>
          <a:noFill/>
          <a:ln/>
        </p:spPr>
        <p:txBody>
          <a:bodyPr wrap="square" lIns="0" tIns="0" rIns="0" bIns="0" rtlCol="0" anchor="ctr">
            <a:normAutofit/>
          </a:bodyPr>
          <a:lstStyle/>
          <a:p>
            <a:pPr marL="0" indent="0" algn="l">
              <a:buNone/>
            </a:pPr>
            <a:r>
              <a:rPr lang="en-US" sz="1500" dirty="0">
                <a:solidFill>
                  <a:srgbClr val="BAE6FD"/>
                </a:solidFill>
                <a:latin typeface="Arial" pitchFamily="34" charset="0"/>
                <a:ea typeface="Arial" pitchFamily="34" charset="-122"/>
                <a:cs typeface="Arial" pitchFamily="34" charset="-120"/>
              </a:rPr>
              <a:t>Nhận diện cảm xúc từ giọng nói tiếng Việt</a:t>
            </a:r>
            <a:endParaRPr lang="en-US" sz="1500" dirty="0"/>
          </a:p>
        </p:txBody>
      </p:sp>
      <p:sp>
        <p:nvSpPr>
          <p:cNvPr id="9" name="Shape 6"/>
          <p:cNvSpPr/>
          <p:nvPr/>
        </p:nvSpPr>
        <p:spPr>
          <a:xfrm>
            <a:off x="859536" y="3657600"/>
            <a:ext cx="53815" cy="36576"/>
          </a:xfrm>
          <a:prstGeom prst="roundRect">
            <a:avLst>
              <a:gd name="adj" fmla="val 50000"/>
            </a:avLst>
          </a:prstGeom>
          <a:solidFill>
            <a:srgbClr val="38BDF8">
              <a:alpha val="92000"/>
            </a:srgbClr>
          </a:solidFill>
          <a:ln w="12700">
            <a:solidFill>
              <a:srgbClr val="38BDF8">
                <a:alpha val="0"/>
              </a:srgbClr>
            </a:solidFill>
            <a:prstDash val="solid"/>
          </a:ln>
        </p:spPr>
      </p:sp>
      <p:sp>
        <p:nvSpPr>
          <p:cNvPr id="10" name="Shape 7"/>
          <p:cNvSpPr/>
          <p:nvPr/>
        </p:nvSpPr>
        <p:spPr>
          <a:xfrm>
            <a:off x="976525" y="3598577"/>
            <a:ext cx="53815" cy="154622"/>
          </a:xfrm>
          <a:prstGeom prst="roundRect">
            <a:avLst>
              <a:gd name="adj" fmla="val 33983"/>
            </a:avLst>
          </a:prstGeom>
          <a:solidFill>
            <a:srgbClr val="38BDF8">
              <a:alpha val="92000"/>
            </a:srgbClr>
          </a:solidFill>
          <a:ln w="12700">
            <a:solidFill>
              <a:srgbClr val="38BDF8">
                <a:alpha val="0"/>
              </a:srgbClr>
            </a:solidFill>
            <a:prstDash val="solid"/>
          </a:ln>
        </p:spPr>
      </p:sp>
      <p:sp>
        <p:nvSpPr>
          <p:cNvPr id="11" name="Shape 8"/>
          <p:cNvSpPr/>
          <p:nvPr/>
        </p:nvSpPr>
        <p:spPr>
          <a:xfrm>
            <a:off x="1093515" y="3642871"/>
            <a:ext cx="53815" cy="66034"/>
          </a:xfrm>
          <a:prstGeom prst="roundRect">
            <a:avLst>
              <a:gd name="adj" fmla="val 33983"/>
            </a:avLst>
          </a:prstGeom>
          <a:solidFill>
            <a:srgbClr val="38BDF8">
              <a:alpha val="92000"/>
            </a:srgbClr>
          </a:solidFill>
          <a:ln w="12700">
            <a:solidFill>
              <a:srgbClr val="38BDF8">
                <a:alpha val="0"/>
              </a:srgbClr>
            </a:solidFill>
            <a:prstDash val="solid"/>
          </a:ln>
        </p:spPr>
      </p:sp>
      <p:sp>
        <p:nvSpPr>
          <p:cNvPr id="12" name="Shape 9"/>
          <p:cNvSpPr/>
          <p:nvPr/>
        </p:nvSpPr>
        <p:spPr>
          <a:xfrm>
            <a:off x="1210504" y="3641035"/>
            <a:ext cx="53815" cy="69706"/>
          </a:xfrm>
          <a:prstGeom prst="roundRect">
            <a:avLst>
              <a:gd name="adj" fmla="val 33983"/>
            </a:avLst>
          </a:prstGeom>
          <a:solidFill>
            <a:srgbClr val="38BDF8">
              <a:alpha val="92000"/>
            </a:srgbClr>
          </a:solidFill>
          <a:ln w="12700">
            <a:solidFill>
              <a:srgbClr val="38BDF8">
                <a:alpha val="0"/>
              </a:srgbClr>
            </a:solidFill>
            <a:prstDash val="solid"/>
          </a:ln>
        </p:spPr>
      </p:sp>
      <p:sp>
        <p:nvSpPr>
          <p:cNvPr id="13" name="Shape 10"/>
          <p:cNvSpPr/>
          <p:nvPr/>
        </p:nvSpPr>
        <p:spPr>
          <a:xfrm>
            <a:off x="1327494" y="3630560"/>
            <a:ext cx="53815" cy="90656"/>
          </a:xfrm>
          <a:prstGeom prst="roundRect">
            <a:avLst>
              <a:gd name="adj" fmla="val 33983"/>
            </a:avLst>
          </a:prstGeom>
          <a:solidFill>
            <a:srgbClr val="38BDF8">
              <a:alpha val="92000"/>
            </a:srgbClr>
          </a:solidFill>
          <a:ln w="12700">
            <a:solidFill>
              <a:srgbClr val="38BDF8">
                <a:alpha val="0"/>
              </a:srgbClr>
            </a:solidFill>
            <a:prstDash val="solid"/>
          </a:ln>
        </p:spPr>
      </p:sp>
      <p:sp>
        <p:nvSpPr>
          <p:cNvPr id="14" name="Shape 11"/>
          <p:cNvSpPr/>
          <p:nvPr/>
        </p:nvSpPr>
        <p:spPr>
          <a:xfrm>
            <a:off x="1444483" y="3579946"/>
            <a:ext cx="53815" cy="191884"/>
          </a:xfrm>
          <a:prstGeom prst="roundRect">
            <a:avLst>
              <a:gd name="adj" fmla="val 33983"/>
            </a:avLst>
          </a:prstGeom>
          <a:solidFill>
            <a:srgbClr val="38BDF8">
              <a:alpha val="92000"/>
            </a:srgbClr>
          </a:solidFill>
          <a:ln w="12700">
            <a:solidFill>
              <a:srgbClr val="38BDF8">
                <a:alpha val="0"/>
              </a:srgbClr>
            </a:solidFill>
            <a:prstDash val="solid"/>
          </a:ln>
        </p:spPr>
      </p:sp>
      <p:sp>
        <p:nvSpPr>
          <p:cNvPr id="15" name="Shape 12"/>
          <p:cNvSpPr/>
          <p:nvPr/>
        </p:nvSpPr>
        <p:spPr>
          <a:xfrm>
            <a:off x="1561472" y="3524098"/>
            <a:ext cx="53815" cy="303580"/>
          </a:xfrm>
          <a:prstGeom prst="roundRect">
            <a:avLst>
              <a:gd name="adj" fmla="val 33983"/>
            </a:avLst>
          </a:prstGeom>
          <a:solidFill>
            <a:srgbClr val="38BDF8">
              <a:alpha val="92000"/>
            </a:srgbClr>
          </a:solidFill>
          <a:ln w="12700">
            <a:solidFill>
              <a:srgbClr val="38BDF8">
                <a:alpha val="0"/>
              </a:srgbClr>
            </a:solidFill>
            <a:prstDash val="solid"/>
          </a:ln>
        </p:spPr>
      </p:sp>
      <p:sp>
        <p:nvSpPr>
          <p:cNvPr id="16" name="Shape 13"/>
          <p:cNvSpPr/>
          <p:nvPr/>
        </p:nvSpPr>
        <p:spPr>
          <a:xfrm>
            <a:off x="1678462" y="3568953"/>
            <a:ext cx="53815" cy="213871"/>
          </a:xfrm>
          <a:prstGeom prst="roundRect">
            <a:avLst>
              <a:gd name="adj" fmla="val 33983"/>
            </a:avLst>
          </a:prstGeom>
          <a:solidFill>
            <a:srgbClr val="38BDF8">
              <a:alpha val="92000"/>
            </a:srgbClr>
          </a:solidFill>
          <a:ln w="12700">
            <a:solidFill>
              <a:srgbClr val="38BDF8">
                <a:alpha val="0"/>
              </a:srgbClr>
            </a:solidFill>
            <a:prstDash val="solid"/>
          </a:ln>
        </p:spPr>
      </p:sp>
      <p:sp>
        <p:nvSpPr>
          <p:cNvPr id="17" name="Shape 14"/>
          <p:cNvSpPr/>
          <p:nvPr/>
        </p:nvSpPr>
        <p:spPr>
          <a:xfrm>
            <a:off x="1795451" y="3495677"/>
            <a:ext cx="53815" cy="360423"/>
          </a:xfrm>
          <a:prstGeom prst="roundRect">
            <a:avLst>
              <a:gd name="adj" fmla="val 33983"/>
            </a:avLst>
          </a:prstGeom>
          <a:solidFill>
            <a:srgbClr val="38BDF8">
              <a:alpha val="92000"/>
            </a:srgbClr>
          </a:solidFill>
          <a:ln w="12700">
            <a:solidFill>
              <a:srgbClr val="38BDF8">
                <a:alpha val="0"/>
              </a:srgbClr>
            </a:solidFill>
            <a:prstDash val="solid"/>
          </a:ln>
        </p:spPr>
      </p:sp>
      <p:sp>
        <p:nvSpPr>
          <p:cNvPr id="18" name="Shape 15"/>
          <p:cNvSpPr/>
          <p:nvPr/>
        </p:nvSpPr>
        <p:spPr>
          <a:xfrm>
            <a:off x="1912441" y="3627514"/>
            <a:ext cx="53815" cy="96748"/>
          </a:xfrm>
          <a:prstGeom prst="roundRect">
            <a:avLst>
              <a:gd name="adj" fmla="val 33983"/>
            </a:avLst>
          </a:prstGeom>
          <a:solidFill>
            <a:srgbClr val="38BDF8">
              <a:alpha val="92000"/>
            </a:srgbClr>
          </a:solidFill>
          <a:ln w="12700">
            <a:solidFill>
              <a:srgbClr val="38BDF8">
                <a:alpha val="0"/>
              </a:srgbClr>
            </a:solidFill>
            <a:prstDash val="solid"/>
          </a:ln>
        </p:spPr>
      </p:sp>
      <p:sp>
        <p:nvSpPr>
          <p:cNvPr id="19" name="Shape 16"/>
          <p:cNvSpPr/>
          <p:nvPr/>
        </p:nvSpPr>
        <p:spPr>
          <a:xfrm>
            <a:off x="2029430" y="3635710"/>
            <a:ext cx="53815" cy="80356"/>
          </a:xfrm>
          <a:prstGeom prst="roundRect">
            <a:avLst>
              <a:gd name="adj" fmla="val 33983"/>
            </a:avLst>
          </a:prstGeom>
          <a:solidFill>
            <a:srgbClr val="38BDF8">
              <a:alpha val="92000"/>
            </a:srgbClr>
          </a:solidFill>
          <a:ln w="12700">
            <a:solidFill>
              <a:srgbClr val="38BDF8">
                <a:alpha val="0"/>
              </a:srgbClr>
            </a:solidFill>
            <a:prstDash val="solid"/>
          </a:ln>
        </p:spPr>
      </p:sp>
      <p:sp>
        <p:nvSpPr>
          <p:cNvPr id="20" name="Shape 17"/>
          <p:cNvSpPr/>
          <p:nvPr/>
        </p:nvSpPr>
        <p:spPr>
          <a:xfrm>
            <a:off x="2146420" y="3618924"/>
            <a:ext cx="53815" cy="113929"/>
          </a:xfrm>
          <a:prstGeom prst="roundRect">
            <a:avLst>
              <a:gd name="adj" fmla="val 33983"/>
            </a:avLst>
          </a:prstGeom>
          <a:solidFill>
            <a:srgbClr val="38BDF8">
              <a:alpha val="92000"/>
            </a:srgbClr>
          </a:solidFill>
          <a:ln w="12700">
            <a:solidFill>
              <a:srgbClr val="38BDF8">
                <a:alpha val="0"/>
              </a:srgbClr>
            </a:solidFill>
            <a:prstDash val="solid"/>
          </a:ln>
        </p:spPr>
      </p:sp>
      <p:sp>
        <p:nvSpPr>
          <p:cNvPr id="21" name="Shape 18"/>
          <p:cNvSpPr/>
          <p:nvPr/>
        </p:nvSpPr>
        <p:spPr>
          <a:xfrm>
            <a:off x="2263409" y="3460667"/>
            <a:ext cx="53815" cy="430443"/>
          </a:xfrm>
          <a:prstGeom prst="roundRect">
            <a:avLst>
              <a:gd name="adj" fmla="val 33983"/>
            </a:avLst>
          </a:prstGeom>
          <a:solidFill>
            <a:srgbClr val="38BDF8">
              <a:alpha val="92000"/>
            </a:srgbClr>
          </a:solidFill>
          <a:ln w="12700">
            <a:solidFill>
              <a:srgbClr val="38BDF8">
                <a:alpha val="0"/>
              </a:srgbClr>
            </a:solidFill>
            <a:prstDash val="solid"/>
          </a:ln>
        </p:spPr>
      </p:sp>
      <p:sp>
        <p:nvSpPr>
          <p:cNvPr id="22" name="Shape 19"/>
          <p:cNvSpPr/>
          <p:nvPr/>
        </p:nvSpPr>
        <p:spPr>
          <a:xfrm>
            <a:off x="2380398" y="3521698"/>
            <a:ext cx="53815" cy="308381"/>
          </a:xfrm>
          <a:prstGeom prst="roundRect">
            <a:avLst>
              <a:gd name="adj" fmla="val 33983"/>
            </a:avLst>
          </a:prstGeom>
          <a:solidFill>
            <a:srgbClr val="38BDF8">
              <a:alpha val="92000"/>
            </a:srgbClr>
          </a:solidFill>
          <a:ln w="12700">
            <a:solidFill>
              <a:srgbClr val="38BDF8">
                <a:alpha val="0"/>
              </a:srgbClr>
            </a:solidFill>
            <a:prstDash val="solid"/>
          </a:ln>
        </p:spPr>
      </p:sp>
      <p:sp>
        <p:nvSpPr>
          <p:cNvPr id="23" name="Shape 20"/>
          <p:cNvSpPr/>
          <p:nvPr/>
        </p:nvSpPr>
        <p:spPr>
          <a:xfrm>
            <a:off x="2497388" y="3448923"/>
            <a:ext cx="53815" cy="453929"/>
          </a:xfrm>
          <a:prstGeom prst="roundRect">
            <a:avLst>
              <a:gd name="adj" fmla="val 33983"/>
            </a:avLst>
          </a:prstGeom>
          <a:solidFill>
            <a:srgbClr val="38BDF8">
              <a:alpha val="92000"/>
            </a:srgbClr>
          </a:solidFill>
          <a:ln w="12700">
            <a:solidFill>
              <a:srgbClr val="38BDF8">
                <a:alpha val="0"/>
              </a:srgbClr>
            </a:solidFill>
            <a:prstDash val="solid"/>
          </a:ln>
        </p:spPr>
      </p:sp>
      <p:sp>
        <p:nvSpPr>
          <p:cNvPr id="24" name="Shape 21"/>
          <p:cNvSpPr/>
          <p:nvPr/>
        </p:nvSpPr>
        <p:spPr>
          <a:xfrm>
            <a:off x="2614377" y="3502764"/>
            <a:ext cx="53815" cy="346247"/>
          </a:xfrm>
          <a:prstGeom prst="roundRect">
            <a:avLst>
              <a:gd name="adj" fmla="val 33983"/>
            </a:avLst>
          </a:prstGeom>
          <a:solidFill>
            <a:srgbClr val="38BDF8">
              <a:alpha val="92000"/>
            </a:srgbClr>
          </a:solidFill>
          <a:ln w="12700">
            <a:solidFill>
              <a:srgbClr val="38BDF8">
                <a:alpha val="0"/>
              </a:srgbClr>
            </a:solidFill>
            <a:prstDash val="solid"/>
          </a:ln>
        </p:spPr>
      </p:sp>
      <p:sp>
        <p:nvSpPr>
          <p:cNvPr id="25" name="Shape 22"/>
          <p:cNvSpPr/>
          <p:nvPr/>
        </p:nvSpPr>
        <p:spPr>
          <a:xfrm>
            <a:off x="2731367" y="3586422"/>
            <a:ext cx="53815" cy="178932"/>
          </a:xfrm>
          <a:prstGeom prst="roundRect">
            <a:avLst>
              <a:gd name="adj" fmla="val 33983"/>
            </a:avLst>
          </a:prstGeom>
          <a:solidFill>
            <a:srgbClr val="38BDF8">
              <a:alpha val="92000"/>
            </a:srgbClr>
          </a:solidFill>
          <a:ln w="12700">
            <a:solidFill>
              <a:srgbClr val="38BDF8">
                <a:alpha val="0"/>
              </a:srgbClr>
            </a:solidFill>
            <a:prstDash val="solid"/>
          </a:ln>
        </p:spPr>
      </p:sp>
      <p:sp>
        <p:nvSpPr>
          <p:cNvPr id="26" name="Shape 23"/>
          <p:cNvSpPr/>
          <p:nvPr/>
        </p:nvSpPr>
        <p:spPr>
          <a:xfrm>
            <a:off x="2848356" y="3601479"/>
            <a:ext cx="53815" cy="148817"/>
          </a:xfrm>
          <a:prstGeom prst="roundRect">
            <a:avLst>
              <a:gd name="adj" fmla="val 33983"/>
            </a:avLst>
          </a:prstGeom>
          <a:solidFill>
            <a:srgbClr val="38BDF8">
              <a:alpha val="92000"/>
            </a:srgbClr>
          </a:solidFill>
          <a:ln w="12700">
            <a:solidFill>
              <a:srgbClr val="38BDF8">
                <a:alpha val="0"/>
              </a:srgbClr>
            </a:solidFill>
            <a:prstDash val="solid"/>
          </a:ln>
        </p:spPr>
      </p:sp>
      <p:sp>
        <p:nvSpPr>
          <p:cNvPr id="27" name="Shape 24"/>
          <p:cNvSpPr/>
          <p:nvPr/>
        </p:nvSpPr>
        <p:spPr>
          <a:xfrm>
            <a:off x="2965345" y="3594056"/>
            <a:ext cx="53815" cy="163665"/>
          </a:xfrm>
          <a:prstGeom prst="roundRect">
            <a:avLst>
              <a:gd name="adj" fmla="val 33983"/>
            </a:avLst>
          </a:prstGeom>
          <a:solidFill>
            <a:srgbClr val="38BDF8">
              <a:alpha val="92000"/>
            </a:srgbClr>
          </a:solidFill>
          <a:ln w="12700">
            <a:solidFill>
              <a:srgbClr val="38BDF8">
                <a:alpha val="0"/>
              </a:srgbClr>
            </a:solidFill>
            <a:prstDash val="solid"/>
          </a:ln>
        </p:spPr>
      </p:sp>
      <p:sp>
        <p:nvSpPr>
          <p:cNvPr id="28" name="Shape 25"/>
          <p:cNvSpPr/>
          <p:nvPr/>
        </p:nvSpPr>
        <p:spPr>
          <a:xfrm>
            <a:off x="3082335" y="3420342"/>
            <a:ext cx="53815" cy="511092"/>
          </a:xfrm>
          <a:prstGeom prst="roundRect">
            <a:avLst>
              <a:gd name="adj" fmla="val 33983"/>
            </a:avLst>
          </a:prstGeom>
          <a:solidFill>
            <a:srgbClr val="38BDF8">
              <a:alpha val="92000"/>
            </a:srgbClr>
          </a:solidFill>
          <a:ln w="12700">
            <a:solidFill>
              <a:srgbClr val="38BDF8">
                <a:alpha val="0"/>
              </a:srgbClr>
            </a:solidFill>
            <a:prstDash val="solid"/>
          </a:ln>
        </p:spPr>
      </p:sp>
      <p:sp>
        <p:nvSpPr>
          <p:cNvPr id="29" name="Shape 26"/>
          <p:cNvSpPr/>
          <p:nvPr/>
        </p:nvSpPr>
        <p:spPr>
          <a:xfrm>
            <a:off x="3199324" y="3623773"/>
            <a:ext cx="53815" cy="104229"/>
          </a:xfrm>
          <a:prstGeom prst="roundRect">
            <a:avLst>
              <a:gd name="adj" fmla="val 33983"/>
            </a:avLst>
          </a:prstGeom>
          <a:solidFill>
            <a:srgbClr val="38BDF8">
              <a:alpha val="92000"/>
            </a:srgbClr>
          </a:solidFill>
          <a:ln w="12700">
            <a:solidFill>
              <a:srgbClr val="38BDF8">
                <a:alpha val="0"/>
              </a:srgbClr>
            </a:solidFill>
            <a:prstDash val="solid"/>
          </a:ln>
        </p:spPr>
      </p:sp>
      <p:sp>
        <p:nvSpPr>
          <p:cNvPr id="30" name="Shape 27"/>
          <p:cNvSpPr/>
          <p:nvPr/>
        </p:nvSpPr>
        <p:spPr>
          <a:xfrm>
            <a:off x="3316314" y="3430671"/>
            <a:ext cx="53815" cy="490433"/>
          </a:xfrm>
          <a:prstGeom prst="roundRect">
            <a:avLst>
              <a:gd name="adj" fmla="val 33983"/>
            </a:avLst>
          </a:prstGeom>
          <a:solidFill>
            <a:srgbClr val="38BDF8">
              <a:alpha val="92000"/>
            </a:srgbClr>
          </a:solidFill>
          <a:ln w="12700">
            <a:solidFill>
              <a:srgbClr val="38BDF8">
                <a:alpha val="0"/>
              </a:srgbClr>
            </a:solidFill>
            <a:prstDash val="solid"/>
          </a:ln>
        </p:spPr>
      </p:sp>
      <p:sp>
        <p:nvSpPr>
          <p:cNvPr id="31" name="Shape 28"/>
          <p:cNvSpPr/>
          <p:nvPr/>
        </p:nvSpPr>
        <p:spPr>
          <a:xfrm>
            <a:off x="3433303" y="3588640"/>
            <a:ext cx="53815" cy="174496"/>
          </a:xfrm>
          <a:prstGeom prst="roundRect">
            <a:avLst>
              <a:gd name="adj" fmla="val 33983"/>
            </a:avLst>
          </a:prstGeom>
          <a:solidFill>
            <a:srgbClr val="38BDF8">
              <a:alpha val="92000"/>
            </a:srgbClr>
          </a:solidFill>
          <a:ln w="12700">
            <a:solidFill>
              <a:srgbClr val="38BDF8">
                <a:alpha val="0"/>
              </a:srgbClr>
            </a:solidFill>
            <a:prstDash val="solid"/>
          </a:ln>
        </p:spPr>
      </p:sp>
      <p:sp>
        <p:nvSpPr>
          <p:cNvPr id="32" name="Shape 29"/>
          <p:cNvSpPr/>
          <p:nvPr/>
        </p:nvSpPr>
        <p:spPr>
          <a:xfrm>
            <a:off x="3550292" y="3604281"/>
            <a:ext cx="53815" cy="143213"/>
          </a:xfrm>
          <a:prstGeom prst="roundRect">
            <a:avLst>
              <a:gd name="adj" fmla="val 33983"/>
            </a:avLst>
          </a:prstGeom>
          <a:solidFill>
            <a:srgbClr val="38BDF8">
              <a:alpha val="92000"/>
            </a:srgbClr>
          </a:solidFill>
          <a:ln w="12700">
            <a:solidFill>
              <a:srgbClr val="38BDF8">
                <a:alpha val="0"/>
              </a:srgbClr>
            </a:solidFill>
            <a:prstDash val="solid"/>
          </a:ln>
        </p:spPr>
      </p:sp>
      <p:sp>
        <p:nvSpPr>
          <p:cNvPr id="33" name="Shape 30"/>
          <p:cNvSpPr/>
          <p:nvPr/>
        </p:nvSpPr>
        <p:spPr>
          <a:xfrm>
            <a:off x="3667282" y="3604866"/>
            <a:ext cx="53815" cy="142044"/>
          </a:xfrm>
          <a:prstGeom prst="roundRect">
            <a:avLst>
              <a:gd name="adj" fmla="val 33983"/>
            </a:avLst>
          </a:prstGeom>
          <a:solidFill>
            <a:srgbClr val="38BDF8">
              <a:alpha val="92000"/>
            </a:srgbClr>
          </a:solidFill>
          <a:ln w="12700">
            <a:solidFill>
              <a:srgbClr val="38BDF8">
                <a:alpha val="0"/>
              </a:srgbClr>
            </a:solidFill>
            <a:prstDash val="solid"/>
          </a:ln>
        </p:spPr>
      </p:sp>
      <p:sp>
        <p:nvSpPr>
          <p:cNvPr id="34" name="Shape 31"/>
          <p:cNvSpPr/>
          <p:nvPr/>
        </p:nvSpPr>
        <p:spPr>
          <a:xfrm>
            <a:off x="3784271" y="3556252"/>
            <a:ext cx="53815" cy="239271"/>
          </a:xfrm>
          <a:prstGeom prst="roundRect">
            <a:avLst>
              <a:gd name="adj" fmla="val 33983"/>
            </a:avLst>
          </a:prstGeom>
          <a:solidFill>
            <a:srgbClr val="38BDF8">
              <a:alpha val="92000"/>
            </a:srgbClr>
          </a:solidFill>
          <a:ln w="12700">
            <a:solidFill>
              <a:srgbClr val="38BDF8">
                <a:alpha val="0"/>
              </a:srgbClr>
            </a:solidFill>
            <a:prstDash val="solid"/>
          </a:ln>
        </p:spPr>
      </p:sp>
      <p:sp>
        <p:nvSpPr>
          <p:cNvPr id="35" name="Shape 32"/>
          <p:cNvSpPr/>
          <p:nvPr/>
        </p:nvSpPr>
        <p:spPr>
          <a:xfrm>
            <a:off x="3901261" y="3507046"/>
            <a:ext cx="53815" cy="337683"/>
          </a:xfrm>
          <a:prstGeom prst="roundRect">
            <a:avLst>
              <a:gd name="adj" fmla="val 33983"/>
            </a:avLst>
          </a:prstGeom>
          <a:solidFill>
            <a:srgbClr val="38BDF8">
              <a:alpha val="92000"/>
            </a:srgbClr>
          </a:solidFill>
          <a:ln w="12700">
            <a:solidFill>
              <a:srgbClr val="38BDF8">
                <a:alpha val="0"/>
              </a:srgbClr>
            </a:solidFill>
            <a:prstDash val="solid"/>
          </a:ln>
        </p:spPr>
      </p:sp>
      <p:sp>
        <p:nvSpPr>
          <p:cNvPr id="36" name="Shape 33"/>
          <p:cNvSpPr/>
          <p:nvPr/>
        </p:nvSpPr>
        <p:spPr>
          <a:xfrm>
            <a:off x="4018250" y="3584025"/>
            <a:ext cx="53815" cy="183725"/>
          </a:xfrm>
          <a:prstGeom prst="roundRect">
            <a:avLst>
              <a:gd name="adj" fmla="val 33983"/>
            </a:avLst>
          </a:prstGeom>
          <a:solidFill>
            <a:srgbClr val="38BDF8">
              <a:alpha val="92000"/>
            </a:srgbClr>
          </a:solidFill>
          <a:ln w="12700">
            <a:solidFill>
              <a:srgbClr val="38BDF8">
                <a:alpha val="0"/>
              </a:srgbClr>
            </a:solidFill>
            <a:prstDash val="solid"/>
          </a:ln>
        </p:spPr>
      </p:sp>
      <p:sp>
        <p:nvSpPr>
          <p:cNvPr id="37" name="Shape 34"/>
          <p:cNvSpPr/>
          <p:nvPr/>
        </p:nvSpPr>
        <p:spPr>
          <a:xfrm>
            <a:off x="4135240" y="3535341"/>
            <a:ext cx="53815" cy="281094"/>
          </a:xfrm>
          <a:prstGeom prst="roundRect">
            <a:avLst>
              <a:gd name="adj" fmla="val 33983"/>
            </a:avLst>
          </a:prstGeom>
          <a:solidFill>
            <a:srgbClr val="38BDF8">
              <a:alpha val="92000"/>
            </a:srgbClr>
          </a:solidFill>
          <a:ln w="12700">
            <a:solidFill>
              <a:srgbClr val="38BDF8">
                <a:alpha val="0"/>
              </a:srgbClr>
            </a:solidFill>
            <a:prstDash val="solid"/>
          </a:ln>
        </p:spPr>
      </p:sp>
      <p:sp>
        <p:nvSpPr>
          <p:cNvPr id="38" name="Shape 35"/>
          <p:cNvSpPr/>
          <p:nvPr/>
        </p:nvSpPr>
        <p:spPr>
          <a:xfrm>
            <a:off x="4252229" y="3647636"/>
            <a:ext cx="53815" cy="56505"/>
          </a:xfrm>
          <a:prstGeom prst="roundRect">
            <a:avLst>
              <a:gd name="adj" fmla="val 33983"/>
            </a:avLst>
          </a:prstGeom>
          <a:solidFill>
            <a:srgbClr val="38BDF8">
              <a:alpha val="92000"/>
            </a:srgbClr>
          </a:solidFill>
          <a:ln w="12700">
            <a:solidFill>
              <a:srgbClr val="38BDF8">
                <a:alpha val="0"/>
              </a:srgbClr>
            </a:solidFill>
            <a:prstDash val="solid"/>
          </a:ln>
        </p:spPr>
      </p:sp>
      <p:sp>
        <p:nvSpPr>
          <p:cNvPr id="39" name="Shape 36"/>
          <p:cNvSpPr/>
          <p:nvPr/>
        </p:nvSpPr>
        <p:spPr>
          <a:xfrm>
            <a:off x="4369218" y="3652531"/>
            <a:ext cx="53815" cy="46714"/>
          </a:xfrm>
          <a:prstGeom prst="roundRect">
            <a:avLst>
              <a:gd name="adj" fmla="val 39149"/>
            </a:avLst>
          </a:prstGeom>
          <a:solidFill>
            <a:srgbClr val="38BDF8">
              <a:alpha val="92000"/>
            </a:srgbClr>
          </a:solidFill>
          <a:ln w="12700">
            <a:solidFill>
              <a:srgbClr val="38BDF8">
                <a:alpha val="0"/>
              </a:srgbClr>
            </a:solidFill>
            <a:prstDash val="solid"/>
          </a:ln>
        </p:spPr>
      </p:sp>
      <p:sp>
        <p:nvSpPr>
          <p:cNvPr id="40" name="Shape 37"/>
          <p:cNvSpPr/>
          <p:nvPr/>
        </p:nvSpPr>
        <p:spPr>
          <a:xfrm>
            <a:off x="4486208" y="3651274"/>
            <a:ext cx="53815" cy="49228"/>
          </a:xfrm>
          <a:prstGeom prst="roundRect">
            <a:avLst>
              <a:gd name="adj" fmla="val 37150"/>
            </a:avLst>
          </a:prstGeom>
          <a:solidFill>
            <a:srgbClr val="38BDF8">
              <a:alpha val="92000"/>
            </a:srgbClr>
          </a:solidFill>
          <a:ln w="12700">
            <a:solidFill>
              <a:srgbClr val="38BDF8">
                <a:alpha val="0"/>
              </a:srgbClr>
            </a:solidFill>
            <a:prstDash val="solid"/>
          </a:ln>
        </p:spPr>
      </p:sp>
      <p:sp>
        <p:nvSpPr>
          <p:cNvPr id="41" name="Shape 38"/>
          <p:cNvSpPr/>
          <p:nvPr/>
        </p:nvSpPr>
        <p:spPr>
          <a:xfrm>
            <a:off x="4603197" y="3609685"/>
            <a:ext cx="53815" cy="132407"/>
          </a:xfrm>
          <a:prstGeom prst="roundRect">
            <a:avLst>
              <a:gd name="adj" fmla="val 33983"/>
            </a:avLst>
          </a:prstGeom>
          <a:solidFill>
            <a:srgbClr val="38BDF8">
              <a:alpha val="92000"/>
            </a:srgbClr>
          </a:solidFill>
          <a:ln w="12700">
            <a:solidFill>
              <a:srgbClr val="38BDF8">
                <a:alpha val="0"/>
              </a:srgbClr>
            </a:solidFill>
            <a:prstDash val="solid"/>
          </a:ln>
        </p:spPr>
      </p:sp>
      <p:sp>
        <p:nvSpPr>
          <p:cNvPr id="42" name="Shape 39"/>
          <p:cNvSpPr/>
          <p:nvPr/>
        </p:nvSpPr>
        <p:spPr>
          <a:xfrm>
            <a:off x="4720187" y="3638588"/>
            <a:ext cx="53815" cy="74600"/>
          </a:xfrm>
          <a:prstGeom prst="roundRect">
            <a:avLst>
              <a:gd name="adj" fmla="val 33983"/>
            </a:avLst>
          </a:prstGeom>
          <a:solidFill>
            <a:srgbClr val="38BDF8">
              <a:alpha val="92000"/>
            </a:srgbClr>
          </a:solidFill>
          <a:ln w="12700">
            <a:solidFill>
              <a:srgbClr val="38BDF8">
                <a:alpha val="0"/>
              </a:srgbClr>
            </a:solidFill>
            <a:prstDash val="solid"/>
          </a:ln>
        </p:spPr>
      </p:sp>
      <p:sp>
        <p:nvSpPr>
          <p:cNvPr id="43" name="Shape 40"/>
          <p:cNvSpPr/>
          <p:nvPr/>
        </p:nvSpPr>
        <p:spPr>
          <a:xfrm>
            <a:off x="859536" y="4288536"/>
            <a:ext cx="3794760" cy="0"/>
          </a:xfrm>
          <a:prstGeom prst="line">
            <a:avLst/>
          </a:prstGeom>
          <a:noFill/>
          <a:ln w="12700">
            <a:solidFill>
              <a:srgbClr val="33517F"/>
            </a:solidFill>
            <a:prstDash val="solid"/>
          </a:ln>
        </p:spPr>
      </p:sp>
      <p:sp>
        <p:nvSpPr>
          <p:cNvPr id="44" name="Text 41"/>
          <p:cNvSpPr txBox="1"/>
          <p:nvPr/>
        </p:nvSpPr>
        <p:spPr>
          <a:xfrm>
            <a:off x="859536" y="4407408"/>
            <a:ext cx="4480560" cy="274320"/>
          </a:xfrm>
          <a:prstGeom prst="rect">
            <a:avLst/>
          </a:prstGeom>
          <a:noFill/>
          <a:ln/>
        </p:spPr>
        <p:txBody>
          <a:bodyPr wrap="square" lIns="0" tIns="0" rIns="0" bIns="0" rtlCol="0" anchor="ctr">
            <a:normAutofit/>
          </a:bodyPr>
          <a:lstStyle/>
          <a:p>
            <a:pPr marL="0" indent="0" algn="l">
              <a:buNone/>
            </a:pPr>
            <a:r>
              <a:rPr lang="en-US" sz="1050" dirty="0">
                <a:solidFill>
                  <a:srgbClr val="CBD5E1"/>
                </a:solidFill>
                <a:latin typeface="Arial" pitchFamily="34" charset="0"/>
                <a:ea typeface="Arial" pitchFamily="34" charset="-122"/>
                <a:cs typeface="Arial" pitchFamily="34" charset="-120"/>
              </a:rPr>
              <a:t>Sinh viên: Chưa cung cấp   •   MSSV: Chưa cung cấp</a:t>
            </a:r>
            <a:endParaRPr lang="en-US" sz="1050" dirty="0"/>
          </a:p>
        </p:txBody>
      </p:sp>
      <p:sp>
        <p:nvSpPr>
          <p:cNvPr id="45" name="Text 42"/>
          <p:cNvSpPr txBox="1"/>
          <p:nvPr/>
        </p:nvSpPr>
        <p:spPr>
          <a:xfrm>
            <a:off x="859536" y="4736592"/>
            <a:ext cx="4480560" cy="274320"/>
          </a:xfrm>
          <a:prstGeom prst="rect">
            <a:avLst/>
          </a:prstGeom>
          <a:noFill/>
          <a:ln/>
        </p:spPr>
        <p:txBody>
          <a:bodyPr wrap="square" lIns="0" tIns="0" rIns="0" bIns="0" rtlCol="0" anchor="ctr">
            <a:normAutofit/>
          </a:bodyPr>
          <a:lstStyle/>
          <a:p>
            <a:pPr marL="0" indent="0" algn="l">
              <a:buNone/>
            </a:pPr>
            <a:r>
              <a:rPr lang="en-US" sz="1050" dirty="0">
                <a:solidFill>
                  <a:srgbClr val="CBD5E1"/>
                </a:solidFill>
                <a:latin typeface="Arial" pitchFamily="34" charset="0"/>
                <a:ea typeface="Arial" pitchFamily="34" charset="-122"/>
                <a:cs typeface="Arial" pitchFamily="34" charset="-120"/>
              </a:rPr>
              <a:t>Lớp: Chưa cung cấp   •   GVHD: Chưa cung cấp</a:t>
            </a:r>
            <a:endParaRPr lang="en-US" sz="1050" dirty="0"/>
          </a:p>
        </p:txBody>
      </p:sp>
      <p:sp>
        <p:nvSpPr>
          <p:cNvPr id="46" name="Text 43"/>
          <p:cNvSpPr txBox="1"/>
          <p:nvPr/>
        </p:nvSpPr>
        <p:spPr>
          <a:xfrm>
            <a:off x="859536" y="5065776"/>
            <a:ext cx="4480560" cy="274320"/>
          </a:xfrm>
          <a:prstGeom prst="rect">
            <a:avLst/>
          </a:prstGeom>
          <a:noFill/>
          <a:ln/>
        </p:spPr>
        <p:txBody>
          <a:bodyPr wrap="square" lIns="0" tIns="0" rIns="0" bIns="0" rtlCol="0" anchor="ctr">
            <a:normAutofit/>
          </a:bodyPr>
          <a:lstStyle/>
          <a:p>
            <a:pPr marL="0" indent="0" algn="l">
              <a:buNone/>
            </a:pPr>
            <a:r>
              <a:rPr lang="en-US" sz="1050" dirty="0">
                <a:solidFill>
                  <a:srgbClr val="CBD5E1"/>
                </a:solidFill>
                <a:latin typeface="Arial" pitchFamily="34" charset="0"/>
                <a:ea typeface="Arial" pitchFamily="34" charset="-122"/>
                <a:cs typeface="Arial" pitchFamily="34" charset="-120"/>
              </a:rPr>
              <a:t>Ngày trình bày: Chưa cung cấp</a:t>
            </a:r>
            <a:endParaRPr lang="en-US" sz="1050" dirty="0"/>
          </a:p>
        </p:txBody>
      </p:sp>
      <p:sp>
        <p:nvSpPr>
          <p:cNvPr id="47" name="Text 44"/>
          <p:cNvSpPr txBox="1"/>
          <p:nvPr/>
        </p:nvSpPr>
        <p:spPr>
          <a:xfrm>
            <a:off x="859536" y="6071616"/>
            <a:ext cx="4846320" cy="201168"/>
          </a:xfrm>
          <a:prstGeom prst="rect">
            <a:avLst/>
          </a:prstGeom>
          <a:noFill/>
          <a:ln/>
        </p:spPr>
        <p:txBody>
          <a:bodyPr wrap="square" lIns="0" tIns="0" rIns="0" bIns="0" rtlCol="0" anchor="ctr">
            <a:normAutofit/>
          </a:bodyPr>
          <a:lstStyle/>
          <a:p>
            <a:pPr marL="0" indent="0" algn="l">
              <a:buNone/>
            </a:pPr>
            <a:r>
              <a:rPr lang="en-US" sz="850" b="1" dirty="0">
                <a:solidFill>
                  <a:srgbClr val="94A3B8"/>
                </a:solidFill>
                <a:latin typeface="Arial" pitchFamily="34" charset="0"/>
                <a:ea typeface="Arial" pitchFamily="34" charset="-122"/>
                <a:cs typeface="Arial" pitchFamily="34" charset="-120"/>
              </a:rPr>
              <a:t>RUNNABLE BASELINE  •  TRANSPARENT BENCHMARK</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02  /  BỐI CẢNH</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Cảm xúc là phần NLP còn bỏ sót</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Nội dung lời nói và cách nói là hai tín hiệu khác nhau.</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Text 5"/>
          <p:cNvSpPr txBox="1"/>
          <p:nvPr/>
        </p:nvSpPr>
        <p:spPr>
          <a:xfrm>
            <a:off x="566928" y="1700784"/>
            <a:ext cx="3657600" cy="1024128"/>
          </a:xfrm>
          <a:prstGeom prst="rect">
            <a:avLst/>
          </a:prstGeom>
          <a:noFill/>
          <a:ln/>
        </p:spPr>
        <p:txBody>
          <a:bodyPr wrap="square" lIns="0" tIns="0" rIns="0" bIns="0" rtlCol="0" anchor="t">
            <a:normAutofit/>
          </a:bodyPr>
          <a:lstStyle/>
          <a:p>
            <a:pPr marL="0" indent="0" algn="l">
              <a:buNone/>
            </a:pPr>
            <a:r>
              <a:rPr lang="en-US" sz="2400" b="1" dirty="0">
                <a:solidFill>
                  <a:srgbClr val="0F172A"/>
                </a:solidFill>
                <a:latin typeface="Arial" pitchFamily="34" charset="0"/>
                <a:ea typeface="Arial" pitchFamily="34" charset="-122"/>
                <a:cs typeface="Arial" pitchFamily="34" charset="-120"/>
              </a:rPr>
              <a:t>Hệ thống có thể hiểu</a:t>
            </a:r>
            <a:endParaRPr lang="en-US" sz="2400" dirty="0"/>
          </a:p>
          <a:p>
            <a:pPr marL="0" indent="0" algn="l">
              <a:buNone/>
            </a:pPr>
            <a:r>
              <a:rPr lang="en-US" sz="2400" b="1" dirty="0">
                <a:solidFill>
                  <a:srgbClr val="0F172A"/>
                </a:solidFill>
                <a:latin typeface="Arial" pitchFamily="34" charset="0"/>
                <a:ea typeface="Arial" pitchFamily="34" charset="-122"/>
                <a:cs typeface="Arial" pitchFamily="34" charset="-120"/>
              </a:rPr>
              <a:t>“nói gì”...</a:t>
            </a:r>
            <a:endParaRPr lang="en-US" sz="2400" dirty="0"/>
          </a:p>
        </p:txBody>
      </p:sp>
      <p:sp>
        <p:nvSpPr>
          <p:cNvPr id="8" name="Text 6"/>
          <p:cNvSpPr txBox="1"/>
          <p:nvPr/>
        </p:nvSpPr>
        <p:spPr>
          <a:xfrm>
            <a:off x="566928" y="2779776"/>
            <a:ext cx="3657600" cy="1097280"/>
          </a:xfrm>
          <a:prstGeom prst="rect">
            <a:avLst/>
          </a:prstGeom>
          <a:noFill/>
          <a:ln/>
        </p:spPr>
        <p:txBody>
          <a:bodyPr wrap="square" lIns="0" tIns="0" rIns="0" bIns="0" rtlCol="0" anchor="t">
            <a:normAutofit/>
          </a:bodyPr>
          <a:lstStyle/>
          <a:p>
            <a:pPr marL="0" indent="0" algn="l">
              <a:buNone/>
            </a:pPr>
            <a:r>
              <a:rPr lang="en-US" sz="2400" b="1" dirty="0">
                <a:solidFill>
                  <a:srgbClr val="1D4ED8"/>
                </a:solidFill>
                <a:latin typeface="Arial" pitchFamily="34" charset="0"/>
                <a:ea typeface="Arial" pitchFamily="34" charset="-122"/>
                <a:cs typeface="Arial" pitchFamily="34" charset="-120"/>
              </a:rPr>
              <a:t>...nhưng bỏ lỡ</a:t>
            </a:r>
            <a:endParaRPr lang="en-US" sz="2400" dirty="0"/>
          </a:p>
          <a:p>
            <a:pPr marL="0" indent="0" algn="l">
              <a:buNone/>
            </a:pPr>
            <a:r>
              <a:rPr lang="en-US" sz="2400" b="1" dirty="0">
                <a:solidFill>
                  <a:srgbClr val="1D4ED8"/>
                </a:solidFill>
                <a:latin typeface="Arial" pitchFamily="34" charset="0"/>
                <a:ea typeface="Arial" pitchFamily="34" charset="-122"/>
                <a:cs typeface="Arial" pitchFamily="34" charset="-120"/>
              </a:rPr>
              <a:t>“nói với cảm xúc nào”.</a:t>
            </a:r>
            <a:endParaRPr lang="en-US" sz="2400" dirty="0"/>
          </a:p>
        </p:txBody>
      </p:sp>
      <p:sp>
        <p:nvSpPr>
          <p:cNvPr id="9" name="Shape 7"/>
          <p:cNvSpPr/>
          <p:nvPr/>
        </p:nvSpPr>
        <p:spPr>
          <a:xfrm>
            <a:off x="4425696" y="1700784"/>
            <a:ext cx="7214616" cy="1993392"/>
          </a:xfrm>
          <a:prstGeom prst="roundRect">
            <a:avLst>
              <a:gd name="adj" fmla="val 2294"/>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0" name="Shape 8"/>
          <p:cNvSpPr/>
          <p:nvPr/>
        </p:nvSpPr>
        <p:spPr>
          <a:xfrm>
            <a:off x="4727448" y="2011680"/>
            <a:ext cx="1353312" cy="1298448"/>
          </a:xfrm>
          <a:prstGeom prst="roundRect">
            <a:avLst>
              <a:gd name="adj" fmla="val 3521"/>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1" name="Shape 9"/>
          <p:cNvSpPr/>
          <p:nvPr/>
        </p:nvSpPr>
        <p:spPr>
          <a:xfrm>
            <a:off x="4910328" y="2212848"/>
            <a:ext cx="493776" cy="493776"/>
          </a:xfrm>
          <a:prstGeom prst="ellipse">
            <a:avLst/>
          </a:prstGeom>
          <a:solidFill>
            <a:srgbClr val="DBEAFE"/>
          </a:solidFill>
          <a:ln w="12700">
            <a:solidFill>
              <a:srgbClr val="DBEAFE"/>
            </a:solidFill>
            <a:prstDash val="solid"/>
          </a:ln>
        </p:spPr>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33772" y="2336292"/>
            <a:ext cx="246888" cy="246888"/>
          </a:xfrm>
          <a:prstGeom prst="rect">
            <a:avLst/>
          </a:prstGeom>
        </p:spPr>
      </p:pic>
      <p:sp>
        <p:nvSpPr>
          <p:cNvPr id="13" name="Text 10"/>
          <p:cNvSpPr txBox="1"/>
          <p:nvPr/>
        </p:nvSpPr>
        <p:spPr>
          <a:xfrm>
            <a:off x="4910328" y="2798064"/>
            <a:ext cx="987552"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Người nói</a:t>
            </a:r>
            <a:endParaRPr lang="en-US" sz="1350" dirty="0"/>
          </a:p>
        </p:txBody>
      </p:sp>
      <p:sp>
        <p:nvSpPr>
          <p:cNvPr id="14" name="Shape 11"/>
          <p:cNvSpPr/>
          <p:nvPr/>
        </p:nvSpPr>
        <p:spPr>
          <a:xfrm>
            <a:off x="6144768" y="2651760"/>
            <a:ext cx="475488" cy="0"/>
          </a:xfrm>
          <a:prstGeom prst="line">
            <a:avLst/>
          </a:prstGeom>
          <a:noFill/>
          <a:ln w="25400">
            <a:solidFill>
              <a:srgbClr val="1D4ED8"/>
            </a:solidFill>
            <a:prstDash val="solid"/>
            <a:tailEnd type="triangle"/>
          </a:ln>
        </p:spPr>
      </p:sp>
      <p:sp>
        <p:nvSpPr>
          <p:cNvPr id="15" name="Shape 12"/>
          <p:cNvSpPr/>
          <p:nvPr/>
        </p:nvSpPr>
        <p:spPr>
          <a:xfrm>
            <a:off x="6693408" y="2624328"/>
            <a:ext cx="32949" cy="36576"/>
          </a:xfrm>
          <a:prstGeom prst="roundRect">
            <a:avLst>
              <a:gd name="adj" fmla="val 55504"/>
            </a:avLst>
          </a:prstGeom>
          <a:solidFill>
            <a:srgbClr val="1D4ED8">
              <a:alpha val="92000"/>
            </a:srgbClr>
          </a:solidFill>
          <a:ln w="12700">
            <a:solidFill>
              <a:srgbClr val="1D4ED8">
                <a:alpha val="0"/>
              </a:srgbClr>
            </a:solidFill>
            <a:prstDash val="solid"/>
          </a:ln>
        </p:spPr>
      </p:sp>
      <p:sp>
        <p:nvSpPr>
          <p:cNvPr id="16" name="Shape 13"/>
          <p:cNvSpPr/>
          <p:nvPr/>
        </p:nvSpPr>
        <p:spPr>
          <a:xfrm>
            <a:off x="6765036" y="2495136"/>
            <a:ext cx="32949" cy="294961"/>
          </a:xfrm>
          <a:prstGeom prst="roundRect">
            <a:avLst>
              <a:gd name="adj" fmla="val 55504"/>
            </a:avLst>
          </a:prstGeom>
          <a:solidFill>
            <a:srgbClr val="1D4ED8">
              <a:alpha val="92000"/>
            </a:srgbClr>
          </a:solidFill>
          <a:ln w="12700">
            <a:solidFill>
              <a:srgbClr val="1D4ED8">
                <a:alpha val="0"/>
              </a:srgbClr>
            </a:solidFill>
            <a:prstDash val="solid"/>
          </a:ln>
        </p:spPr>
      </p:sp>
      <p:sp>
        <p:nvSpPr>
          <p:cNvPr id="17" name="Shape 14"/>
          <p:cNvSpPr/>
          <p:nvPr/>
        </p:nvSpPr>
        <p:spPr>
          <a:xfrm>
            <a:off x="6836664" y="2578419"/>
            <a:ext cx="32949" cy="128393"/>
          </a:xfrm>
          <a:prstGeom prst="roundRect">
            <a:avLst>
              <a:gd name="adj" fmla="val 55504"/>
            </a:avLst>
          </a:prstGeom>
          <a:solidFill>
            <a:srgbClr val="1D4ED8">
              <a:alpha val="92000"/>
            </a:srgbClr>
          </a:solidFill>
          <a:ln w="12700">
            <a:solidFill>
              <a:srgbClr val="1D4ED8">
                <a:alpha val="0"/>
              </a:srgbClr>
            </a:solidFill>
            <a:prstDash val="solid"/>
          </a:ln>
        </p:spPr>
      </p:sp>
      <p:sp>
        <p:nvSpPr>
          <p:cNvPr id="18" name="Shape 15"/>
          <p:cNvSpPr/>
          <p:nvPr/>
        </p:nvSpPr>
        <p:spPr>
          <a:xfrm>
            <a:off x="6908292" y="2574074"/>
            <a:ext cx="32949" cy="137084"/>
          </a:xfrm>
          <a:prstGeom prst="roundRect">
            <a:avLst>
              <a:gd name="adj" fmla="val 55504"/>
            </a:avLst>
          </a:prstGeom>
          <a:solidFill>
            <a:srgbClr val="1D4ED8">
              <a:alpha val="92000"/>
            </a:srgbClr>
          </a:solidFill>
          <a:ln w="12700">
            <a:solidFill>
              <a:srgbClr val="1D4ED8">
                <a:alpha val="0"/>
              </a:srgbClr>
            </a:solidFill>
            <a:prstDash val="solid"/>
          </a:ln>
        </p:spPr>
      </p:sp>
      <p:sp>
        <p:nvSpPr>
          <p:cNvPr id="19" name="Shape 16"/>
          <p:cNvSpPr/>
          <p:nvPr/>
        </p:nvSpPr>
        <p:spPr>
          <a:xfrm>
            <a:off x="6979920" y="2552877"/>
            <a:ext cx="32949" cy="179477"/>
          </a:xfrm>
          <a:prstGeom prst="roundRect">
            <a:avLst>
              <a:gd name="adj" fmla="val 55504"/>
            </a:avLst>
          </a:prstGeom>
          <a:solidFill>
            <a:srgbClr val="1D4ED8">
              <a:alpha val="92000"/>
            </a:srgbClr>
          </a:solidFill>
          <a:ln w="12700">
            <a:solidFill>
              <a:srgbClr val="1D4ED8">
                <a:alpha val="0"/>
              </a:srgbClr>
            </a:solidFill>
            <a:prstDash val="solid"/>
          </a:ln>
        </p:spPr>
      </p:sp>
      <p:sp>
        <p:nvSpPr>
          <p:cNvPr id="20" name="Shape 17"/>
          <p:cNvSpPr/>
          <p:nvPr/>
        </p:nvSpPr>
        <p:spPr>
          <a:xfrm>
            <a:off x="7051548" y="2452024"/>
            <a:ext cx="32949" cy="381184"/>
          </a:xfrm>
          <a:prstGeom prst="roundRect">
            <a:avLst>
              <a:gd name="adj" fmla="val 55504"/>
            </a:avLst>
          </a:prstGeom>
          <a:solidFill>
            <a:srgbClr val="1D4ED8">
              <a:alpha val="92000"/>
            </a:srgbClr>
          </a:solidFill>
          <a:ln w="12700">
            <a:solidFill>
              <a:srgbClr val="1D4ED8">
                <a:alpha val="0"/>
              </a:srgbClr>
            </a:solidFill>
            <a:prstDash val="solid"/>
          </a:ln>
        </p:spPr>
      </p:sp>
      <p:sp>
        <p:nvSpPr>
          <p:cNvPr id="21" name="Shape 18"/>
          <p:cNvSpPr/>
          <p:nvPr/>
        </p:nvSpPr>
        <p:spPr>
          <a:xfrm>
            <a:off x="7123176" y="2340800"/>
            <a:ext cx="32949" cy="603632"/>
          </a:xfrm>
          <a:prstGeom prst="roundRect">
            <a:avLst>
              <a:gd name="adj" fmla="val 55504"/>
            </a:avLst>
          </a:prstGeom>
          <a:solidFill>
            <a:srgbClr val="1D4ED8">
              <a:alpha val="92000"/>
            </a:srgbClr>
          </a:solidFill>
          <a:ln w="12700">
            <a:solidFill>
              <a:srgbClr val="1D4ED8">
                <a:alpha val="0"/>
              </a:srgbClr>
            </a:solidFill>
            <a:prstDash val="solid"/>
          </a:ln>
        </p:spPr>
      </p:sp>
      <p:sp>
        <p:nvSpPr>
          <p:cNvPr id="22" name="Shape 19"/>
          <p:cNvSpPr/>
          <p:nvPr/>
        </p:nvSpPr>
        <p:spPr>
          <a:xfrm>
            <a:off x="7194804" y="2430223"/>
            <a:ext cx="32949" cy="424786"/>
          </a:xfrm>
          <a:prstGeom prst="roundRect">
            <a:avLst>
              <a:gd name="adj" fmla="val 55504"/>
            </a:avLst>
          </a:prstGeom>
          <a:solidFill>
            <a:srgbClr val="1D4ED8">
              <a:alpha val="92000"/>
            </a:srgbClr>
          </a:solidFill>
          <a:ln w="12700">
            <a:solidFill>
              <a:srgbClr val="1D4ED8">
                <a:alpha val="0"/>
              </a:srgbClr>
            </a:solidFill>
            <a:prstDash val="solid"/>
          </a:ln>
        </p:spPr>
      </p:sp>
      <p:sp>
        <p:nvSpPr>
          <p:cNvPr id="23" name="Shape 20"/>
          <p:cNvSpPr/>
          <p:nvPr/>
        </p:nvSpPr>
        <p:spPr>
          <a:xfrm>
            <a:off x="7266432" y="2285714"/>
            <a:ext cx="32949" cy="713804"/>
          </a:xfrm>
          <a:prstGeom prst="roundRect">
            <a:avLst>
              <a:gd name="adj" fmla="val 55504"/>
            </a:avLst>
          </a:prstGeom>
          <a:solidFill>
            <a:srgbClr val="1D4ED8">
              <a:alpha val="92000"/>
            </a:srgbClr>
          </a:solidFill>
          <a:ln w="12700">
            <a:solidFill>
              <a:srgbClr val="1D4ED8">
                <a:alpha val="0"/>
              </a:srgbClr>
            </a:solidFill>
            <a:prstDash val="solid"/>
          </a:ln>
        </p:spPr>
      </p:sp>
      <p:sp>
        <p:nvSpPr>
          <p:cNvPr id="24" name="Shape 21"/>
          <p:cNvSpPr/>
          <p:nvPr/>
        </p:nvSpPr>
        <p:spPr>
          <a:xfrm>
            <a:off x="7338060" y="2547244"/>
            <a:ext cx="32949" cy="190744"/>
          </a:xfrm>
          <a:prstGeom prst="roundRect">
            <a:avLst>
              <a:gd name="adj" fmla="val 55504"/>
            </a:avLst>
          </a:prstGeom>
          <a:solidFill>
            <a:srgbClr val="1D4ED8">
              <a:alpha val="92000"/>
            </a:srgbClr>
          </a:solidFill>
          <a:ln w="12700">
            <a:solidFill>
              <a:srgbClr val="1D4ED8">
                <a:alpha val="0"/>
              </a:srgbClr>
            </a:solidFill>
            <a:prstDash val="solid"/>
          </a:ln>
        </p:spPr>
      </p:sp>
      <p:sp>
        <p:nvSpPr>
          <p:cNvPr id="25" name="Shape 22"/>
          <p:cNvSpPr/>
          <p:nvPr/>
        </p:nvSpPr>
        <p:spPr>
          <a:xfrm>
            <a:off x="7409688" y="2563881"/>
            <a:ext cx="32949" cy="157471"/>
          </a:xfrm>
          <a:prstGeom prst="roundRect">
            <a:avLst>
              <a:gd name="adj" fmla="val 55504"/>
            </a:avLst>
          </a:prstGeom>
          <a:solidFill>
            <a:srgbClr val="1D4ED8">
              <a:alpha val="92000"/>
            </a:srgbClr>
          </a:solidFill>
          <a:ln w="12700">
            <a:solidFill>
              <a:srgbClr val="1D4ED8">
                <a:alpha val="0"/>
              </a:srgbClr>
            </a:solidFill>
            <a:prstDash val="solid"/>
          </a:ln>
        </p:spPr>
      </p:sp>
      <p:sp>
        <p:nvSpPr>
          <p:cNvPr id="26" name="Shape 23"/>
          <p:cNvSpPr/>
          <p:nvPr/>
        </p:nvSpPr>
        <p:spPr>
          <a:xfrm>
            <a:off x="7481316" y="2531829"/>
            <a:ext cx="32949" cy="221574"/>
          </a:xfrm>
          <a:prstGeom prst="roundRect">
            <a:avLst>
              <a:gd name="adj" fmla="val 55504"/>
            </a:avLst>
          </a:prstGeom>
          <a:solidFill>
            <a:srgbClr val="1D4ED8">
              <a:alpha val="92000"/>
            </a:srgbClr>
          </a:solidFill>
          <a:ln w="12700">
            <a:solidFill>
              <a:srgbClr val="1D4ED8">
                <a:alpha val="0"/>
              </a:srgbClr>
            </a:solidFill>
            <a:prstDash val="solid"/>
          </a:ln>
        </p:spPr>
      </p:sp>
      <p:sp>
        <p:nvSpPr>
          <p:cNvPr id="27" name="Shape 24"/>
          <p:cNvSpPr/>
          <p:nvPr/>
        </p:nvSpPr>
        <p:spPr>
          <a:xfrm>
            <a:off x="7552944" y="2227848"/>
            <a:ext cx="32949" cy="829537"/>
          </a:xfrm>
          <a:prstGeom prst="roundRect">
            <a:avLst>
              <a:gd name="adj" fmla="val 55504"/>
            </a:avLst>
          </a:prstGeom>
          <a:solidFill>
            <a:srgbClr val="1D4ED8">
              <a:alpha val="92000"/>
            </a:srgbClr>
          </a:solidFill>
          <a:ln w="12700">
            <a:solidFill>
              <a:srgbClr val="1D4ED8">
                <a:alpha val="0"/>
              </a:srgbClr>
            </a:solidFill>
            <a:prstDash val="solid"/>
          </a:ln>
        </p:spPr>
      </p:sp>
      <p:sp>
        <p:nvSpPr>
          <p:cNvPr id="28" name="Shape 25"/>
          <p:cNvSpPr/>
          <p:nvPr/>
        </p:nvSpPr>
        <p:spPr>
          <a:xfrm>
            <a:off x="7624572" y="2348637"/>
            <a:ext cx="32949" cy="587958"/>
          </a:xfrm>
          <a:prstGeom prst="roundRect">
            <a:avLst>
              <a:gd name="adj" fmla="val 55504"/>
            </a:avLst>
          </a:prstGeom>
          <a:solidFill>
            <a:srgbClr val="1D4ED8">
              <a:alpha val="92000"/>
            </a:srgbClr>
          </a:solidFill>
          <a:ln w="12700">
            <a:solidFill>
              <a:srgbClr val="1D4ED8">
                <a:alpha val="0"/>
              </a:srgbClr>
            </a:solidFill>
            <a:prstDash val="solid"/>
          </a:ln>
        </p:spPr>
      </p:sp>
      <p:sp>
        <p:nvSpPr>
          <p:cNvPr id="29" name="Shape 26"/>
          <p:cNvSpPr/>
          <p:nvPr/>
        </p:nvSpPr>
        <p:spPr>
          <a:xfrm>
            <a:off x="7696200" y="2215232"/>
            <a:ext cx="32949" cy="854769"/>
          </a:xfrm>
          <a:prstGeom prst="roundRect">
            <a:avLst>
              <a:gd name="adj" fmla="val 55504"/>
            </a:avLst>
          </a:prstGeom>
          <a:solidFill>
            <a:srgbClr val="1D4ED8">
              <a:alpha val="92000"/>
            </a:srgbClr>
          </a:solidFill>
          <a:ln w="12700">
            <a:solidFill>
              <a:srgbClr val="1D4ED8">
                <a:alpha val="0"/>
              </a:srgbClr>
            </a:solidFill>
            <a:prstDash val="solid"/>
          </a:ln>
        </p:spPr>
      </p:sp>
      <p:sp>
        <p:nvSpPr>
          <p:cNvPr id="30" name="Shape 27"/>
          <p:cNvSpPr/>
          <p:nvPr/>
        </p:nvSpPr>
        <p:spPr>
          <a:xfrm>
            <a:off x="7767828" y="2321233"/>
            <a:ext cx="32949" cy="642766"/>
          </a:xfrm>
          <a:prstGeom prst="roundRect">
            <a:avLst>
              <a:gd name="adj" fmla="val 55504"/>
            </a:avLst>
          </a:prstGeom>
          <a:solidFill>
            <a:srgbClr val="1D4ED8">
              <a:alpha val="92000"/>
            </a:srgbClr>
          </a:solidFill>
          <a:ln w="12700">
            <a:solidFill>
              <a:srgbClr val="1D4ED8">
                <a:alpha val="0"/>
              </a:srgbClr>
            </a:solidFill>
            <a:prstDash val="solid"/>
          </a:ln>
        </p:spPr>
      </p:sp>
      <p:sp>
        <p:nvSpPr>
          <p:cNvPr id="31" name="Shape 28"/>
          <p:cNvSpPr/>
          <p:nvPr/>
        </p:nvSpPr>
        <p:spPr>
          <a:xfrm>
            <a:off x="7839456" y="2479214"/>
            <a:ext cx="32949" cy="326805"/>
          </a:xfrm>
          <a:prstGeom prst="roundRect">
            <a:avLst>
              <a:gd name="adj" fmla="val 55504"/>
            </a:avLst>
          </a:prstGeom>
          <a:solidFill>
            <a:srgbClr val="1D4ED8">
              <a:alpha val="92000"/>
            </a:srgbClr>
          </a:solidFill>
          <a:ln w="12700">
            <a:solidFill>
              <a:srgbClr val="1D4ED8">
                <a:alpha val="0"/>
              </a:srgbClr>
            </a:solidFill>
            <a:prstDash val="solid"/>
          </a:ln>
        </p:spPr>
      </p:sp>
      <p:sp>
        <p:nvSpPr>
          <p:cNvPr id="32" name="Shape 29"/>
          <p:cNvSpPr/>
          <p:nvPr/>
        </p:nvSpPr>
        <p:spPr>
          <a:xfrm>
            <a:off x="7911084" y="2509208"/>
            <a:ext cx="32949" cy="266816"/>
          </a:xfrm>
          <a:prstGeom prst="roundRect">
            <a:avLst>
              <a:gd name="adj" fmla="val 55504"/>
            </a:avLst>
          </a:prstGeom>
          <a:solidFill>
            <a:srgbClr val="1D4ED8">
              <a:alpha val="92000"/>
            </a:srgbClr>
          </a:solidFill>
          <a:ln w="12700">
            <a:solidFill>
              <a:srgbClr val="1D4ED8">
                <a:alpha val="0"/>
              </a:srgbClr>
            </a:solidFill>
            <a:prstDash val="solid"/>
          </a:ln>
        </p:spPr>
      </p:sp>
      <p:sp>
        <p:nvSpPr>
          <p:cNvPr id="33" name="Shape 30"/>
          <p:cNvSpPr/>
          <p:nvPr/>
        </p:nvSpPr>
        <p:spPr>
          <a:xfrm>
            <a:off x="7982712" y="2498955"/>
            <a:ext cx="32949" cy="287321"/>
          </a:xfrm>
          <a:prstGeom prst="roundRect">
            <a:avLst>
              <a:gd name="adj" fmla="val 55504"/>
            </a:avLst>
          </a:prstGeom>
          <a:solidFill>
            <a:srgbClr val="1D4ED8">
              <a:alpha val="92000"/>
            </a:srgbClr>
          </a:solidFill>
          <a:ln w="12700">
            <a:solidFill>
              <a:srgbClr val="1D4ED8">
                <a:alpha val="0"/>
              </a:srgbClr>
            </a:solidFill>
            <a:prstDash val="solid"/>
          </a:ln>
        </p:spPr>
      </p:sp>
      <p:sp>
        <p:nvSpPr>
          <p:cNvPr id="34" name="Shape 31"/>
          <p:cNvSpPr/>
          <p:nvPr/>
        </p:nvSpPr>
        <p:spPr>
          <a:xfrm>
            <a:off x="8054340" y="2204633"/>
            <a:ext cx="32949" cy="875965"/>
          </a:xfrm>
          <a:prstGeom prst="roundRect">
            <a:avLst>
              <a:gd name="adj" fmla="val 55504"/>
            </a:avLst>
          </a:prstGeom>
          <a:solidFill>
            <a:srgbClr val="1D4ED8">
              <a:alpha val="92000"/>
            </a:srgbClr>
          </a:solidFill>
          <a:ln w="12700">
            <a:solidFill>
              <a:srgbClr val="1D4ED8">
                <a:alpha val="0"/>
              </a:srgbClr>
            </a:solidFill>
            <a:prstDash val="solid"/>
          </a:ln>
        </p:spPr>
      </p:sp>
      <p:sp>
        <p:nvSpPr>
          <p:cNvPr id="35" name="Shape 32"/>
          <p:cNvSpPr/>
          <p:nvPr/>
        </p:nvSpPr>
        <p:spPr>
          <a:xfrm>
            <a:off x="8125968" y="2555716"/>
            <a:ext cx="32949" cy="173800"/>
          </a:xfrm>
          <a:prstGeom prst="roundRect">
            <a:avLst>
              <a:gd name="adj" fmla="val 55504"/>
            </a:avLst>
          </a:prstGeom>
          <a:solidFill>
            <a:srgbClr val="1D4ED8">
              <a:alpha val="92000"/>
            </a:srgbClr>
          </a:solidFill>
          <a:ln w="12700">
            <a:solidFill>
              <a:srgbClr val="1D4ED8">
                <a:alpha val="0"/>
              </a:srgbClr>
            </a:solidFill>
            <a:prstDash val="solid"/>
          </a:ln>
        </p:spPr>
      </p:sp>
      <p:sp>
        <p:nvSpPr>
          <p:cNvPr id="36" name="Shape 33"/>
          <p:cNvSpPr/>
          <p:nvPr/>
        </p:nvSpPr>
        <p:spPr>
          <a:xfrm>
            <a:off x="8197596" y="2246447"/>
            <a:ext cx="32949" cy="792338"/>
          </a:xfrm>
          <a:prstGeom prst="roundRect">
            <a:avLst>
              <a:gd name="adj" fmla="val 55504"/>
            </a:avLst>
          </a:prstGeom>
          <a:solidFill>
            <a:srgbClr val="1D4ED8">
              <a:alpha val="92000"/>
            </a:srgbClr>
          </a:solidFill>
          <a:ln w="12700">
            <a:solidFill>
              <a:srgbClr val="1D4ED8">
                <a:alpha val="0"/>
              </a:srgbClr>
            </a:solidFill>
            <a:prstDash val="solid"/>
          </a:ln>
        </p:spPr>
      </p:sp>
      <p:sp>
        <p:nvSpPr>
          <p:cNvPr id="37" name="Shape 34"/>
          <p:cNvSpPr/>
          <p:nvPr/>
        </p:nvSpPr>
        <p:spPr>
          <a:xfrm>
            <a:off x="8269224" y="2506739"/>
            <a:ext cx="32949" cy="271755"/>
          </a:xfrm>
          <a:prstGeom prst="roundRect">
            <a:avLst>
              <a:gd name="adj" fmla="val 55504"/>
            </a:avLst>
          </a:prstGeom>
          <a:solidFill>
            <a:srgbClr val="1D4ED8">
              <a:alpha val="92000"/>
            </a:srgbClr>
          </a:solidFill>
          <a:ln w="12700">
            <a:solidFill>
              <a:srgbClr val="1D4ED8">
                <a:alpha val="0"/>
              </a:srgbClr>
            </a:solidFill>
            <a:prstDash val="solid"/>
          </a:ln>
        </p:spPr>
      </p:sp>
      <p:sp>
        <p:nvSpPr>
          <p:cNvPr id="38" name="Shape 35"/>
          <p:cNvSpPr/>
          <p:nvPr/>
        </p:nvSpPr>
        <p:spPr>
          <a:xfrm>
            <a:off x="8340852" y="2535802"/>
            <a:ext cx="32949" cy="213629"/>
          </a:xfrm>
          <a:prstGeom prst="roundRect">
            <a:avLst>
              <a:gd name="adj" fmla="val 55504"/>
            </a:avLst>
          </a:prstGeom>
          <a:solidFill>
            <a:srgbClr val="1D4ED8">
              <a:alpha val="92000"/>
            </a:srgbClr>
          </a:solidFill>
          <a:ln w="12700">
            <a:solidFill>
              <a:srgbClr val="1D4ED8">
                <a:alpha val="0"/>
              </a:srgbClr>
            </a:solidFill>
            <a:prstDash val="solid"/>
          </a:ln>
        </p:spPr>
      </p:sp>
      <p:sp>
        <p:nvSpPr>
          <p:cNvPr id="39" name="Shape 36"/>
          <p:cNvSpPr/>
          <p:nvPr/>
        </p:nvSpPr>
        <p:spPr>
          <a:xfrm>
            <a:off x="8412480" y="2541976"/>
            <a:ext cx="32949" cy="201279"/>
          </a:xfrm>
          <a:prstGeom prst="roundRect">
            <a:avLst>
              <a:gd name="adj" fmla="val 55504"/>
            </a:avLst>
          </a:prstGeom>
          <a:solidFill>
            <a:srgbClr val="1D4ED8">
              <a:alpha val="92000"/>
            </a:srgbClr>
          </a:solidFill>
          <a:ln w="12700">
            <a:solidFill>
              <a:srgbClr val="1D4ED8">
                <a:alpha val="0"/>
              </a:srgbClr>
            </a:solidFill>
            <a:prstDash val="solid"/>
          </a:ln>
        </p:spPr>
      </p:sp>
      <p:sp>
        <p:nvSpPr>
          <p:cNvPr id="40" name="Shape 37"/>
          <p:cNvSpPr/>
          <p:nvPr/>
        </p:nvSpPr>
        <p:spPr>
          <a:xfrm>
            <a:off x="8484108" y="2483344"/>
            <a:ext cx="32949" cy="318543"/>
          </a:xfrm>
          <a:prstGeom prst="roundRect">
            <a:avLst>
              <a:gd name="adj" fmla="val 55504"/>
            </a:avLst>
          </a:prstGeom>
          <a:solidFill>
            <a:srgbClr val="1D4ED8">
              <a:alpha val="92000"/>
            </a:srgbClr>
          </a:solidFill>
          <a:ln w="12700">
            <a:solidFill>
              <a:srgbClr val="1D4ED8">
                <a:alpha val="0"/>
              </a:srgbClr>
            </a:solidFill>
            <a:prstDash val="solid"/>
          </a:ln>
        </p:spPr>
      </p:sp>
      <p:sp>
        <p:nvSpPr>
          <p:cNvPr id="41" name="Shape 38"/>
          <p:cNvSpPr/>
          <p:nvPr/>
        </p:nvSpPr>
        <p:spPr>
          <a:xfrm>
            <a:off x="8555736" y="2434662"/>
            <a:ext cx="32949" cy="415908"/>
          </a:xfrm>
          <a:prstGeom prst="roundRect">
            <a:avLst>
              <a:gd name="adj" fmla="val 55504"/>
            </a:avLst>
          </a:prstGeom>
          <a:solidFill>
            <a:srgbClr val="1D4ED8">
              <a:alpha val="92000"/>
            </a:srgbClr>
          </a:solidFill>
          <a:ln w="12700">
            <a:solidFill>
              <a:srgbClr val="1D4ED8">
                <a:alpha val="0"/>
              </a:srgbClr>
            </a:solidFill>
            <a:prstDash val="solid"/>
          </a:ln>
        </p:spPr>
      </p:sp>
      <p:sp>
        <p:nvSpPr>
          <p:cNvPr id="42" name="Shape 39"/>
          <p:cNvSpPr/>
          <p:nvPr/>
        </p:nvSpPr>
        <p:spPr>
          <a:xfrm>
            <a:off x="8627364" y="2540292"/>
            <a:ext cx="32949" cy="204649"/>
          </a:xfrm>
          <a:prstGeom prst="roundRect">
            <a:avLst>
              <a:gd name="adj" fmla="val 55504"/>
            </a:avLst>
          </a:prstGeom>
          <a:solidFill>
            <a:srgbClr val="1D4ED8">
              <a:alpha val="92000"/>
            </a:srgbClr>
          </a:solidFill>
          <a:ln w="12700">
            <a:solidFill>
              <a:srgbClr val="1D4ED8">
                <a:alpha val="0"/>
              </a:srgbClr>
            </a:solidFill>
            <a:prstDash val="solid"/>
          </a:ln>
        </p:spPr>
      </p:sp>
      <p:sp>
        <p:nvSpPr>
          <p:cNvPr id="43" name="Shape 40"/>
          <p:cNvSpPr/>
          <p:nvPr/>
        </p:nvSpPr>
        <p:spPr>
          <a:xfrm>
            <a:off x="8698992" y="2506037"/>
            <a:ext cx="32949" cy="273157"/>
          </a:xfrm>
          <a:prstGeom prst="roundRect">
            <a:avLst>
              <a:gd name="adj" fmla="val 55504"/>
            </a:avLst>
          </a:prstGeom>
          <a:solidFill>
            <a:srgbClr val="1D4ED8">
              <a:alpha val="92000"/>
            </a:srgbClr>
          </a:solidFill>
          <a:ln w="12700">
            <a:solidFill>
              <a:srgbClr val="1D4ED8">
                <a:alpha val="0"/>
              </a:srgbClr>
            </a:solidFill>
            <a:prstDash val="solid"/>
          </a:ln>
        </p:spPr>
      </p:sp>
      <p:sp>
        <p:nvSpPr>
          <p:cNvPr id="44" name="Shape 41"/>
          <p:cNvSpPr/>
          <p:nvPr/>
        </p:nvSpPr>
        <p:spPr>
          <a:xfrm>
            <a:off x="8770620" y="2620141"/>
            <a:ext cx="32949" cy="44950"/>
          </a:xfrm>
          <a:prstGeom prst="roundRect">
            <a:avLst>
              <a:gd name="adj" fmla="val 55504"/>
            </a:avLst>
          </a:prstGeom>
          <a:solidFill>
            <a:srgbClr val="1D4ED8">
              <a:alpha val="92000"/>
            </a:srgbClr>
          </a:solidFill>
          <a:ln w="12700">
            <a:solidFill>
              <a:srgbClr val="1D4ED8">
                <a:alpha val="0"/>
              </a:srgbClr>
            </a:solidFill>
            <a:prstDash val="solid"/>
          </a:ln>
        </p:spPr>
      </p:sp>
      <p:sp>
        <p:nvSpPr>
          <p:cNvPr id="45" name="Text 42"/>
          <p:cNvSpPr txBox="1"/>
          <p:nvPr/>
        </p:nvSpPr>
        <p:spPr>
          <a:xfrm>
            <a:off x="7168896" y="3200400"/>
            <a:ext cx="1143000" cy="228600"/>
          </a:xfrm>
          <a:prstGeom prst="rect">
            <a:avLst/>
          </a:prstGeom>
          <a:noFill/>
          <a:ln/>
        </p:spPr>
        <p:txBody>
          <a:bodyPr wrap="square" lIns="0" tIns="0" rIns="0" bIns="0" rtlCol="0" anchor="ctr">
            <a:normAutofit/>
          </a:bodyPr>
          <a:lstStyle/>
          <a:p>
            <a:pPr marL="0" indent="0" algn="ctr">
              <a:buNone/>
            </a:pPr>
            <a:r>
              <a:rPr lang="en-US" sz="1050" dirty="0">
                <a:solidFill>
                  <a:srgbClr val="64748B"/>
                </a:solidFill>
                <a:latin typeface="Arial" pitchFamily="34" charset="0"/>
                <a:ea typeface="Arial" pitchFamily="34" charset="-122"/>
                <a:cs typeface="Arial" pitchFamily="34" charset="-120"/>
              </a:rPr>
              <a:t>Âm thanh</a:t>
            </a:r>
            <a:endParaRPr lang="en-US" sz="1050" dirty="0"/>
          </a:p>
        </p:txBody>
      </p:sp>
      <p:sp>
        <p:nvSpPr>
          <p:cNvPr id="46" name="Shape 43"/>
          <p:cNvSpPr/>
          <p:nvPr/>
        </p:nvSpPr>
        <p:spPr>
          <a:xfrm>
            <a:off x="8942832" y="2651760"/>
            <a:ext cx="475488" cy="0"/>
          </a:xfrm>
          <a:prstGeom prst="line">
            <a:avLst/>
          </a:prstGeom>
          <a:noFill/>
          <a:ln w="25400">
            <a:solidFill>
              <a:srgbClr val="1D4ED8"/>
            </a:solidFill>
            <a:prstDash val="solid"/>
            <a:tailEnd type="triangle"/>
          </a:ln>
        </p:spPr>
      </p:sp>
      <p:sp>
        <p:nvSpPr>
          <p:cNvPr id="47" name="Shape 44"/>
          <p:cNvSpPr/>
          <p:nvPr/>
        </p:nvSpPr>
        <p:spPr>
          <a:xfrm>
            <a:off x="9509760" y="2011680"/>
            <a:ext cx="1746504" cy="1298448"/>
          </a:xfrm>
          <a:prstGeom prst="roundRect">
            <a:avLst>
              <a:gd name="adj" fmla="val 3521"/>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48" name="Shape 45"/>
          <p:cNvSpPr/>
          <p:nvPr/>
        </p:nvSpPr>
        <p:spPr>
          <a:xfrm>
            <a:off x="9692640" y="2212848"/>
            <a:ext cx="493776" cy="493776"/>
          </a:xfrm>
          <a:prstGeom prst="ellipse">
            <a:avLst/>
          </a:prstGeom>
          <a:solidFill>
            <a:srgbClr val="FEE2E2"/>
          </a:solidFill>
          <a:ln w="12700">
            <a:solidFill>
              <a:srgbClr val="FEE2E2"/>
            </a:solidFill>
            <a:prstDash val="solid"/>
          </a:ln>
        </p:spPr>
      </p:sp>
      <p:pic>
        <p:nvPicPr>
          <p:cNvPr id="4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16084" y="2336292"/>
            <a:ext cx="246888" cy="246888"/>
          </a:xfrm>
          <a:prstGeom prst="rect">
            <a:avLst/>
          </a:prstGeom>
        </p:spPr>
      </p:pic>
      <p:sp>
        <p:nvSpPr>
          <p:cNvPr id="50" name="Text 46"/>
          <p:cNvSpPr txBox="1"/>
          <p:nvPr/>
        </p:nvSpPr>
        <p:spPr>
          <a:xfrm>
            <a:off x="9692640" y="2798064"/>
            <a:ext cx="1380744"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Cảm xúc</a:t>
            </a:r>
            <a:endParaRPr lang="en-US" sz="1350" dirty="0"/>
          </a:p>
        </p:txBody>
      </p:sp>
      <p:sp>
        <p:nvSpPr>
          <p:cNvPr id="51" name="Text 47"/>
          <p:cNvSpPr txBox="1"/>
          <p:nvPr/>
        </p:nvSpPr>
        <p:spPr>
          <a:xfrm>
            <a:off x="566928" y="4160520"/>
            <a:ext cx="2834640" cy="274320"/>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5 nhóm ứng dụng thực tế</a:t>
            </a:r>
            <a:endParaRPr lang="en-US" sz="1200" dirty="0"/>
          </a:p>
        </p:txBody>
      </p:sp>
      <p:sp>
        <p:nvSpPr>
          <p:cNvPr id="52" name="Shape 48"/>
          <p:cNvSpPr/>
          <p:nvPr/>
        </p:nvSpPr>
        <p:spPr>
          <a:xfrm>
            <a:off x="566928" y="4553712"/>
            <a:ext cx="1984248" cy="1143000"/>
          </a:xfrm>
          <a:prstGeom prst="roundRect">
            <a:avLst>
              <a:gd name="adj" fmla="val 3200"/>
            </a:avLst>
          </a:prstGeom>
          <a:solidFill>
            <a:srgbClr val="FFFFFF"/>
          </a:solidFill>
          <a:ln w="12700">
            <a:solidFill>
              <a:srgbClr val="E2E8F0"/>
            </a:solidFill>
            <a:prstDash val="solid"/>
          </a:ln>
        </p:spPr>
      </p:sp>
      <p:sp>
        <p:nvSpPr>
          <p:cNvPr id="53" name="Shape 49"/>
          <p:cNvSpPr/>
          <p:nvPr/>
        </p:nvSpPr>
        <p:spPr>
          <a:xfrm>
            <a:off x="713232" y="4736592"/>
            <a:ext cx="384048" cy="384048"/>
          </a:xfrm>
          <a:prstGeom prst="ellipse">
            <a:avLst/>
          </a:prstGeom>
          <a:solidFill>
            <a:srgbClr val="DBEAFE"/>
          </a:solidFill>
          <a:ln w="12700">
            <a:solidFill>
              <a:srgbClr val="DBEAFE"/>
            </a:solidFill>
            <a:prstDash val="solid"/>
          </a:ln>
        </p:spPr>
      </p:sp>
      <p:pic>
        <p:nvPicPr>
          <p:cNvPr id="5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9244" y="4832604"/>
            <a:ext cx="192024" cy="192024"/>
          </a:xfrm>
          <a:prstGeom prst="rect">
            <a:avLst/>
          </a:prstGeom>
        </p:spPr>
      </p:pic>
      <p:sp>
        <p:nvSpPr>
          <p:cNvPr id="55" name="Text 50"/>
          <p:cNvSpPr txBox="1"/>
          <p:nvPr/>
        </p:nvSpPr>
        <p:spPr>
          <a:xfrm>
            <a:off x="1188720" y="4663440"/>
            <a:ext cx="1188720" cy="384048"/>
          </a:xfrm>
          <a:prstGeom prst="rect">
            <a:avLst/>
          </a:prstGeom>
          <a:noFill/>
          <a:ln/>
        </p:spPr>
        <p:txBody>
          <a:bodyPr wrap="square" lIns="0" tIns="0" rIns="0" bIns="0" rtlCol="0" anchor="ctr">
            <a:normAutofit/>
          </a:bodyPr>
          <a:lstStyle/>
          <a:p>
            <a:pPr marL="0" indent="0" algn="l">
              <a:buNone/>
            </a:pPr>
            <a:r>
              <a:rPr lang="en-US" sz="1100" b="1" dirty="0">
                <a:solidFill>
                  <a:srgbClr val="0F172A"/>
                </a:solidFill>
                <a:latin typeface="Arial" pitchFamily="34" charset="0"/>
                <a:ea typeface="Arial" pitchFamily="34" charset="-122"/>
                <a:cs typeface="Arial" pitchFamily="34" charset="-120"/>
              </a:rPr>
              <a:t>Call center</a:t>
            </a:r>
            <a:endParaRPr lang="en-US" sz="1100" dirty="0"/>
          </a:p>
        </p:txBody>
      </p:sp>
      <p:sp>
        <p:nvSpPr>
          <p:cNvPr id="56" name="Text 51"/>
          <p:cNvSpPr txBox="1"/>
          <p:nvPr/>
        </p:nvSpPr>
        <p:spPr>
          <a:xfrm>
            <a:off x="1188720" y="5029200"/>
            <a:ext cx="1188720" cy="310896"/>
          </a:xfrm>
          <a:prstGeom prst="rect">
            <a:avLst/>
          </a:prstGeom>
          <a:noFill/>
          <a:ln/>
        </p:spPr>
        <p:txBody>
          <a:bodyPr wrap="square" lIns="0" tIns="0" rIns="0" bIns="0" rtlCol="0" anchor="ctr">
            <a:normAutofit/>
          </a:bodyPr>
          <a:lstStyle/>
          <a:p>
            <a:pPr marL="0" indent="0" algn="l">
              <a:buNone/>
            </a:pPr>
            <a:r>
              <a:rPr lang="en-US" sz="880" dirty="0">
                <a:solidFill>
                  <a:srgbClr val="64748B"/>
                </a:solidFill>
                <a:latin typeface="Arial" pitchFamily="34" charset="0"/>
                <a:ea typeface="Arial" pitchFamily="34" charset="-122"/>
                <a:cs typeface="Arial" pitchFamily="34" charset="-120"/>
              </a:rPr>
              <a:t>Tín hiệu hỗ trợ</a:t>
            </a:r>
            <a:endParaRPr lang="en-US" sz="880" dirty="0"/>
          </a:p>
        </p:txBody>
      </p:sp>
      <p:sp>
        <p:nvSpPr>
          <p:cNvPr id="57" name="Shape 52"/>
          <p:cNvSpPr/>
          <p:nvPr/>
        </p:nvSpPr>
        <p:spPr>
          <a:xfrm>
            <a:off x="2788920" y="4553712"/>
            <a:ext cx="1984248" cy="1143000"/>
          </a:xfrm>
          <a:prstGeom prst="roundRect">
            <a:avLst>
              <a:gd name="adj" fmla="val 3200"/>
            </a:avLst>
          </a:prstGeom>
          <a:solidFill>
            <a:srgbClr val="FFFFFF"/>
          </a:solidFill>
          <a:ln w="12700">
            <a:solidFill>
              <a:srgbClr val="E2E8F0"/>
            </a:solidFill>
            <a:prstDash val="solid"/>
          </a:ln>
        </p:spPr>
      </p:sp>
      <p:sp>
        <p:nvSpPr>
          <p:cNvPr id="58" name="Shape 53"/>
          <p:cNvSpPr/>
          <p:nvPr/>
        </p:nvSpPr>
        <p:spPr>
          <a:xfrm>
            <a:off x="2935224" y="4736592"/>
            <a:ext cx="384048" cy="384048"/>
          </a:xfrm>
          <a:prstGeom prst="ellipse">
            <a:avLst/>
          </a:prstGeom>
          <a:solidFill>
            <a:srgbClr val="CCFBF1"/>
          </a:solidFill>
          <a:ln w="12700">
            <a:solidFill>
              <a:srgbClr val="CCFBF1"/>
            </a:solidFill>
            <a:prstDash val="solid"/>
          </a:ln>
        </p:spPr>
      </p:sp>
      <p:pic>
        <p:nvPicPr>
          <p:cNvPr id="5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31236" y="4832604"/>
            <a:ext cx="192024" cy="192024"/>
          </a:xfrm>
          <a:prstGeom prst="rect">
            <a:avLst/>
          </a:prstGeom>
        </p:spPr>
      </p:pic>
      <p:sp>
        <p:nvSpPr>
          <p:cNvPr id="60" name="Text 54"/>
          <p:cNvSpPr txBox="1"/>
          <p:nvPr/>
        </p:nvSpPr>
        <p:spPr>
          <a:xfrm>
            <a:off x="3410712" y="4663440"/>
            <a:ext cx="1188720" cy="384048"/>
          </a:xfrm>
          <a:prstGeom prst="rect">
            <a:avLst/>
          </a:prstGeom>
          <a:noFill/>
          <a:ln/>
        </p:spPr>
        <p:txBody>
          <a:bodyPr wrap="square" lIns="0" tIns="0" rIns="0" bIns="0" rtlCol="0" anchor="ctr">
            <a:normAutofit/>
          </a:bodyPr>
          <a:lstStyle/>
          <a:p>
            <a:pPr marL="0" indent="0" algn="l">
              <a:buNone/>
            </a:pPr>
            <a:r>
              <a:rPr lang="en-US" sz="1100" b="1" dirty="0">
                <a:solidFill>
                  <a:srgbClr val="0F172A"/>
                </a:solidFill>
                <a:latin typeface="Arial" pitchFamily="34" charset="0"/>
                <a:ea typeface="Arial" pitchFamily="34" charset="-122"/>
                <a:cs typeface="Arial" pitchFamily="34" charset="-120"/>
              </a:rPr>
              <a:t>Trợ lý ảo</a:t>
            </a:r>
            <a:endParaRPr lang="en-US" sz="1100" dirty="0"/>
          </a:p>
        </p:txBody>
      </p:sp>
      <p:sp>
        <p:nvSpPr>
          <p:cNvPr id="61" name="Text 55"/>
          <p:cNvSpPr txBox="1"/>
          <p:nvPr/>
        </p:nvSpPr>
        <p:spPr>
          <a:xfrm>
            <a:off x="3410712" y="5029200"/>
            <a:ext cx="1188720" cy="310896"/>
          </a:xfrm>
          <a:prstGeom prst="rect">
            <a:avLst/>
          </a:prstGeom>
          <a:noFill/>
          <a:ln/>
        </p:spPr>
        <p:txBody>
          <a:bodyPr wrap="square" lIns="0" tIns="0" rIns="0" bIns="0" rtlCol="0" anchor="ctr">
            <a:normAutofit/>
          </a:bodyPr>
          <a:lstStyle/>
          <a:p>
            <a:pPr marL="0" indent="0" algn="l">
              <a:buNone/>
            </a:pPr>
            <a:r>
              <a:rPr lang="en-US" sz="880" dirty="0">
                <a:solidFill>
                  <a:srgbClr val="64748B"/>
                </a:solidFill>
                <a:latin typeface="Arial" pitchFamily="34" charset="0"/>
                <a:ea typeface="Arial" pitchFamily="34" charset="-122"/>
                <a:cs typeface="Arial" pitchFamily="34" charset="-120"/>
              </a:rPr>
              <a:t>Tín hiệu hỗ trợ</a:t>
            </a:r>
            <a:endParaRPr lang="en-US" sz="880" dirty="0"/>
          </a:p>
        </p:txBody>
      </p:sp>
      <p:sp>
        <p:nvSpPr>
          <p:cNvPr id="62" name="Shape 56"/>
          <p:cNvSpPr/>
          <p:nvPr/>
        </p:nvSpPr>
        <p:spPr>
          <a:xfrm>
            <a:off x="5010912" y="4553712"/>
            <a:ext cx="1984248" cy="1143000"/>
          </a:xfrm>
          <a:prstGeom prst="roundRect">
            <a:avLst>
              <a:gd name="adj" fmla="val 3200"/>
            </a:avLst>
          </a:prstGeom>
          <a:solidFill>
            <a:srgbClr val="FFFFFF"/>
          </a:solidFill>
          <a:ln w="12700">
            <a:solidFill>
              <a:srgbClr val="E2E8F0"/>
            </a:solidFill>
            <a:prstDash val="solid"/>
          </a:ln>
        </p:spPr>
      </p:sp>
      <p:sp>
        <p:nvSpPr>
          <p:cNvPr id="63" name="Shape 57"/>
          <p:cNvSpPr/>
          <p:nvPr/>
        </p:nvSpPr>
        <p:spPr>
          <a:xfrm>
            <a:off x="5157216" y="4736592"/>
            <a:ext cx="384048" cy="384048"/>
          </a:xfrm>
          <a:prstGeom prst="ellipse">
            <a:avLst/>
          </a:prstGeom>
          <a:solidFill>
            <a:srgbClr val="DCFCE7"/>
          </a:solidFill>
          <a:ln w="12700">
            <a:solidFill>
              <a:srgbClr val="DCFCE7"/>
            </a:solidFill>
            <a:prstDash val="solid"/>
          </a:ln>
        </p:spPr>
      </p:sp>
      <p:pic>
        <p:nvPicPr>
          <p:cNvPr id="6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53228" y="4832604"/>
            <a:ext cx="192024" cy="192024"/>
          </a:xfrm>
          <a:prstGeom prst="rect">
            <a:avLst/>
          </a:prstGeom>
        </p:spPr>
      </p:pic>
      <p:sp>
        <p:nvSpPr>
          <p:cNvPr id="65" name="Text 58"/>
          <p:cNvSpPr txBox="1"/>
          <p:nvPr/>
        </p:nvSpPr>
        <p:spPr>
          <a:xfrm>
            <a:off x="5632704" y="4663440"/>
            <a:ext cx="1188720" cy="384048"/>
          </a:xfrm>
          <a:prstGeom prst="rect">
            <a:avLst/>
          </a:prstGeom>
          <a:noFill/>
          <a:ln/>
        </p:spPr>
        <p:txBody>
          <a:bodyPr wrap="square" lIns="0" tIns="0" rIns="0" bIns="0" rtlCol="0" anchor="ctr">
            <a:normAutofit/>
          </a:bodyPr>
          <a:lstStyle/>
          <a:p>
            <a:pPr marL="0" indent="0" algn="l">
              <a:buNone/>
            </a:pPr>
            <a:r>
              <a:rPr lang="en-US" sz="1100" b="1" dirty="0">
                <a:solidFill>
                  <a:srgbClr val="0F172A"/>
                </a:solidFill>
                <a:latin typeface="Arial" pitchFamily="34" charset="0"/>
                <a:ea typeface="Arial" pitchFamily="34" charset="-122"/>
                <a:cs typeface="Arial" pitchFamily="34" charset="-120"/>
              </a:rPr>
              <a:t>Giáo dục</a:t>
            </a:r>
            <a:endParaRPr lang="en-US" sz="1100" dirty="0"/>
          </a:p>
        </p:txBody>
      </p:sp>
      <p:sp>
        <p:nvSpPr>
          <p:cNvPr id="66" name="Text 59"/>
          <p:cNvSpPr txBox="1"/>
          <p:nvPr/>
        </p:nvSpPr>
        <p:spPr>
          <a:xfrm>
            <a:off x="5632704" y="5029200"/>
            <a:ext cx="1188720" cy="310896"/>
          </a:xfrm>
          <a:prstGeom prst="rect">
            <a:avLst/>
          </a:prstGeom>
          <a:noFill/>
          <a:ln/>
        </p:spPr>
        <p:txBody>
          <a:bodyPr wrap="square" lIns="0" tIns="0" rIns="0" bIns="0" rtlCol="0" anchor="ctr">
            <a:normAutofit/>
          </a:bodyPr>
          <a:lstStyle/>
          <a:p>
            <a:pPr marL="0" indent="0" algn="l">
              <a:buNone/>
            </a:pPr>
            <a:r>
              <a:rPr lang="en-US" sz="880" dirty="0">
                <a:solidFill>
                  <a:srgbClr val="64748B"/>
                </a:solidFill>
                <a:latin typeface="Arial" pitchFamily="34" charset="0"/>
                <a:ea typeface="Arial" pitchFamily="34" charset="-122"/>
                <a:cs typeface="Arial" pitchFamily="34" charset="-120"/>
              </a:rPr>
              <a:t>Tín hiệu hỗ trợ</a:t>
            </a:r>
            <a:endParaRPr lang="en-US" sz="880" dirty="0"/>
          </a:p>
        </p:txBody>
      </p:sp>
      <p:sp>
        <p:nvSpPr>
          <p:cNvPr id="67" name="Shape 60"/>
          <p:cNvSpPr/>
          <p:nvPr/>
        </p:nvSpPr>
        <p:spPr>
          <a:xfrm>
            <a:off x="7232904" y="4553712"/>
            <a:ext cx="1984248" cy="1143000"/>
          </a:xfrm>
          <a:prstGeom prst="roundRect">
            <a:avLst>
              <a:gd name="adj" fmla="val 3200"/>
            </a:avLst>
          </a:prstGeom>
          <a:solidFill>
            <a:srgbClr val="FFFFFF"/>
          </a:solidFill>
          <a:ln w="12700">
            <a:solidFill>
              <a:srgbClr val="E2E8F0"/>
            </a:solidFill>
            <a:prstDash val="solid"/>
          </a:ln>
        </p:spPr>
      </p:sp>
      <p:sp>
        <p:nvSpPr>
          <p:cNvPr id="68" name="Shape 61"/>
          <p:cNvSpPr/>
          <p:nvPr/>
        </p:nvSpPr>
        <p:spPr>
          <a:xfrm>
            <a:off x="7379208" y="4736592"/>
            <a:ext cx="384048" cy="384048"/>
          </a:xfrm>
          <a:prstGeom prst="ellipse">
            <a:avLst/>
          </a:prstGeom>
          <a:solidFill>
            <a:srgbClr val="FEF3C7"/>
          </a:solidFill>
          <a:ln w="12700">
            <a:solidFill>
              <a:srgbClr val="FEF3C7"/>
            </a:solidFill>
            <a:prstDash val="solid"/>
          </a:ln>
        </p:spPr>
      </p:sp>
      <p:pic>
        <p:nvPicPr>
          <p:cNvPr id="6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75220" y="4832604"/>
            <a:ext cx="192024" cy="192024"/>
          </a:xfrm>
          <a:prstGeom prst="rect">
            <a:avLst/>
          </a:prstGeom>
        </p:spPr>
      </p:pic>
      <p:sp>
        <p:nvSpPr>
          <p:cNvPr id="70" name="Text 62"/>
          <p:cNvSpPr txBox="1"/>
          <p:nvPr/>
        </p:nvSpPr>
        <p:spPr>
          <a:xfrm>
            <a:off x="7854696" y="4663440"/>
            <a:ext cx="1188720" cy="384048"/>
          </a:xfrm>
          <a:prstGeom prst="rect">
            <a:avLst/>
          </a:prstGeom>
          <a:noFill/>
          <a:ln/>
        </p:spPr>
        <p:txBody>
          <a:bodyPr wrap="square" lIns="0" tIns="0" rIns="0" bIns="0" rtlCol="0" anchor="ctr">
            <a:normAutofit/>
          </a:bodyPr>
          <a:lstStyle/>
          <a:p>
            <a:pPr marL="0" indent="0" algn="l">
              <a:buNone/>
            </a:pPr>
            <a:r>
              <a:rPr lang="en-US" sz="1100" b="1" dirty="0">
                <a:solidFill>
                  <a:srgbClr val="0F172A"/>
                </a:solidFill>
                <a:latin typeface="Arial" pitchFamily="34" charset="0"/>
                <a:ea typeface="Arial" pitchFamily="34" charset="-122"/>
                <a:cs typeface="Arial" pitchFamily="34" charset="-120"/>
              </a:rPr>
              <a:t>Phản hồi KH</a:t>
            </a:r>
            <a:endParaRPr lang="en-US" sz="1100" dirty="0"/>
          </a:p>
        </p:txBody>
      </p:sp>
      <p:sp>
        <p:nvSpPr>
          <p:cNvPr id="71" name="Text 63"/>
          <p:cNvSpPr txBox="1"/>
          <p:nvPr/>
        </p:nvSpPr>
        <p:spPr>
          <a:xfrm>
            <a:off x="7854696" y="5029200"/>
            <a:ext cx="1188720" cy="310896"/>
          </a:xfrm>
          <a:prstGeom prst="rect">
            <a:avLst/>
          </a:prstGeom>
          <a:noFill/>
          <a:ln/>
        </p:spPr>
        <p:txBody>
          <a:bodyPr wrap="square" lIns="0" tIns="0" rIns="0" bIns="0" rtlCol="0" anchor="ctr">
            <a:normAutofit/>
          </a:bodyPr>
          <a:lstStyle/>
          <a:p>
            <a:pPr marL="0" indent="0" algn="l">
              <a:buNone/>
            </a:pPr>
            <a:r>
              <a:rPr lang="en-US" sz="880" dirty="0">
                <a:solidFill>
                  <a:srgbClr val="64748B"/>
                </a:solidFill>
                <a:latin typeface="Arial" pitchFamily="34" charset="0"/>
                <a:ea typeface="Arial" pitchFamily="34" charset="-122"/>
                <a:cs typeface="Arial" pitchFamily="34" charset="-120"/>
              </a:rPr>
              <a:t>Tín hiệu hỗ trợ</a:t>
            </a:r>
            <a:endParaRPr lang="en-US" sz="880" dirty="0"/>
          </a:p>
        </p:txBody>
      </p:sp>
      <p:sp>
        <p:nvSpPr>
          <p:cNvPr id="72" name="Shape 64"/>
          <p:cNvSpPr/>
          <p:nvPr/>
        </p:nvSpPr>
        <p:spPr>
          <a:xfrm>
            <a:off x="9454896" y="4553712"/>
            <a:ext cx="1984248" cy="1143000"/>
          </a:xfrm>
          <a:prstGeom prst="roundRect">
            <a:avLst>
              <a:gd name="adj" fmla="val 3200"/>
            </a:avLst>
          </a:prstGeom>
          <a:solidFill>
            <a:srgbClr val="FFFFFF"/>
          </a:solidFill>
          <a:ln w="12700">
            <a:solidFill>
              <a:srgbClr val="E2E8F0"/>
            </a:solidFill>
            <a:prstDash val="solid"/>
          </a:ln>
        </p:spPr>
      </p:sp>
      <p:sp>
        <p:nvSpPr>
          <p:cNvPr id="73" name="Shape 65"/>
          <p:cNvSpPr/>
          <p:nvPr/>
        </p:nvSpPr>
        <p:spPr>
          <a:xfrm>
            <a:off x="9601200" y="4736592"/>
            <a:ext cx="384048" cy="384048"/>
          </a:xfrm>
          <a:prstGeom prst="ellipse">
            <a:avLst/>
          </a:prstGeom>
          <a:solidFill>
            <a:srgbClr val="FEE2E2"/>
          </a:solidFill>
          <a:ln w="12700">
            <a:solidFill>
              <a:srgbClr val="FEE2E2"/>
            </a:solidFill>
            <a:prstDash val="solid"/>
          </a:ln>
        </p:spPr>
      </p:sp>
      <p:pic>
        <p:nvPicPr>
          <p:cNvPr id="74"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97212" y="4832604"/>
            <a:ext cx="192024" cy="192024"/>
          </a:xfrm>
          <a:prstGeom prst="rect">
            <a:avLst/>
          </a:prstGeom>
        </p:spPr>
      </p:pic>
      <p:sp>
        <p:nvSpPr>
          <p:cNvPr id="75" name="Text 66"/>
          <p:cNvSpPr txBox="1"/>
          <p:nvPr/>
        </p:nvSpPr>
        <p:spPr>
          <a:xfrm>
            <a:off x="10076688" y="4663440"/>
            <a:ext cx="1188720" cy="384048"/>
          </a:xfrm>
          <a:prstGeom prst="rect">
            <a:avLst/>
          </a:prstGeom>
          <a:noFill/>
          <a:ln/>
        </p:spPr>
        <p:txBody>
          <a:bodyPr wrap="square" lIns="0" tIns="0" rIns="0" bIns="0" rtlCol="0" anchor="ctr">
            <a:normAutofit/>
          </a:bodyPr>
          <a:lstStyle/>
          <a:p>
            <a:pPr marL="0" indent="0" algn="l">
              <a:buNone/>
            </a:pPr>
            <a:r>
              <a:rPr lang="en-US" sz="1100" b="1" dirty="0">
                <a:solidFill>
                  <a:srgbClr val="0F172A"/>
                </a:solidFill>
                <a:latin typeface="Arial" pitchFamily="34" charset="0"/>
                <a:ea typeface="Arial" pitchFamily="34" charset="-122"/>
                <a:cs typeface="Arial" pitchFamily="34" charset="-120"/>
              </a:rPr>
              <a:t>Mental health*</a:t>
            </a:r>
            <a:endParaRPr lang="en-US" sz="1100" dirty="0"/>
          </a:p>
        </p:txBody>
      </p:sp>
      <p:sp>
        <p:nvSpPr>
          <p:cNvPr id="76" name="Text 67"/>
          <p:cNvSpPr txBox="1"/>
          <p:nvPr/>
        </p:nvSpPr>
        <p:spPr>
          <a:xfrm>
            <a:off x="10076688" y="5029200"/>
            <a:ext cx="1188720" cy="310896"/>
          </a:xfrm>
          <a:prstGeom prst="rect">
            <a:avLst/>
          </a:prstGeom>
          <a:noFill/>
          <a:ln/>
        </p:spPr>
        <p:txBody>
          <a:bodyPr wrap="square" lIns="0" tIns="0" rIns="0" bIns="0" rtlCol="0" anchor="ctr">
            <a:normAutofit/>
          </a:bodyPr>
          <a:lstStyle/>
          <a:p>
            <a:pPr marL="0" indent="0" algn="l">
              <a:buNone/>
            </a:pPr>
            <a:r>
              <a:rPr lang="en-US" sz="880" dirty="0">
                <a:solidFill>
                  <a:srgbClr val="64748B"/>
                </a:solidFill>
                <a:latin typeface="Arial" pitchFamily="34" charset="0"/>
                <a:ea typeface="Arial" pitchFamily="34" charset="-122"/>
                <a:cs typeface="Arial" pitchFamily="34" charset="-120"/>
              </a:rPr>
              <a:t>Không dùng để chẩn đoán</a:t>
            </a:r>
            <a:endParaRPr lang="en-US" sz="880" dirty="0"/>
          </a:p>
        </p:txBody>
      </p:sp>
      <p:sp>
        <p:nvSpPr>
          <p:cNvPr id="77" name="Shape 68"/>
          <p:cNvSpPr/>
          <p:nvPr/>
        </p:nvSpPr>
        <p:spPr>
          <a:xfrm>
            <a:off x="530352" y="6382512"/>
            <a:ext cx="11128248" cy="0"/>
          </a:xfrm>
          <a:prstGeom prst="line">
            <a:avLst/>
          </a:prstGeom>
          <a:noFill/>
          <a:ln w="10160">
            <a:solidFill>
              <a:srgbClr val="E2E8F0"/>
            </a:solidFill>
            <a:prstDash val="solid"/>
          </a:ln>
        </p:spPr>
      </p:sp>
      <p:sp>
        <p:nvSpPr>
          <p:cNvPr id="78" name="Text 69"/>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README.md (disclaimer) • Use cases theo phạm vi bài toán; *không dùng cho quyết định y tế/nhạy cảm.</a:t>
            </a:r>
            <a:endParaRPr lang="en-US" sz="850" dirty="0"/>
          </a:p>
        </p:txBody>
      </p:sp>
      <p:sp>
        <p:nvSpPr>
          <p:cNvPr id="79"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03  /  ĐỊNH HƯỚNG</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Mục tiêu rõ, phạm vi có kiểm soát</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Đồ án ưu tiên benchmark công khai và demo end-to-end, không fine-tune.</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00784"/>
            <a:ext cx="5047488" cy="3438144"/>
          </a:xfrm>
          <a:prstGeom prst="roundRect">
            <a:avLst>
              <a:gd name="adj" fmla="val 1330"/>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859536" y="1956816"/>
            <a:ext cx="512064" cy="512064"/>
          </a:xfrm>
          <a:prstGeom prst="ellipse">
            <a:avLst/>
          </a:prstGeom>
          <a:solidFill>
            <a:srgbClr val="DBEAFE"/>
          </a:solidFill>
          <a:ln w="12700">
            <a:solidFill>
              <a:srgbClr val="DBEAFE"/>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7552" y="2084832"/>
            <a:ext cx="256032" cy="256032"/>
          </a:xfrm>
          <a:prstGeom prst="rect">
            <a:avLst/>
          </a:prstGeom>
        </p:spPr>
      </p:pic>
      <p:sp>
        <p:nvSpPr>
          <p:cNvPr id="10" name="Text 7"/>
          <p:cNvSpPr txBox="1"/>
          <p:nvPr/>
        </p:nvSpPr>
        <p:spPr>
          <a:xfrm>
            <a:off x="1536192" y="1993392"/>
            <a:ext cx="2103120" cy="274320"/>
          </a:xfrm>
          <a:prstGeom prst="rect">
            <a:avLst/>
          </a:prstGeom>
          <a:noFill/>
          <a:ln/>
        </p:spPr>
        <p:txBody>
          <a:bodyPr wrap="square" lIns="0" tIns="0" rIns="0" bIns="0" rtlCol="0" anchor="ctr">
            <a:normAutofit/>
          </a:bodyPr>
          <a:lstStyle/>
          <a:p>
            <a:pPr marL="0" indent="0" algn="l">
              <a:buNone/>
            </a:pPr>
            <a:r>
              <a:rPr lang="en-US" sz="1200" b="1" dirty="0">
                <a:solidFill>
                  <a:srgbClr val="1D4ED8"/>
                </a:solidFill>
                <a:latin typeface="Arial" pitchFamily="34" charset="0"/>
                <a:ea typeface="Arial" pitchFamily="34" charset="-122"/>
                <a:cs typeface="Arial" pitchFamily="34" charset="-120"/>
              </a:rPr>
              <a:t>MỤC TIÊU</a:t>
            </a:r>
            <a:endParaRPr lang="en-US" sz="1200" dirty="0"/>
          </a:p>
        </p:txBody>
      </p:sp>
      <p:sp>
        <p:nvSpPr>
          <p:cNvPr id="11" name="Shape 8"/>
          <p:cNvSpPr/>
          <p:nvPr/>
        </p:nvSpPr>
        <p:spPr>
          <a:xfrm>
            <a:off x="877824" y="2679192"/>
            <a:ext cx="73152" cy="73152"/>
          </a:xfrm>
          <a:prstGeom prst="ellipse">
            <a:avLst/>
          </a:prstGeom>
          <a:solidFill>
            <a:srgbClr val="1D4ED8"/>
          </a:solidFill>
          <a:ln w="12700">
            <a:solidFill>
              <a:srgbClr val="1D4ED8"/>
            </a:solidFill>
            <a:prstDash val="solid"/>
          </a:ln>
        </p:spPr>
      </p:sp>
      <p:sp>
        <p:nvSpPr>
          <p:cNvPr id="12" name="Text 9"/>
          <p:cNvSpPr txBox="1"/>
          <p:nvPr/>
        </p:nvSpPr>
        <p:spPr>
          <a:xfrm>
            <a:off x="1042416" y="2578608"/>
            <a:ext cx="4187952" cy="347472"/>
          </a:xfrm>
          <a:prstGeom prst="rect">
            <a:avLst/>
          </a:prstGeom>
          <a:noFill/>
          <a:ln/>
        </p:spPr>
        <p:txBody>
          <a:bodyPr wrap="square" lIns="0" tIns="0" rIns="0" bIns="0" rtlCol="0" anchor="t">
            <a:normAutofit/>
          </a:bodyPr>
          <a:lstStyle/>
          <a:p>
            <a:pPr marL="0" indent="0" algn="l">
              <a:buNone/>
            </a:pPr>
            <a:r>
              <a:rPr lang="en-US" sz="1400" dirty="0">
                <a:solidFill>
                  <a:srgbClr val="162033"/>
                </a:solidFill>
                <a:latin typeface="Arial" pitchFamily="34" charset="0"/>
                <a:ea typeface="Arial" pitchFamily="34" charset="-122"/>
                <a:cs typeface="Arial" pitchFamily="34" charset="-120"/>
              </a:rPr>
              <a:t>Tìm hiểu bài toán SER</a:t>
            </a:r>
            <a:endParaRPr lang="en-US" sz="1400" dirty="0"/>
          </a:p>
        </p:txBody>
      </p:sp>
      <p:sp>
        <p:nvSpPr>
          <p:cNvPr id="13" name="Shape 10"/>
          <p:cNvSpPr/>
          <p:nvPr/>
        </p:nvSpPr>
        <p:spPr>
          <a:xfrm>
            <a:off x="877824" y="3209544"/>
            <a:ext cx="73152" cy="73152"/>
          </a:xfrm>
          <a:prstGeom prst="ellipse">
            <a:avLst/>
          </a:prstGeom>
          <a:solidFill>
            <a:srgbClr val="1D4ED8"/>
          </a:solidFill>
          <a:ln w="12700">
            <a:solidFill>
              <a:srgbClr val="1D4ED8"/>
            </a:solidFill>
            <a:prstDash val="solid"/>
          </a:ln>
        </p:spPr>
      </p:sp>
      <p:sp>
        <p:nvSpPr>
          <p:cNvPr id="14" name="Text 11"/>
          <p:cNvSpPr txBox="1"/>
          <p:nvPr/>
        </p:nvSpPr>
        <p:spPr>
          <a:xfrm>
            <a:off x="1042416" y="3108960"/>
            <a:ext cx="4187952" cy="347472"/>
          </a:xfrm>
          <a:prstGeom prst="rect">
            <a:avLst/>
          </a:prstGeom>
          <a:noFill/>
          <a:ln/>
        </p:spPr>
        <p:txBody>
          <a:bodyPr wrap="square" lIns="0" tIns="0" rIns="0" bIns="0" rtlCol="0" anchor="t">
            <a:normAutofit/>
          </a:bodyPr>
          <a:lstStyle/>
          <a:p>
            <a:pPr marL="0" indent="0" algn="l">
              <a:buNone/>
            </a:pPr>
            <a:r>
              <a:rPr lang="en-US" sz="1400" dirty="0">
                <a:solidFill>
                  <a:srgbClr val="162033"/>
                </a:solidFill>
                <a:latin typeface="Arial" pitchFamily="34" charset="0"/>
                <a:ea typeface="Arial" pitchFamily="34" charset="-122"/>
                <a:cs typeface="Arial" pitchFamily="34" charset="-120"/>
              </a:rPr>
              <a:t>Benchmark model công khai</a:t>
            </a:r>
            <a:endParaRPr lang="en-US" sz="1400" dirty="0"/>
          </a:p>
        </p:txBody>
      </p:sp>
      <p:sp>
        <p:nvSpPr>
          <p:cNvPr id="15" name="Shape 12"/>
          <p:cNvSpPr/>
          <p:nvPr/>
        </p:nvSpPr>
        <p:spPr>
          <a:xfrm>
            <a:off x="877824" y="3739896"/>
            <a:ext cx="73152" cy="73152"/>
          </a:xfrm>
          <a:prstGeom prst="ellipse">
            <a:avLst/>
          </a:prstGeom>
          <a:solidFill>
            <a:srgbClr val="1D4ED8"/>
          </a:solidFill>
          <a:ln w="12700">
            <a:solidFill>
              <a:srgbClr val="1D4ED8"/>
            </a:solidFill>
            <a:prstDash val="solid"/>
          </a:ln>
        </p:spPr>
      </p:sp>
      <p:sp>
        <p:nvSpPr>
          <p:cNvPr id="16" name="Text 13"/>
          <p:cNvSpPr txBox="1"/>
          <p:nvPr/>
        </p:nvSpPr>
        <p:spPr>
          <a:xfrm>
            <a:off x="1042416" y="3639312"/>
            <a:ext cx="4187952" cy="347472"/>
          </a:xfrm>
          <a:prstGeom prst="rect">
            <a:avLst/>
          </a:prstGeom>
          <a:noFill/>
          <a:ln/>
        </p:spPr>
        <p:txBody>
          <a:bodyPr wrap="square" lIns="0" tIns="0" rIns="0" bIns="0" rtlCol="0" anchor="t">
            <a:normAutofit/>
          </a:bodyPr>
          <a:lstStyle/>
          <a:p>
            <a:pPr marL="0" indent="0" algn="l">
              <a:buNone/>
            </a:pPr>
            <a:r>
              <a:rPr lang="en-US" sz="1400" dirty="0">
                <a:solidFill>
                  <a:srgbClr val="162033"/>
                </a:solidFill>
                <a:latin typeface="Arial" pitchFamily="34" charset="0"/>
                <a:ea typeface="Arial" pitchFamily="34" charset="-122"/>
                <a:cs typeface="Arial" pitchFamily="34" charset="-120"/>
              </a:rPr>
              <a:t>Xây dựng Gradio app</a:t>
            </a:r>
            <a:endParaRPr lang="en-US" sz="1400" dirty="0"/>
          </a:p>
        </p:txBody>
      </p:sp>
      <p:sp>
        <p:nvSpPr>
          <p:cNvPr id="17" name="Shape 14"/>
          <p:cNvSpPr/>
          <p:nvPr/>
        </p:nvSpPr>
        <p:spPr>
          <a:xfrm>
            <a:off x="877824" y="4270248"/>
            <a:ext cx="73152" cy="73152"/>
          </a:xfrm>
          <a:prstGeom prst="ellipse">
            <a:avLst/>
          </a:prstGeom>
          <a:solidFill>
            <a:srgbClr val="1D4ED8"/>
          </a:solidFill>
          <a:ln w="12700">
            <a:solidFill>
              <a:srgbClr val="1D4ED8"/>
            </a:solidFill>
            <a:prstDash val="solid"/>
          </a:ln>
        </p:spPr>
      </p:sp>
      <p:sp>
        <p:nvSpPr>
          <p:cNvPr id="18" name="Text 15"/>
          <p:cNvSpPr txBox="1"/>
          <p:nvPr/>
        </p:nvSpPr>
        <p:spPr>
          <a:xfrm>
            <a:off x="1042416" y="4169664"/>
            <a:ext cx="4187952" cy="347472"/>
          </a:xfrm>
          <a:prstGeom prst="rect">
            <a:avLst/>
          </a:prstGeom>
          <a:noFill/>
          <a:ln/>
        </p:spPr>
        <p:txBody>
          <a:bodyPr wrap="square" lIns="0" tIns="0" rIns="0" bIns="0" rtlCol="0" anchor="t">
            <a:normAutofit/>
          </a:bodyPr>
          <a:lstStyle/>
          <a:p>
            <a:pPr marL="0" indent="0" algn="l">
              <a:buNone/>
            </a:pPr>
            <a:r>
              <a:rPr lang="en-US" sz="1400" dirty="0">
                <a:solidFill>
                  <a:srgbClr val="162033"/>
                </a:solidFill>
                <a:latin typeface="Arial" pitchFamily="34" charset="0"/>
                <a:ea typeface="Arial" pitchFamily="34" charset="-122"/>
                <a:cs typeface="Arial" pitchFamily="34" charset="-120"/>
              </a:rPr>
              <a:t>Deploy và chuẩn bị demo</a:t>
            </a:r>
            <a:endParaRPr lang="en-US" sz="1400" dirty="0"/>
          </a:p>
        </p:txBody>
      </p:sp>
      <p:sp>
        <p:nvSpPr>
          <p:cNvPr id="19" name="Shape 16"/>
          <p:cNvSpPr/>
          <p:nvPr/>
        </p:nvSpPr>
        <p:spPr>
          <a:xfrm>
            <a:off x="5870448" y="1700784"/>
            <a:ext cx="5769864" cy="3438144"/>
          </a:xfrm>
          <a:prstGeom prst="roundRect">
            <a:avLst>
              <a:gd name="adj" fmla="val 1330"/>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0" name="Shape 17"/>
          <p:cNvSpPr/>
          <p:nvPr/>
        </p:nvSpPr>
        <p:spPr>
          <a:xfrm>
            <a:off x="6163056" y="1956816"/>
            <a:ext cx="512064" cy="512064"/>
          </a:xfrm>
          <a:prstGeom prst="ellipse">
            <a:avLst/>
          </a:prstGeom>
          <a:solidFill>
            <a:srgbClr val="DCFCE7"/>
          </a:solidFill>
          <a:ln w="12700">
            <a:solidFill>
              <a:srgbClr val="DCFCE7"/>
            </a:solidFill>
            <a:prstDash val="solid"/>
          </a:ln>
        </p:spPr>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1072" y="2084832"/>
            <a:ext cx="256032" cy="256032"/>
          </a:xfrm>
          <a:prstGeom prst="rect">
            <a:avLst/>
          </a:prstGeom>
        </p:spPr>
      </p:pic>
      <p:sp>
        <p:nvSpPr>
          <p:cNvPr id="22" name="Text 18"/>
          <p:cNvSpPr txBox="1"/>
          <p:nvPr/>
        </p:nvSpPr>
        <p:spPr>
          <a:xfrm>
            <a:off x="6839712" y="1993392"/>
            <a:ext cx="2103120" cy="274320"/>
          </a:xfrm>
          <a:prstGeom prst="rect">
            <a:avLst/>
          </a:prstGeom>
          <a:noFill/>
          <a:ln/>
        </p:spPr>
        <p:txBody>
          <a:bodyPr wrap="square" lIns="0" tIns="0" rIns="0" bIns="0" rtlCol="0" anchor="ctr">
            <a:normAutofit/>
          </a:bodyPr>
          <a:lstStyle/>
          <a:p>
            <a:pPr marL="0" indent="0" algn="l">
              <a:buNone/>
            </a:pPr>
            <a:r>
              <a:rPr lang="en-US" sz="1200" b="1" dirty="0">
                <a:solidFill>
                  <a:srgbClr val="15803D"/>
                </a:solidFill>
                <a:latin typeface="Arial" pitchFamily="34" charset="0"/>
                <a:ea typeface="Arial" pitchFamily="34" charset="-122"/>
                <a:cs typeface="Arial" pitchFamily="34" charset="-120"/>
              </a:rPr>
              <a:t>PHẠM VI</a:t>
            </a:r>
            <a:endParaRPr lang="en-US" sz="1200" dirty="0"/>
          </a:p>
        </p:txBody>
      </p:sp>
      <p:sp>
        <p:nvSpPr>
          <p:cNvPr id="23" name="Text 19"/>
          <p:cNvSpPr txBox="1"/>
          <p:nvPr/>
        </p:nvSpPr>
        <p:spPr>
          <a:xfrm>
            <a:off x="6236208" y="2578608"/>
            <a:ext cx="1828800" cy="256032"/>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4 class ViSEC</a:t>
            </a:r>
            <a:endParaRPr lang="en-US" sz="1300" dirty="0"/>
          </a:p>
        </p:txBody>
      </p:sp>
      <p:sp>
        <p:nvSpPr>
          <p:cNvPr id="24" name="Text 20"/>
          <p:cNvSpPr txBox="1"/>
          <p:nvPr/>
        </p:nvSpPr>
        <p:spPr>
          <a:xfrm>
            <a:off x="8119872" y="2578608"/>
            <a:ext cx="3072384" cy="256032"/>
          </a:xfrm>
          <a:prstGeom prst="rect">
            <a:avLst/>
          </a:prstGeom>
          <a:noFill/>
          <a:ln/>
        </p:spPr>
        <p:txBody>
          <a:bodyPr wrap="square" lIns="0" tIns="0" rIns="0" bIns="0" rtlCol="0" anchor="ctr">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happy · neutral · sad · angry</a:t>
            </a:r>
            <a:endParaRPr lang="en-US" sz="1100" dirty="0"/>
          </a:p>
        </p:txBody>
      </p:sp>
      <p:sp>
        <p:nvSpPr>
          <p:cNvPr id="25" name="Text 21"/>
          <p:cNvSpPr txBox="1"/>
          <p:nvPr/>
        </p:nvSpPr>
        <p:spPr>
          <a:xfrm>
            <a:off x="6236208" y="3145536"/>
            <a:ext cx="1828800" cy="256032"/>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Không fine-tune</a:t>
            </a:r>
            <a:endParaRPr lang="en-US" sz="1300" dirty="0"/>
          </a:p>
        </p:txBody>
      </p:sp>
      <p:sp>
        <p:nvSpPr>
          <p:cNvPr id="26" name="Text 22"/>
          <p:cNvSpPr txBox="1"/>
          <p:nvPr/>
        </p:nvSpPr>
        <p:spPr>
          <a:xfrm>
            <a:off x="8119872" y="3145536"/>
            <a:ext cx="3072384" cy="256032"/>
          </a:xfrm>
          <a:prstGeom prst="rect">
            <a:avLst/>
          </a:prstGeom>
          <a:noFill/>
          <a:ln/>
        </p:spPr>
        <p:txBody>
          <a:bodyPr wrap="square" lIns="0" tIns="0" rIns="0" bIns="0" rtlCol="0" anchor="ctr">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dùng model công khai nguyên bản</a:t>
            </a:r>
            <a:endParaRPr lang="en-US" sz="1100" dirty="0"/>
          </a:p>
        </p:txBody>
      </p:sp>
      <p:sp>
        <p:nvSpPr>
          <p:cNvPr id="27" name="Text 23"/>
          <p:cNvSpPr txBox="1"/>
          <p:nvPr/>
        </p:nvSpPr>
        <p:spPr>
          <a:xfrm>
            <a:off x="6236208" y="3712464"/>
            <a:ext cx="1828800" cy="256032"/>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Không định danh</a:t>
            </a:r>
            <a:endParaRPr lang="en-US" sz="1300" dirty="0"/>
          </a:p>
        </p:txBody>
      </p:sp>
      <p:sp>
        <p:nvSpPr>
          <p:cNvPr id="28" name="Text 24"/>
          <p:cNvSpPr txBox="1"/>
          <p:nvPr/>
        </p:nvSpPr>
        <p:spPr>
          <a:xfrm>
            <a:off x="8119872" y="3712464"/>
            <a:ext cx="3072384" cy="256032"/>
          </a:xfrm>
          <a:prstGeom prst="rect">
            <a:avLst/>
          </a:prstGeom>
          <a:noFill/>
          <a:ln/>
        </p:spPr>
        <p:txBody>
          <a:bodyPr wrap="square" lIns="0" tIns="0" rIns="0" bIns="0" rtlCol="0" anchor="ctr">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không speaker identification</a:t>
            </a:r>
            <a:endParaRPr lang="en-US" sz="1100" dirty="0"/>
          </a:p>
        </p:txBody>
      </p:sp>
      <p:sp>
        <p:nvSpPr>
          <p:cNvPr id="29" name="Text 25"/>
          <p:cNvSpPr txBox="1"/>
          <p:nvPr/>
        </p:nvSpPr>
        <p:spPr>
          <a:xfrm>
            <a:off x="6236208" y="4279392"/>
            <a:ext cx="1828800" cy="256032"/>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Baseline demo</a:t>
            </a:r>
            <a:endParaRPr lang="en-US" sz="1300" dirty="0"/>
          </a:p>
        </p:txBody>
      </p:sp>
      <p:sp>
        <p:nvSpPr>
          <p:cNvPr id="30" name="Text 26"/>
          <p:cNvSpPr txBox="1"/>
          <p:nvPr/>
        </p:nvSpPr>
        <p:spPr>
          <a:xfrm>
            <a:off x="8119872" y="4279392"/>
            <a:ext cx="3072384" cy="256032"/>
          </a:xfrm>
          <a:prstGeom prst="rect">
            <a:avLst/>
          </a:prstGeom>
          <a:noFill/>
          <a:ln/>
        </p:spPr>
        <p:txBody>
          <a:bodyPr wrap="square" lIns="0" tIns="0" rIns="0" bIns="0" rtlCol="0" anchor="ctr">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không phải production-grade</a:t>
            </a:r>
            <a:endParaRPr lang="en-US" sz="1100" dirty="0"/>
          </a:p>
        </p:txBody>
      </p:sp>
      <p:sp>
        <p:nvSpPr>
          <p:cNvPr id="31" name="Text 27"/>
          <p:cNvSpPr txBox="1"/>
          <p:nvPr/>
        </p:nvSpPr>
        <p:spPr>
          <a:xfrm>
            <a:off x="566928" y="5468112"/>
            <a:ext cx="1097280" cy="237744"/>
          </a:xfrm>
          <a:prstGeom prst="rect">
            <a:avLst/>
          </a:prstGeom>
          <a:noFill/>
          <a:ln/>
        </p:spPr>
        <p:txBody>
          <a:bodyPr wrap="square" lIns="0" tIns="0" rIns="0" bIns="0" rtlCol="0" anchor="ctr">
            <a:normAutofit/>
          </a:bodyPr>
          <a:lstStyle/>
          <a:p>
            <a:pPr marL="0" indent="0" algn="l">
              <a:buNone/>
            </a:pPr>
            <a:r>
              <a:rPr lang="en-US" sz="1100" b="1" dirty="0">
                <a:solidFill>
                  <a:srgbClr val="334155"/>
                </a:solidFill>
                <a:latin typeface="Arial" pitchFamily="34" charset="0"/>
                <a:ea typeface="Arial" pitchFamily="34" charset="-122"/>
                <a:cs typeface="Arial" pitchFamily="34" charset="-120"/>
              </a:rPr>
              <a:t>Mốc dừng</a:t>
            </a:r>
            <a:endParaRPr lang="en-US" sz="1100" dirty="0"/>
          </a:p>
        </p:txBody>
      </p:sp>
      <p:sp>
        <p:nvSpPr>
          <p:cNvPr id="32" name="Shape 28"/>
          <p:cNvSpPr/>
          <p:nvPr/>
        </p:nvSpPr>
        <p:spPr>
          <a:xfrm>
            <a:off x="1700784" y="5532120"/>
            <a:ext cx="7717536" cy="182880"/>
          </a:xfrm>
          <a:prstGeom prst="roundRect">
            <a:avLst>
              <a:gd name="adj" fmla="val 15000"/>
            </a:avLst>
          </a:prstGeom>
          <a:solidFill>
            <a:srgbClr val="F1F5F9"/>
          </a:solidFill>
          <a:ln w="12700">
            <a:solidFill>
              <a:srgbClr val="F1F5F9"/>
            </a:solidFill>
            <a:prstDash val="solid"/>
          </a:ln>
        </p:spPr>
      </p:sp>
      <p:sp>
        <p:nvSpPr>
          <p:cNvPr id="33" name="Shape 29"/>
          <p:cNvSpPr/>
          <p:nvPr/>
        </p:nvSpPr>
        <p:spPr>
          <a:xfrm>
            <a:off x="1700784" y="5532120"/>
            <a:ext cx="4778936" cy="182880"/>
          </a:xfrm>
          <a:prstGeom prst="roundRect">
            <a:avLst>
              <a:gd name="adj" fmla="val 15000"/>
            </a:avLst>
          </a:prstGeom>
          <a:solidFill>
            <a:srgbClr val="1D4ED8"/>
          </a:solidFill>
          <a:ln w="12700">
            <a:solidFill>
              <a:srgbClr val="1D4ED8"/>
            </a:solidFill>
            <a:prstDash val="solid"/>
          </a:ln>
        </p:spPr>
      </p:sp>
      <p:sp>
        <p:nvSpPr>
          <p:cNvPr id="34" name="Shape 30"/>
          <p:cNvSpPr/>
          <p:nvPr/>
        </p:nvSpPr>
        <p:spPr>
          <a:xfrm>
            <a:off x="9418320" y="5367528"/>
            <a:ext cx="0" cy="493776"/>
          </a:xfrm>
          <a:prstGeom prst="line">
            <a:avLst/>
          </a:prstGeom>
          <a:noFill/>
          <a:ln w="25400">
            <a:solidFill>
              <a:srgbClr val="B91C1C"/>
            </a:solidFill>
            <a:prstDash val="solid"/>
          </a:ln>
        </p:spPr>
      </p:sp>
      <p:sp>
        <p:nvSpPr>
          <p:cNvPr id="35" name="Text 31"/>
          <p:cNvSpPr txBox="1"/>
          <p:nvPr/>
        </p:nvSpPr>
        <p:spPr>
          <a:xfrm>
            <a:off x="1700784" y="5788152"/>
            <a:ext cx="182880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40,25% hiện tại</a:t>
            </a:r>
            <a:endParaRPr lang="en-US" sz="1050" dirty="0"/>
          </a:p>
        </p:txBody>
      </p:sp>
      <p:sp>
        <p:nvSpPr>
          <p:cNvPr id="36" name="Text 32"/>
          <p:cNvSpPr txBox="1"/>
          <p:nvPr/>
        </p:nvSpPr>
        <p:spPr>
          <a:xfrm>
            <a:off x="8558784" y="5788152"/>
            <a:ext cx="1325880" cy="219456"/>
          </a:xfrm>
          <a:prstGeom prst="rect">
            <a:avLst/>
          </a:prstGeom>
          <a:noFill/>
          <a:ln/>
        </p:spPr>
        <p:txBody>
          <a:bodyPr wrap="square" lIns="0" tIns="0" rIns="0" bIns="0" rtlCol="0" anchor="ctr">
            <a:normAutofit/>
          </a:bodyPr>
          <a:lstStyle/>
          <a:p>
            <a:pPr marL="0" indent="0" algn="r">
              <a:buNone/>
            </a:pPr>
            <a:r>
              <a:rPr lang="en-US" sz="1050" b="1" dirty="0">
                <a:solidFill>
                  <a:srgbClr val="B91C1C"/>
                </a:solidFill>
                <a:latin typeface="Arial" pitchFamily="34" charset="0"/>
                <a:ea typeface="Arial" pitchFamily="34" charset="-122"/>
                <a:cs typeface="Arial" pitchFamily="34" charset="-120"/>
              </a:rPr>
              <a:t>65% mục tiêu</a:t>
            </a:r>
            <a:endParaRPr lang="en-US" sz="1050" dirty="0"/>
          </a:p>
        </p:txBody>
      </p:sp>
      <p:sp>
        <p:nvSpPr>
          <p:cNvPr id="37" name="Shape 33"/>
          <p:cNvSpPr/>
          <p:nvPr/>
        </p:nvSpPr>
        <p:spPr>
          <a:xfrm>
            <a:off x="9710928" y="5385816"/>
            <a:ext cx="1929384" cy="438912"/>
          </a:xfrm>
          <a:prstGeom prst="roundRect">
            <a:avLst>
              <a:gd name="adj" fmla="val 8333"/>
            </a:avLst>
          </a:prstGeom>
          <a:solidFill>
            <a:srgbClr val="FEE2E2"/>
          </a:solidFill>
          <a:ln w="12700">
            <a:solidFill>
              <a:srgbClr val="FEE2E2"/>
            </a:solidFill>
            <a:prstDash val="solid"/>
          </a:ln>
        </p:spPr>
      </p:sp>
      <p:sp>
        <p:nvSpPr>
          <p:cNvPr id="38" name="Text 34"/>
          <p:cNvSpPr txBox="1"/>
          <p:nvPr/>
        </p:nvSpPr>
        <p:spPr>
          <a:xfrm>
            <a:off x="9784080" y="5385816"/>
            <a:ext cx="1783080" cy="438912"/>
          </a:xfrm>
          <a:prstGeom prst="rect">
            <a:avLst/>
          </a:prstGeom>
          <a:noFill/>
          <a:ln/>
        </p:spPr>
        <p:txBody>
          <a:bodyPr wrap="square" lIns="0" tIns="0" rIns="0" bIns="0" rtlCol="0" anchor="ctr">
            <a:normAutofit/>
          </a:bodyPr>
          <a:lstStyle/>
          <a:p>
            <a:pPr marL="0" indent="0" algn="ctr">
              <a:buNone/>
            </a:pPr>
            <a:r>
              <a:rPr lang="en-US" sz="920" b="1" dirty="0">
                <a:solidFill>
                  <a:srgbClr val="B91C1C"/>
                </a:solidFill>
                <a:latin typeface="Arial" pitchFamily="34" charset="0"/>
                <a:ea typeface="Arial" pitchFamily="34" charset="-122"/>
                <a:cs typeface="Arial" pitchFamily="34" charset="-120"/>
              </a:rPr>
              <a:t>CHƯA ĐẠT  •  thiếu 24,75 điểm %</a:t>
            </a:r>
            <a:endParaRPr lang="en-US" sz="920" dirty="0"/>
          </a:p>
        </p:txBody>
      </p:sp>
      <p:sp>
        <p:nvSpPr>
          <p:cNvPr id="39" name="Shape 35"/>
          <p:cNvSpPr/>
          <p:nvPr/>
        </p:nvSpPr>
        <p:spPr>
          <a:xfrm>
            <a:off x="530352" y="6382512"/>
            <a:ext cx="11128248" cy="0"/>
          </a:xfrm>
          <a:prstGeom prst="line">
            <a:avLst/>
          </a:prstGeom>
          <a:noFill/>
          <a:ln w="10160">
            <a:solidFill>
              <a:srgbClr val="E2E8F0"/>
            </a:solidFill>
            <a:prstDash val="solid"/>
          </a:ln>
        </p:spPr>
      </p:sp>
      <p:sp>
        <p:nvSpPr>
          <p:cNvPr id="40" name="Text 36"/>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docs/PRESENTATION.md • bench/results/scores.json • stop criterion do đề bài quy định.</a:t>
            </a:r>
            <a:endParaRPr lang="en-US" sz="850" dirty="0"/>
          </a:p>
        </p:txBody>
      </p:sp>
      <p:sp>
        <p:nvSpPr>
          <p:cNvPr id="41"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04  /  NỀN TẢNG</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SER biến tín hiệu thành nhãn cảm xúc</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Pipeline cơ bản: chuẩn hóa audio, trích đặc trưng, suy luận và softmax.</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901952"/>
            <a:ext cx="1719072" cy="1682496"/>
          </a:xfrm>
          <a:prstGeom prst="roundRect">
            <a:avLst>
              <a:gd name="adj" fmla="val 2717"/>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749808" y="2103120"/>
            <a:ext cx="493776" cy="493776"/>
          </a:xfrm>
          <a:prstGeom prst="ellipse">
            <a:avLst/>
          </a:prstGeom>
          <a:solidFill>
            <a:srgbClr val="DBEAFE"/>
          </a:solidFill>
          <a:ln w="12700">
            <a:solidFill>
              <a:srgbClr val="DBEAFE"/>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52" y="2226564"/>
            <a:ext cx="246888" cy="246888"/>
          </a:xfrm>
          <a:prstGeom prst="rect">
            <a:avLst/>
          </a:prstGeom>
        </p:spPr>
      </p:pic>
      <p:sp>
        <p:nvSpPr>
          <p:cNvPr id="10" name="Text 7"/>
          <p:cNvSpPr txBox="1"/>
          <p:nvPr/>
        </p:nvSpPr>
        <p:spPr>
          <a:xfrm>
            <a:off x="749808" y="2688336"/>
            <a:ext cx="1353312"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Audio</a:t>
            </a:r>
            <a:endParaRPr lang="en-US" sz="1350" dirty="0"/>
          </a:p>
        </p:txBody>
      </p:sp>
      <p:sp>
        <p:nvSpPr>
          <p:cNvPr id="11" name="Text 8"/>
          <p:cNvSpPr txBox="1"/>
          <p:nvPr/>
        </p:nvSpPr>
        <p:spPr>
          <a:xfrm>
            <a:off x="731520" y="3017520"/>
            <a:ext cx="1389888" cy="457200"/>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wav / mp3</a:t>
            </a:r>
            <a:endParaRPr lang="en-US" sz="950" dirty="0"/>
          </a:p>
        </p:txBody>
      </p:sp>
      <p:sp>
        <p:nvSpPr>
          <p:cNvPr id="12" name="Shape 9"/>
          <p:cNvSpPr/>
          <p:nvPr/>
        </p:nvSpPr>
        <p:spPr>
          <a:xfrm>
            <a:off x="2331720" y="2743200"/>
            <a:ext cx="438912" cy="0"/>
          </a:xfrm>
          <a:prstGeom prst="line">
            <a:avLst/>
          </a:prstGeom>
          <a:noFill/>
          <a:ln w="22860">
            <a:solidFill>
              <a:srgbClr val="1D4ED8"/>
            </a:solidFill>
            <a:prstDash val="solid"/>
            <a:tailEnd type="triangle"/>
          </a:ln>
        </p:spPr>
      </p:sp>
      <p:sp>
        <p:nvSpPr>
          <p:cNvPr id="13" name="Shape 10"/>
          <p:cNvSpPr/>
          <p:nvPr/>
        </p:nvSpPr>
        <p:spPr>
          <a:xfrm>
            <a:off x="2852928" y="1901952"/>
            <a:ext cx="1719072" cy="1682496"/>
          </a:xfrm>
          <a:prstGeom prst="roundRect">
            <a:avLst>
              <a:gd name="adj" fmla="val 2717"/>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4" name="Shape 11"/>
          <p:cNvSpPr/>
          <p:nvPr/>
        </p:nvSpPr>
        <p:spPr>
          <a:xfrm>
            <a:off x="3035808" y="2103120"/>
            <a:ext cx="493776" cy="493776"/>
          </a:xfrm>
          <a:prstGeom prst="ellipse">
            <a:avLst/>
          </a:prstGeom>
          <a:solidFill>
            <a:srgbClr val="DBEAFE"/>
          </a:solidFill>
          <a:ln w="12700">
            <a:solidFill>
              <a:srgbClr val="DBEAFE"/>
            </a:solidFill>
            <a:prstDash val="solid"/>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59252" y="2226564"/>
            <a:ext cx="246888" cy="246888"/>
          </a:xfrm>
          <a:prstGeom prst="rect">
            <a:avLst/>
          </a:prstGeom>
        </p:spPr>
      </p:pic>
      <p:sp>
        <p:nvSpPr>
          <p:cNvPr id="16" name="Text 12"/>
          <p:cNvSpPr txBox="1"/>
          <p:nvPr/>
        </p:nvSpPr>
        <p:spPr>
          <a:xfrm>
            <a:off x="3035808" y="2688336"/>
            <a:ext cx="1353312"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16 kHz mono</a:t>
            </a:r>
            <a:endParaRPr lang="en-US" sz="1350" dirty="0"/>
          </a:p>
        </p:txBody>
      </p:sp>
      <p:sp>
        <p:nvSpPr>
          <p:cNvPr id="17" name="Text 13"/>
          <p:cNvSpPr txBox="1"/>
          <p:nvPr/>
        </p:nvSpPr>
        <p:spPr>
          <a:xfrm>
            <a:off x="3017520" y="3017520"/>
            <a:ext cx="1389888" cy="457200"/>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resample</a:t>
            </a:r>
            <a:endParaRPr lang="en-US" sz="950" dirty="0"/>
          </a:p>
        </p:txBody>
      </p:sp>
      <p:sp>
        <p:nvSpPr>
          <p:cNvPr id="18" name="Shape 14"/>
          <p:cNvSpPr/>
          <p:nvPr/>
        </p:nvSpPr>
        <p:spPr>
          <a:xfrm>
            <a:off x="4617720" y="2743200"/>
            <a:ext cx="438912" cy="0"/>
          </a:xfrm>
          <a:prstGeom prst="line">
            <a:avLst/>
          </a:prstGeom>
          <a:noFill/>
          <a:ln w="22860">
            <a:solidFill>
              <a:srgbClr val="1D4ED8"/>
            </a:solidFill>
            <a:prstDash val="solid"/>
            <a:tailEnd type="triangle"/>
          </a:ln>
        </p:spPr>
      </p:sp>
      <p:sp>
        <p:nvSpPr>
          <p:cNvPr id="19" name="Shape 15"/>
          <p:cNvSpPr/>
          <p:nvPr/>
        </p:nvSpPr>
        <p:spPr>
          <a:xfrm>
            <a:off x="5138928" y="1901952"/>
            <a:ext cx="1719072" cy="1682496"/>
          </a:xfrm>
          <a:prstGeom prst="roundRect">
            <a:avLst>
              <a:gd name="adj" fmla="val 2717"/>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0" name="Shape 16"/>
          <p:cNvSpPr/>
          <p:nvPr/>
        </p:nvSpPr>
        <p:spPr>
          <a:xfrm>
            <a:off x="5321808" y="2103120"/>
            <a:ext cx="493776" cy="493776"/>
          </a:xfrm>
          <a:prstGeom prst="ellipse">
            <a:avLst/>
          </a:prstGeom>
          <a:solidFill>
            <a:srgbClr val="DBEAFE"/>
          </a:solidFill>
          <a:ln w="12700">
            <a:solidFill>
              <a:srgbClr val="DBEAFE"/>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45252" y="2226564"/>
            <a:ext cx="246888" cy="246888"/>
          </a:xfrm>
          <a:prstGeom prst="rect">
            <a:avLst/>
          </a:prstGeom>
        </p:spPr>
      </p:pic>
      <p:sp>
        <p:nvSpPr>
          <p:cNvPr id="22" name="Text 17"/>
          <p:cNvSpPr txBox="1"/>
          <p:nvPr/>
        </p:nvSpPr>
        <p:spPr>
          <a:xfrm>
            <a:off x="5321808" y="2688336"/>
            <a:ext cx="1353312"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SER model</a:t>
            </a:r>
            <a:endParaRPr lang="en-US" sz="1350" dirty="0"/>
          </a:p>
        </p:txBody>
      </p:sp>
      <p:sp>
        <p:nvSpPr>
          <p:cNvPr id="23" name="Text 18"/>
          <p:cNvSpPr txBox="1"/>
          <p:nvPr/>
        </p:nvSpPr>
        <p:spPr>
          <a:xfrm>
            <a:off x="5303520" y="3017520"/>
            <a:ext cx="1389888" cy="457200"/>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encoder + head</a:t>
            </a:r>
            <a:endParaRPr lang="en-US" sz="950" dirty="0"/>
          </a:p>
        </p:txBody>
      </p:sp>
      <p:sp>
        <p:nvSpPr>
          <p:cNvPr id="24" name="Shape 19"/>
          <p:cNvSpPr/>
          <p:nvPr/>
        </p:nvSpPr>
        <p:spPr>
          <a:xfrm>
            <a:off x="6903720" y="2743200"/>
            <a:ext cx="438912" cy="0"/>
          </a:xfrm>
          <a:prstGeom prst="line">
            <a:avLst/>
          </a:prstGeom>
          <a:noFill/>
          <a:ln w="22860">
            <a:solidFill>
              <a:srgbClr val="1D4ED8"/>
            </a:solidFill>
            <a:prstDash val="solid"/>
            <a:tailEnd type="triangle"/>
          </a:ln>
        </p:spPr>
      </p:sp>
      <p:sp>
        <p:nvSpPr>
          <p:cNvPr id="25" name="Shape 20"/>
          <p:cNvSpPr/>
          <p:nvPr/>
        </p:nvSpPr>
        <p:spPr>
          <a:xfrm>
            <a:off x="7424928" y="1901952"/>
            <a:ext cx="1719072" cy="1682496"/>
          </a:xfrm>
          <a:prstGeom prst="roundRect">
            <a:avLst>
              <a:gd name="adj" fmla="val 2717"/>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6" name="Shape 21"/>
          <p:cNvSpPr/>
          <p:nvPr/>
        </p:nvSpPr>
        <p:spPr>
          <a:xfrm>
            <a:off x="7607808" y="2103120"/>
            <a:ext cx="493776" cy="493776"/>
          </a:xfrm>
          <a:prstGeom prst="ellipse">
            <a:avLst/>
          </a:prstGeom>
          <a:solidFill>
            <a:srgbClr val="DBEAFE"/>
          </a:solidFill>
          <a:ln w="12700">
            <a:solidFill>
              <a:srgbClr val="DBEAFE"/>
            </a:solidFill>
            <a:prstDash val="solid"/>
          </a:ln>
        </p:spPr>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31252" y="2226564"/>
            <a:ext cx="246888" cy="246888"/>
          </a:xfrm>
          <a:prstGeom prst="rect">
            <a:avLst/>
          </a:prstGeom>
        </p:spPr>
      </p:pic>
      <p:sp>
        <p:nvSpPr>
          <p:cNvPr id="28" name="Text 22"/>
          <p:cNvSpPr txBox="1"/>
          <p:nvPr/>
        </p:nvSpPr>
        <p:spPr>
          <a:xfrm>
            <a:off x="7607808" y="2688336"/>
            <a:ext cx="1353312"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Softmax</a:t>
            </a:r>
            <a:endParaRPr lang="en-US" sz="1350" dirty="0"/>
          </a:p>
        </p:txBody>
      </p:sp>
      <p:sp>
        <p:nvSpPr>
          <p:cNvPr id="29" name="Text 23"/>
          <p:cNvSpPr txBox="1"/>
          <p:nvPr/>
        </p:nvSpPr>
        <p:spPr>
          <a:xfrm>
            <a:off x="7589520" y="3017520"/>
            <a:ext cx="1389888" cy="457200"/>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7 raw scores</a:t>
            </a:r>
            <a:endParaRPr lang="en-US" sz="950" dirty="0"/>
          </a:p>
        </p:txBody>
      </p:sp>
      <p:sp>
        <p:nvSpPr>
          <p:cNvPr id="30" name="Shape 24"/>
          <p:cNvSpPr/>
          <p:nvPr/>
        </p:nvSpPr>
        <p:spPr>
          <a:xfrm>
            <a:off x="9189720" y="2743200"/>
            <a:ext cx="438912" cy="0"/>
          </a:xfrm>
          <a:prstGeom prst="line">
            <a:avLst/>
          </a:prstGeom>
          <a:noFill/>
          <a:ln w="22860">
            <a:solidFill>
              <a:srgbClr val="1D4ED8"/>
            </a:solidFill>
            <a:prstDash val="solid"/>
            <a:tailEnd type="triangle"/>
          </a:ln>
        </p:spPr>
      </p:sp>
      <p:sp>
        <p:nvSpPr>
          <p:cNvPr id="31" name="Shape 25"/>
          <p:cNvSpPr/>
          <p:nvPr/>
        </p:nvSpPr>
        <p:spPr>
          <a:xfrm>
            <a:off x="9710928" y="1901952"/>
            <a:ext cx="1719072" cy="1682496"/>
          </a:xfrm>
          <a:prstGeom prst="roundRect">
            <a:avLst>
              <a:gd name="adj" fmla="val 2717"/>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32" name="Shape 26"/>
          <p:cNvSpPr/>
          <p:nvPr/>
        </p:nvSpPr>
        <p:spPr>
          <a:xfrm>
            <a:off x="9893808" y="2103120"/>
            <a:ext cx="493776" cy="493776"/>
          </a:xfrm>
          <a:prstGeom prst="ellipse">
            <a:avLst/>
          </a:prstGeom>
          <a:solidFill>
            <a:srgbClr val="FEE2E2"/>
          </a:solidFill>
          <a:ln w="12700">
            <a:solidFill>
              <a:srgbClr val="FEE2E2"/>
            </a:solidFill>
            <a:prstDash val="solid"/>
          </a:ln>
        </p:spPr>
      </p:sp>
      <p:pic>
        <p:nvPicPr>
          <p:cNvPr id="3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17252" y="2226564"/>
            <a:ext cx="246888" cy="246888"/>
          </a:xfrm>
          <a:prstGeom prst="rect">
            <a:avLst/>
          </a:prstGeom>
        </p:spPr>
      </p:pic>
      <p:sp>
        <p:nvSpPr>
          <p:cNvPr id="34" name="Text 27"/>
          <p:cNvSpPr txBox="1"/>
          <p:nvPr/>
        </p:nvSpPr>
        <p:spPr>
          <a:xfrm>
            <a:off x="9893808" y="2688336"/>
            <a:ext cx="1353312"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Emotion</a:t>
            </a:r>
            <a:endParaRPr lang="en-US" sz="1350" dirty="0"/>
          </a:p>
        </p:txBody>
      </p:sp>
      <p:sp>
        <p:nvSpPr>
          <p:cNvPr id="35" name="Text 28"/>
          <p:cNvSpPr txBox="1"/>
          <p:nvPr/>
        </p:nvSpPr>
        <p:spPr>
          <a:xfrm>
            <a:off x="9875520" y="3017520"/>
            <a:ext cx="1389888" cy="457200"/>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top-1 label</a:t>
            </a:r>
            <a:endParaRPr lang="en-US" sz="950" dirty="0"/>
          </a:p>
        </p:txBody>
      </p:sp>
      <p:sp>
        <p:nvSpPr>
          <p:cNvPr id="36" name="Text 29"/>
          <p:cNvSpPr txBox="1"/>
          <p:nvPr/>
        </p:nvSpPr>
        <p:spPr>
          <a:xfrm>
            <a:off x="566928" y="4069080"/>
            <a:ext cx="4754880" cy="310896"/>
          </a:xfrm>
          <a:prstGeom prst="rect">
            <a:avLst/>
          </a:prstGeom>
          <a:noFill/>
          <a:ln/>
        </p:spPr>
        <p:txBody>
          <a:bodyPr wrap="square" lIns="0" tIns="0" rIns="0" bIns="0" rtlCol="0" anchor="ctr">
            <a:normAutofit/>
          </a:bodyPr>
          <a:lstStyle/>
          <a:p>
            <a:pPr marL="0" indent="0" algn="l">
              <a:buNone/>
            </a:pPr>
            <a:r>
              <a:rPr lang="en-US" sz="1400" b="1" dirty="0">
                <a:solidFill>
                  <a:srgbClr val="0F172A"/>
                </a:solidFill>
                <a:latin typeface="Arial" pitchFamily="34" charset="0"/>
                <a:ea typeface="Arial" pitchFamily="34" charset="-122"/>
                <a:cs typeface="Arial" pitchFamily="34" charset="-120"/>
              </a:rPr>
              <a:t>Các tín hiệu âm học thường được khai thác</a:t>
            </a:r>
            <a:endParaRPr lang="en-US" sz="1400" dirty="0"/>
          </a:p>
        </p:txBody>
      </p:sp>
      <p:sp>
        <p:nvSpPr>
          <p:cNvPr id="37" name="Shape 30"/>
          <p:cNvSpPr/>
          <p:nvPr/>
        </p:nvSpPr>
        <p:spPr>
          <a:xfrm>
            <a:off x="566928" y="4553712"/>
            <a:ext cx="2505456" cy="1078992"/>
          </a:xfrm>
          <a:prstGeom prst="roundRect">
            <a:avLst>
              <a:gd name="adj" fmla="val 3390"/>
            </a:avLst>
          </a:prstGeom>
          <a:solidFill>
            <a:srgbClr val="FFFFFF"/>
          </a:solidFill>
          <a:ln w="12700">
            <a:solidFill>
              <a:srgbClr val="E2E8F0"/>
            </a:solidFill>
            <a:prstDash val="solid"/>
          </a:ln>
        </p:spPr>
      </p:sp>
      <p:sp>
        <p:nvSpPr>
          <p:cNvPr id="38" name="Shape 31"/>
          <p:cNvSpPr/>
          <p:nvPr/>
        </p:nvSpPr>
        <p:spPr>
          <a:xfrm>
            <a:off x="731520" y="4828032"/>
            <a:ext cx="402336" cy="402336"/>
          </a:xfrm>
          <a:prstGeom prst="ellipse">
            <a:avLst/>
          </a:prstGeom>
          <a:solidFill>
            <a:srgbClr val="DBEAFE"/>
          </a:solidFill>
          <a:ln w="12700">
            <a:solidFill>
              <a:srgbClr val="DBEAFE"/>
            </a:solidFill>
            <a:prstDash val="solid"/>
          </a:ln>
        </p:spPr>
      </p:sp>
      <p:pic>
        <p:nvPicPr>
          <p:cNvPr id="3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2104" y="4928616"/>
            <a:ext cx="201168" cy="201168"/>
          </a:xfrm>
          <a:prstGeom prst="rect">
            <a:avLst/>
          </a:prstGeom>
        </p:spPr>
      </p:pic>
      <p:sp>
        <p:nvSpPr>
          <p:cNvPr id="40" name="Text 32"/>
          <p:cNvSpPr txBox="1"/>
          <p:nvPr/>
        </p:nvSpPr>
        <p:spPr>
          <a:xfrm>
            <a:off x="1261872" y="4718304"/>
            <a:ext cx="1572768" cy="274320"/>
          </a:xfrm>
          <a:prstGeom prst="rect">
            <a:avLst/>
          </a:prstGeom>
          <a:noFill/>
          <a:ln/>
        </p:spPr>
        <p:txBody>
          <a:bodyPr wrap="square" lIns="0" tIns="0" rIns="0" bIns="0" rtlCol="0" anchor="ctr">
            <a:normAutofit/>
          </a:bodyPr>
          <a:lstStyle/>
          <a:p>
            <a:pPr marL="0" indent="0" algn="l">
              <a:buNone/>
            </a:pPr>
            <a:r>
              <a:rPr lang="en-US" sz="1250" b="1" dirty="0">
                <a:solidFill>
                  <a:srgbClr val="0F172A"/>
                </a:solidFill>
                <a:latin typeface="Arial" pitchFamily="34" charset="0"/>
                <a:ea typeface="Arial" pitchFamily="34" charset="-122"/>
                <a:cs typeface="Arial" pitchFamily="34" charset="-120"/>
              </a:rPr>
              <a:t>Pitch</a:t>
            </a:r>
            <a:endParaRPr lang="en-US" sz="1250" dirty="0"/>
          </a:p>
        </p:txBody>
      </p:sp>
      <p:sp>
        <p:nvSpPr>
          <p:cNvPr id="41" name="Text 33"/>
          <p:cNvSpPr txBox="1"/>
          <p:nvPr/>
        </p:nvSpPr>
        <p:spPr>
          <a:xfrm>
            <a:off x="1261872" y="5010912"/>
            <a:ext cx="1572768" cy="274320"/>
          </a:xfrm>
          <a:prstGeom prst="rect">
            <a:avLst/>
          </a:prstGeom>
          <a:noFill/>
          <a:ln/>
        </p:spPr>
        <p:txBody>
          <a:bodyPr wrap="square" lIns="0" tIns="0" rIns="0" bIns="0" rtlCol="0" anchor="ctr">
            <a:normAutofit/>
          </a:bodyPr>
          <a:lstStyle/>
          <a:p>
            <a:pPr marL="0" indent="0" algn="l">
              <a:buNone/>
            </a:pPr>
            <a:r>
              <a:rPr lang="en-US" sz="1000" dirty="0">
                <a:solidFill>
                  <a:srgbClr val="64748B"/>
                </a:solidFill>
                <a:latin typeface="Arial" pitchFamily="34" charset="0"/>
                <a:ea typeface="Arial" pitchFamily="34" charset="-122"/>
                <a:cs typeface="Arial" pitchFamily="34" charset="-120"/>
              </a:rPr>
              <a:t>cao độ</a:t>
            </a:r>
            <a:endParaRPr lang="en-US" sz="1000" dirty="0"/>
          </a:p>
        </p:txBody>
      </p:sp>
      <p:sp>
        <p:nvSpPr>
          <p:cNvPr id="42" name="Shape 34"/>
          <p:cNvSpPr/>
          <p:nvPr/>
        </p:nvSpPr>
        <p:spPr>
          <a:xfrm>
            <a:off x="3337560" y="4553712"/>
            <a:ext cx="2505456" cy="1078992"/>
          </a:xfrm>
          <a:prstGeom prst="roundRect">
            <a:avLst>
              <a:gd name="adj" fmla="val 3390"/>
            </a:avLst>
          </a:prstGeom>
          <a:solidFill>
            <a:srgbClr val="FFFFFF"/>
          </a:solidFill>
          <a:ln w="12700">
            <a:solidFill>
              <a:srgbClr val="E2E8F0"/>
            </a:solidFill>
            <a:prstDash val="solid"/>
          </a:ln>
        </p:spPr>
      </p:sp>
      <p:sp>
        <p:nvSpPr>
          <p:cNvPr id="43" name="Shape 35"/>
          <p:cNvSpPr/>
          <p:nvPr/>
        </p:nvSpPr>
        <p:spPr>
          <a:xfrm>
            <a:off x="3502152" y="4828032"/>
            <a:ext cx="402336" cy="402336"/>
          </a:xfrm>
          <a:prstGeom prst="ellipse">
            <a:avLst/>
          </a:prstGeom>
          <a:solidFill>
            <a:srgbClr val="FEE2E2"/>
          </a:solidFill>
          <a:ln w="12700">
            <a:solidFill>
              <a:srgbClr val="FEE2E2"/>
            </a:solidFill>
            <a:prstDash val="solid"/>
          </a:ln>
        </p:spPr>
      </p:sp>
      <p:pic>
        <p:nvPicPr>
          <p:cNvPr id="4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602736" y="4928616"/>
            <a:ext cx="201168" cy="201168"/>
          </a:xfrm>
          <a:prstGeom prst="rect">
            <a:avLst/>
          </a:prstGeom>
        </p:spPr>
      </p:pic>
      <p:sp>
        <p:nvSpPr>
          <p:cNvPr id="45" name="Text 36"/>
          <p:cNvSpPr txBox="1"/>
          <p:nvPr/>
        </p:nvSpPr>
        <p:spPr>
          <a:xfrm>
            <a:off x="4032504" y="4718304"/>
            <a:ext cx="1572768" cy="274320"/>
          </a:xfrm>
          <a:prstGeom prst="rect">
            <a:avLst/>
          </a:prstGeom>
          <a:noFill/>
          <a:ln/>
        </p:spPr>
        <p:txBody>
          <a:bodyPr wrap="square" lIns="0" tIns="0" rIns="0" bIns="0" rtlCol="0" anchor="ctr">
            <a:normAutofit/>
          </a:bodyPr>
          <a:lstStyle/>
          <a:p>
            <a:pPr marL="0" indent="0" algn="l">
              <a:buNone/>
            </a:pPr>
            <a:r>
              <a:rPr lang="en-US" sz="1250" b="1" dirty="0">
                <a:solidFill>
                  <a:srgbClr val="0F172A"/>
                </a:solidFill>
                <a:latin typeface="Arial" pitchFamily="34" charset="0"/>
                <a:ea typeface="Arial" pitchFamily="34" charset="-122"/>
                <a:cs typeface="Arial" pitchFamily="34" charset="-120"/>
              </a:rPr>
              <a:t>Energy</a:t>
            </a:r>
            <a:endParaRPr lang="en-US" sz="1250" dirty="0"/>
          </a:p>
        </p:txBody>
      </p:sp>
      <p:sp>
        <p:nvSpPr>
          <p:cNvPr id="46" name="Text 37"/>
          <p:cNvSpPr txBox="1"/>
          <p:nvPr/>
        </p:nvSpPr>
        <p:spPr>
          <a:xfrm>
            <a:off x="4032504" y="5010912"/>
            <a:ext cx="1572768" cy="274320"/>
          </a:xfrm>
          <a:prstGeom prst="rect">
            <a:avLst/>
          </a:prstGeom>
          <a:noFill/>
          <a:ln/>
        </p:spPr>
        <p:txBody>
          <a:bodyPr wrap="square" lIns="0" tIns="0" rIns="0" bIns="0" rtlCol="0" anchor="ctr">
            <a:normAutofit/>
          </a:bodyPr>
          <a:lstStyle/>
          <a:p>
            <a:pPr marL="0" indent="0" algn="l">
              <a:buNone/>
            </a:pPr>
            <a:r>
              <a:rPr lang="en-US" sz="1000" dirty="0">
                <a:solidFill>
                  <a:srgbClr val="64748B"/>
                </a:solidFill>
                <a:latin typeface="Arial" pitchFamily="34" charset="0"/>
                <a:ea typeface="Arial" pitchFamily="34" charset="-122"/>
                <a:cs typeface="Arial" pitchFamily="34" charset="-120"/>
              </a:rPr>
              <a:t>cường độ</a:t>
            </a:r>
            <a:endParaRPr lang="en-US" sz="1000" dirty="0"/>
          </a:p>
        </p:txBody>
      </p:sp>
      <p:sp>
        <p:nvSpPr>
          <p:cNvPr id="47" name="Shape 38"/>
          <p:cNvSpPr/>
          <p:nvPr/>
        </p:nvSpPr>
        <p:spPr>
          <a:xfrm>
            <a:off x="6108192" y="4553712"/>
            <a:ext cx="2505456" cy="1078992"/>
          </a:xfrm>
          <a:prstGeom prst="roundRect">
            <a:avLst>
              <a:gd name="adj" fmla="val 3390"/>
            </a:avLst>
          </a:prstGeom>
          <a:solidFill>
            <a:srgbClr val="FFFFFF"/>
          </a:solidFill>
          <a:ln w="12700">
            <a:solidFill>
              <a:srgbClr val="E2E8F0"/>
            </a:solidFill>
            <a:prstDash val="solid"/>
          </a:ln>
        </p:spPr>
      </p:sp>
      <p:sp>
        <p:nvSpPr>
          <p:cNvPr id="48" name="Shape 39"/>
          <p:cNvSpPr/>
          <p:nvPr/>
        </p:nvSpPr>
        <p:spPr>
          <a:xfrm>
            <a:off x="6272784" y="4828032"/>
            <a:ext cx="402336" cy="402336"/>
          </a:xfrm>
          <a:prstGeom prst="ellipse">
            <a:avLst/>
          </a:prstGeom>
          <a:solidFill>
            <a:srgbClr val="DCFCE7"/>
          </a:solidFill>
          <a:ln w="12700">
            <a:solidFill>
              <a:srgbClr val="DCFCE7"/>
            </a:solidFill>
            <a:prstDash val="solid"/>
          </a:ln>
        </p:spPr>
      </p:sp>
      <p:pic>
        <p:nvPicPr>
          <p:cNvPr id="4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73368" y="4928616"/>
            <a:ext cx="201168" cy="201168"/>
          </a:xfrm>
          <a:prstGeom prst="rect">
            <a:avLst/>
          </a:prstGeom>
        </p:spPr>
      </p:pic>
      <p:sp>
        <p:nvSpPr>
          <p:cNvPr id="50" name="Text 40"/>
          <p:cNvSpPr txBox="1"/>
          <p:nvPr/>
        </p:nvSpPr>
        <p:spPr>
          <a:xfrm>
            <a:off x="6803136" y="4718304"/>
            <a:ext cx="1572768" cy="274320"/>
          </a:xfrm>
          <a:prstGeom prst="rect">
            <a:avLst/>
          </a:prstGeom>
          <a:noFill/>
          <a:ln/>
        </p:spPr>
        <p:txBody>
          <a:bodyPr wrap="square" lIns="0" tIns="0" rIns="0" bIns="0" rtlCol="0" anchor="ctr">
            <a:normAutofit/>
          </a:bodyPr>
          <a:lstStyle/>
          <a:p>
            <a:pPr marL="0" indent="0" algn="l">
              <a:buNone/>
            </a:pPr>
            <a:r>
              <a:rPr lang="en-US" sz="1250" b="1" dirty="0">
                <a:solidFill>
                  <a:srgbClr val="0F172A"/>
                </a:solidFill>
                <a:latin typeface="Arial" pitchFamily="34" charset="0"/>
                <a:ea typeface="Arial" pitchFamily="34" charset="-122"/>
                <a:cs typeface="Arial" pitchFamily="34" charset="-120"/>
              </a:rPr>
              <a:t>Speaking rate</a:t>
            </a:r>
            <a:endParaRPr lang="en-US" sz="1250" dirty="0"/>
          </a:p>
        </p:txBody>
      </p:sp>
      <p:sp>
        <p:nvSpPr>
          <p:cNvPr id="51" name="Text 41"/>
          <p:cNvSpPr txBox="1"/>
          <p:nvPr/>
        </p:nvSpPr>
        <p:spPr>
          <a:xfrm>
            <a:off x="6803136" y="5010912"/>
            <a:ext cx="1572768" cy="274320"/>
          </a:xfrm>
          <a:prstGeom prst="rect">
            <a:avLst/>
          </a:prstGeom>
          <a:noFill/>
          <a:ln/>
        </p:spPr>
        <p:txBody>
          <a:bodyPr wrap="square" lIns="0" tIns="0" rIns="0" bIns="0" rtlCol="0" anchor="ctr">
            <a:normAutofit/>
          </a:bodyPr>
          <a:lstStyle/>
          <a:p>
            <a:pPr marL="0" indent="0" algn="l">
              <a:buNone/>
            </a:pPr>
            <a:r>
              <a:rPr lang="en-US" sz="1000" dirty="0">
                <a:solidFill>
                  <a:srgbClr val="64748B"/>
                </a:solidFill>
                <a:latin typeface="Arial" pitchFamily="34" charset="0"/>
                <a:ea typeface="Arial" pitchFamily="34" charset="-122"/>
                <a:cs typeface="Arial" pitchFamily="34" charset="-120"/>
              </a:rPr>
              <a:t>nhịp nói</a:t>
            </a:r>
            <a:endParaRPr lang="en-US" sz="1000" dirty="0"/>
          </a:p>
        </p:txBody>
      </p:sp>
      <p:sp>
        <p:nvSpPr>
          <p:cNvPr id="52" name="Shape 42"/>
          <p:cNvSpPr/>
          <p:nvPr/>
        </p:nvSpPr>
        <p:spPr>
          <a:xfrm>
            <a:off x="8878824" y="4553712"/>
            <a:ext cx="2505456" cy="1078992"/>
          </a:xfrm>
          <a:prstGeom prst="roundRect">
            <a:avLst>
              <a:gd name="adj" fmla="val 3390"/>
            </a:avLst>
          </a:prstGeom>
          <a:solidFill>
            <a:srgbClr val="FFFFFF"/>
          </a:solidFill>
          <a:ln w="12700">
            <a:solidFill>
              <a:srgbClr val="E2E8F0"/>
            </a:solidFill>
            <a:prstDash val="solid"/>
          </a:ln>
        </p:spPr>
      </p:sp>
      <p:sp>
        <p:nvSpPr>
          <p:cNvPr id="53" name="Shape 43"/>
          <p:cNvSpPr/>
          <p:nvPr/>
        </p:nvSpPr>
        <p:spPr>
          <a:xfrm>
            <a:off x="9043416" y="4828032"/>
            <a:ext cx="402336" cy="402336"/>
          </a:xfrm>
          <a:prstGeom prst="ellipse">
            <a:avLst/>
          </a:prstGeom>
          <a:solidFill>
            <a:srgbClr val="FEF3C7"/>
          </a:solidFill>
          <a:ln w="12700">
            <a:solidFill>
              <a:srgbClr val="FEF3C7"/>
            </a:solidFill>
            <a:prstDash val="solid"/>
          </a:ln>
        </p:spPr>
      </p:sp>
      <p:pic>
        <p:nvPicPr>
          <p:cNvPr id="54"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144000" y="4928616"/>
            <a:ext cx="201168" cy="201168"/>
          </a:xfrm>
          <a:prstGeom prst="rect">
            <a:avLst/>
          </a:prstGeom>
        </p:spPr>
      </p:pic>
      <p:sp>
        <p:nvSpPr>
          <p:cNvPr id="55" name="Text 44"/>
          <p:cNvSpPr txBox="1"/>
          <p:nvPr/>
        </p:nvSpPr>
        <p:spPr>
          <a:xfrm>
            <a:off x="9573768" y="4718304"/>
            <a:ext cx="1572768" cy="274320"/>
          </a:xfrm>
          <a:prstGeom prst="rect">
            <a:avLst/>
          </a:prstGeom>
          <a:noFill/>
          <a:ln/>
        </p:spPr>
        <p:txBody>
          <a:bodyPr wrap="square" lIns="0" tIns="0" rIns="0" bIns="0" rtlCol="0" anchor="ctr">
            <a:normAutofit/>
          </a:bodyPr>
          <a:lstStyle/>
          <a:p>
            <a:pPr marL="0" indent="0" algn="l">
              <a:buNone/>
            </a:pPr>
            <a:r>
              <a:rPr lang="en-US" sz="1250" b="1" dirty="0">
                <a:solidFill>
                  <a:srgbClr val="0F172A"/>
                </a:solidFill>
                <a:latin typeface="Arial" pitchFamily="34" charset="0"/>
                <a:ea typeface="Arial" pitchFamily="34" charset="-122"/>
                <a:cs typeface="Arial" pitchFamily="34" charset="-120"/>
              </a:rPr>
              <a:t>Spectrogram</a:t>
            </a:r>
            <a:endParaRPr lang="en-US" sz="1250" dirty="0"/>
          </a:p>
        </p:txBody>
      </p:sp>
      <p:sp>
        <p:nvSpPr>
          <p:cNvPr id="56" name="Text 45"/>
          <p:cNvSpPr txBox="1"/>
          <p:nvPr/>
        </p:nvSpPr>
        <p:spPr>
          <a:xfrm>
            <a:off x="9573768" y="5010912"/>
            <a:ext cx="1572768" cy="274320"/>
          </a:xfrm>
          <a:prstGeom prst="rect">
            <a:avLst/>
          </a:prstGeom>
          <a:noFill/>
          <a:ln/>
        </p:spPr>
        <p:txBody>
          <a:bodyPr wrap="square" lIns="0" tIns="0" rIns="0" bIns="0" rtlCol="0" anchor="ctr">
            <a:normAutofit/>
          </a:bodyPr>
          <a:lstStyle/>
          <a:p>
            <a:pPr marL="0" indent="0" algn="l">
              <a:buNone/>
            </a:pPr>
            <a:r>
              <a:rPr lang="en-US" sz="1000" dirty="0">
                <a:solidFill>
                  <a:srgbClr val="64748B"/>
                </a:solidFill>
                <a:latin typeface="Arial" pitchFamily="34" charset="0"/>
                <a:ea typeface="Arial" pitchFamily="34" charset="-122"/>
                <a:cs typeface="Arial" pitchFamily="34" charset="-120"/>
              </a:rPr>
              <a:t>phổ thời gian–tần số</a:t>
            </a:r>
            <a:endParaRPr lang="en-US" sz="1000" dirty="0"/>
          </a:p>
        </p:txBody>
      </p:sp>
      <p:sp>
        <p:nvSpPr>
          <p:cNvPr id="57" name="Shape 46"/>
          <p:cNvSpPr/>
          <p:nvPr/>
        </p:nvSpPr>
        <p:spPr>
          <a:xfrm>
            <a:off x="530352" y="6382512"/>
            <a:ext cx="11128248" cy="0"/>
          </a:xfrm>
          <a:prstGeom prst="line">
            <a:avLst/>
          </a:prstGeom>
          <a:noFill/>
          <a:ln w="10160">
            <a:solidFill>
              <a:srgbClr val="E2E8F0"/>
            </a:solidFill>
            <a:prstDash val="solid"/>
          </a:ln>
        </p:spPr>
      </p:sp>
      <p:sp>
        <p:nvSpPr>
          <p:cNvPr id="58" name="Text 47"/>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docs/ARCHITECTURE.md (pipeline inference) • src/audio.py (16 kHz mono).</a:t>
            </a:r>
            <a:endParaRPr lang="en-US" sz="850" dirty="0"/>
          </a:p>
        </p:txBody>
      </p:sp>
      <p:sp>
        <p:nvSpPr>
          <p:cNvPr id="59"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05  /  NỀN TẢNG</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Tiếng Việt làm prosody khó tách hơn</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Thanh điệu ngôn ngữ và ngữ điệu cảm xúc cùng nằm trên tín hiệu giọng nói.</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19072"/>
            <a:ext cx="3858768" cy="4315968"/>
          </a:xfrm>
          <a:prstGeom prst="roundRect">
            <a:avLst>
              <a:gd name="adj" fmla="val 1185"/>
            </a:avLst>
          </a:prstGeom>
          <a:solidFill>
            <a:srgbClr val="0F172A"/>
          </a:solidFill>
          <a:ln w="12700">
            <a:solidFill>
              <a:srgbClr val="0F172A"/>
            </a:solidFill>
            <a:prstDash val="solid"/>
          </a:ln>
        </p:spPr>
      </p:sp>
      <p:sp>
        <p:nvSpPr>
          <p:cNvPr id="8" name="Text 6"/>
          <p:cNvSpPr txBox="1"/>
          <p:nvPr/>
        </p:nvSpPr>
        <p:spPr>
          <a:xfrm>
            <a:off x="932688" y="1993392"/>
            <a:ext cx="749808" cy="256032"/>
          </a:xfrm>
          <a:prstGeom prst="rect">
            <a:avLst/>
          </a:prstGeom>
          <a:noFill/>
          <a:ln/>
        </p:spPr>
        <p:txBody>
          <a:bodyPr wrap="square" lIns="0" tIns="0" rIns="0" bIns="0" rtlCol="0" anchor="ctr">
            <a:normAutofit/>
          </a:bodyPr>
          <a:lstStyle/>
          <a:p>
            <a:pPr marL="0" indent="0" algn="l">
              <a:buNone/>
            </a:pPr>
            <a:r>
              <a:rPr lang="en-US" sz="1000" b="1" dirty="0">
                <a:solidFill>
                  <a:srgbClr val="BAE6FD"/>
                </a:solidFill>
                <a:latin typeface="Arial" pitchFamily="34" charset="0"/>
                <a:ea typeface="Arial" pitchFamily="34" charset="-122"/>
                <a:cs typeface="Arial" pitchFamily="34" charset="-120"/>
              </a:rPr>
              <a:t>BẮC</a:t>
            </a:r>
            <a:endParaRPr lang="en-US" sz="1000" dirty="0"/>
          </a:p>
        </p:txBody>
      </p:sp>
      <p:sp>
        <p:nvSpPr>
          <p:cNvPr id="9" name="Text 7"/>
          <p:cNvSpPr txBox="1"/>
          <p:nvPr/>
        </p:nvSpPr>
        <p:spPr>
          <a:xfrm>
            <a:off x="2423160" y="3291840"/>
            <a:ext cx="841248" cy="256032"/>
          </a:xfrm>
          <a:prstGeom prst="rect">
            <a:avLst/>
          </a:prstGeom>
          <a:noFill/>
          <a:ln/>
        </p:spPr>
        <p:txBody>
          <a:bodyPr wrap="square" lIns="0" tIns="0" rIns="0" bIns="0" rtlCol="0" anchor="ctr">
            <a:normAutofit/>
          </a:bodyPr>
          <a:lstStyle/>
          <a:p>
            <a:pPr marL="0" indent="0" algn="l">
              <a:buNone/>
            </a:pPr>
            <a:r>
              <a:rPr lang="en-US" sz="1000" b="1" dirty="0">
                <a:solidFill>
                  <a:srgbClr val="A7F3D0"/>
                </a:solidFill>
                <a:latin typeface="Arial" pitchFamily="34" charset="0"/>
                <a:ea typeface="Arial" pitchFamily="34" charset="-122"/>
                <a:cs typeface="Arial" pitchFamily="34" charset="-120"/>
              </a:rPr>
              <a:t>TRUNG</a:t>
            </a:r>
            <a:endParaRPr lang="en-US" sz="1000" dirty="0"/>
          </a:p>
        </p:txBody>
      </p:sp>
      <p:sp>
        <p:nvSpPr>
          <p:cNvPr id="10" name="Text 8"/>
          <p:cNvSpPr txBox="1"/>
          <p:nvPr/>
        </p:nvSpPr>
        <p:spPr>
          <a:xfrm>
            <a:off x="1170432" y="4828032"/>
            <a:ext cx="749808" cy="256032"/>
          </a:xfrm>
          <a:prstGeom prst="rect">
            <a:avLst/>
          </a:prstGeom>
          <a:noFill/>
          <a:ln/>
        </p:spPr>
        <p:txBody>
          <a:bodyPr wrap="square" lIns="0" tIns="0" rIns="0" bIns="0" rtlCol="0" anchor="ctr">
            <a:normAutofit/>
          </a:bodyPr>
          <a:lstStyle/>
          <a:p>
            <a:pPr marL="0" indent="0" algn="l">
              <a:buNone/>
            </a:pPr>
            <a:r>
              <a:rPr lang="en-US" sz="1000" b="1" dirty="0">
                <a:solidFill>
                  <a:srgbClr val="FDE68A"/>
                </a:solidFill>
                <a:latin typeface="Arial" pitchFamily="34" charset="0"/>
                <a:ea typeface="Arial" pitchFamily="34" charset="-122"/>
                <a:cs typeface="Arial" pitchFamily="34" charset="-120"/>
              </a:rPr>
              <a:t>NAM</a:t>
            </a:r>
            <a:endParaRPr lang="en-US" sz="1000" dirty="0"/>
          </a:p>
        </p:txBody>
      </p:sp>
      <p:sp>
        <p:nvSpPr>
          <p:cNvPr id="11" name="Shape 9"/>
          <p:cNvSpPr/>
          <p:nvPr/>
        </p:nvSpPr>
        <p:spPr>
          <a:xfrm>
            <a:off x="1755648" y="2157984"/>
            <a:ext cx="804672" cy="1234440"/>
          </a:xfrm>
          <a:prstGeom prst="line">
            <a:avLst/>
          </a:prstGeom>
          <a:noFill/>
          <a:ln w="38100">
            <a:solidFill>
              <a:srgbClr val="38BDF8"/>
            </a:solidFill>
            <a:prstDash val="solid"/>
          </a:ln>
        </p:spPr>
      </p:sp>
      <p:sp>
        <p:nvSpPr>
          <p:cNvPr id="12" name="Shape 10"/>
          <p:cNvSpPr/>
          <p:nvPr/>
        </p:nvSpPr>
        <p:spPr>
          <a:xfrm>
            <a:off x="2560320" y="3392424"/>
            <a:ext cx="0" cy="1527048"/>
          </a:xfrm>
          <a:prstGeom prst="line">
            <a:avLst/>
          </a:prstGeom>
          <a:noFill/>
          <a:ln w="38100">
            <a:solidFill>
              <a:srgbClr val="2DD4BF"/>
            </a:solidFill>
            <a:prstDash val="solid"/>
          </a:ln>
        </p:spPr>
      </p:sp>
      <p:sp>
        <p:nvSpPr>
          <p:cNvPr id="13" name="Shape 11"/>
          <p:cNvSpPr/>
          <p:nvPr/>
        </p:nvSpPr>
        <p:spPr>
          <a:xfrm>
            <a:off x="1664208" y="2029968"/>
            <a:ext cx="201168" cy="201168"/>
          </a:xfrm>
          <a:prstGeom prst="ellipse">
            <a:avLst/>
          </a:prstGeom>
          <a:solidFill>
            <a:srgbClr val="38BDF8"/>
          </a:solidFill>
          <a:ln w="12700">
            <a:solidFill>
              <a:srgbClr val="38BDF8"/>
            </a:solidFill>
            <a:prstDash val="solid"/>
          </a:ln>
        </p:spPr>
      </p:sp>
      <p:sp>
        <p:nvSpPr>
          <p:cNvPr id="14" name="Shape 12"/>
          <p:cNvSpPr/>
          <p:nvPr/>
        </p:nvSpPr>
        <p:spPr>
          <a:xfrm>
            <a:off x="2459736" y="3291840"/>
            <a:ext cx="201168" cy="201168"/>
          </a:xfrm>
          <a:prstGeom prst="ellipse">
            <a:avLst/>
          </a:prstGeom>
          <a:solidFill>
            <a:srgbClr val="2DD4BF"/>
          </a:solidFill>
          <a:ln w="12700">
            <a:solidFill>
              <a:srgbClr val="2DD4BF"/>
            </a:solidFill>
            <a:prstDash val="solid"/>
          </a:ln>
        </p:spPr>
      </p:sp>
      <p:sp>
        <p:nvSpPr>
          <p:cNvPr id="15" name="Shape 13"/>
          <p:cNvSpPr/>
          <p:nvPr/>
        </p:nvSpPr>
        <p:spPr>
          <a:xfrm>
            <a:off x="1746504" y="4800600"/>
            <a:ext cx="201168" cy="201168"/>
          </a:xfrm>
          <a:prstGeom prst="ellipse">
            <a:avLst/>
          </a:prstGeom>
          <a:solidFill>
            <a:srgbClr val="FBBF24"/>
          </a:solidFill>
          <a:ln w="12700">
            <a:solidFill>
              <a:srgbClr val="FBBF24"/>
            </a:solidFill>
            <a:prstDash val="solid"/>
          </a:ln>
        </p:spPr>
      </p:sp>
      <p:sp>
        <p:nvSpPr>
          <p:cNvPr id="16" name="Text 14"/>
          <p:cNvSpPr txBox="1"/>
          <p:nvPr/>
        </p:nvSpPr>
        <p:spPr>
          <a:xfrm>
            <a:off x="896112" y="5358384"/>
            <a:ext cx="2852928" cy="32004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rial" pitchFamily="34" charset="0"/>
                <a:ea typeface="Arial" pitchFamily="34" charset="-122"/>
                <a:cs typeface="Arial" pitchFamily="34" charset="-120"/>
              </a:rPr>
              <a:t>3 vùng giọng lớn</a:t>
            </a:r>
            <a:endParaRPr lang="en-US" sz="1500" dirty="0"/>
          </a:p>
        </p:txBody>
      </p:sp>
      <p:sp>
        <p:nvSpPr>
          <p:cNvPr id="17" name="Text 15"/>
          <p:cNvSpPr txBox="1"/>
          <p:nvPr/>
        </p:nvSpPr>
        <p:spPr>
          <a:xfrm>
            <a:off x="896112" y="5669280"/>
            <a:ext cx="2852928" cy="237744"/>
          </a:xfrm>
          <a:prstGeom prst="rect">
            <a:avLst/>
          </a:prstGeom>
          <a:noFill/>
          <a:ln/>
        </p:spPr>
        <p:txBody>
          <a:bodyPr wrap="square" lIns="0" tIns="0" rIns="0" bIns="0" rtlCol="0" anchor="ctr">
            <a:normAutofit/>
          </a:bodyPr>
          <a:lstStyle/>
          <a:p>
            <a:pPr marL="0" indent="0" algn="ctr">
              <a:buNone/>
            </a:pPr>
            <a:r>
              <a:rPr lang="en-US" sz="1000" dirty="0">
                <a:solidFill>
                  <a:srgbClr val="94A3B8"/>
                </a:solidFill>
                <a:latin typeface="Arial" pitchFamily="34" charset="0"/>
                <a:ea typeface="Arial" pitchFamily="34" charset="-122"/>
                <a:cs typeface="Arial" pitchFamily="34" charset="-120"/>
              </a:rPr>
              <a:t>Accent thay đổi đặc trưng âm học</a:t>
            </a:r>
            <a:endParaRPr lang="en-US" sz="1000" dirty="0"/>
          </a:p>
        </p:txBody>
      </p:sp>
      <p:sp>
        <p:nvSpPr>
          <p:cNvPr id="18" name="Shape 16"/>
          <p:cNvSpPr/>
          <p:nvPr/>
        </p:nvSpPr>
        <p:spPr>
          <a:xfrm>
            <a:off x="4718304" y="1755648"/>
            <a:ext cx="6922008" cy="832104"/>
          </a:xfrm>
          <a:prstGeom prst="roundRect">
            <a:avLst>
              <a:gd name="adj" fmla="val 4396"/>
            </a:avLst>
          </a:prstGeom>
          <a:solidFill>
            <a:srgbClr val="FFFFFF"/>
          </a:solidFill>
          <a:ln w="12700">
            <a:solidFill>
              <a:srgbClr val="E2E8F0"/>
            </a:solidFill>
            <a:prstDash val="solid"/>
          </a:ln>
        </p:spPr>
      </p:sp>
      <p:sp>
        <p:nvSpPr>
          <p:cNvPr id="19" name="Shape 17"/>
          <p:cNvSpPr/>
          <p:nvPr/>
        </p:nvSpPr>
        <p:spPr>
          <a:xfrm>
            <a:off x="4937760" y="1920240"/>
            <a:ext cx="438912" cy="438912"/>
          </a:xfrm>
          <a:prstGeom prst="ellipse">
            <a:avLst/>
          </a:prstGeom>
          <a:solidFill>
            <a:srgbClr val="DBEAFE"/>
          </a:solidFill>
          <a:ln w="12700">
            <a:solidFill>
              <a:srgbClr val="DBEAFE"/>
            </a:solidFill>
            <a:prstDash val="solid"/>
          </a:ln>
        </p:spPr>
      </p:sp>
      <p:pic>
        <p:nvPicPr>
          <p:cNvPr id="2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7488" y="2029968"/>
            <a:ext cx="219456" cy="219456"/>
          </a:xfrm>
          <a:prstGeom prst="rect">
            <a:avLst/>
          </a:prstGeom>
        </p:spPr>
      </p:pic>
      <p:sp>
        <p:nvSpPr>
          <p:cNvPr id="21" name="Text 18"/>
          <p:cNvSpPr txBox="1"/>
          <p:nvPr/>
        </p:nvSpPr>
        <p:spPr>
          <a:xfrm>
            <a:off x="5532120" y="1865376"/>
            <a:ext cx="1828800" cy="292608"/>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6 thanh điệu</a:t>
            </a:r>
            <a:endParaRPr lang="en-US" sz="1300" dirty="0"/>
          </a:p>
        </p:txBody>
      </p:sp>
      <p:sp>
        <p:nvSpPr>
          <p:cNvPr id="22" name="Text 19"/>
          <p:cNvSpPr txBox="1"/>
          <p:nvPr/>
        </p:nvSpPr>
        <p:spPr>
          <a:xfrm>
            <a:off x="7424928" y="1865376"/>
            <a:ext cx="3767328" cy="438912"/>
          </a:xfrm>
          <a:prstGeom prst="rect">
            <a:avLst/>
          </a:prstGeom>
          <a:noFill/>
          <a:ln/>
        </p:spPr>
        <p:txBody>
          <a:bodyPr wrap="square" lIns="0" tIns="0" rIns="0" bIns="0" rtlCol="0" anchor="ctr">
            <a:normAutofit/>
          </a:bodyPr>
          <a:lstStyle/>
          <a:p>
            <a:pPr marL="0" indent="0" algn="l">
              <a:buNone/>
            </a:pPr>
            <a:r>
              <a:rPr lang="en-US" sz="1100" dirty="0">
                <a:solidFill>
                  <a:srgbClr val="334155"/>
                </a:solidFill>
                <a:latin typeface="Arial" pitchFamily="34" charset="0"/>
                <a:ea typeface="Arial" pitchFamily="34" charset="-122"/>
                <a:cs typeface="Arial" pitchFamily="34" charset="-120"/>
              </a:rPr>
              <a:t>pitch mang cả nghĩa từ vựng lẫn cảm xúc</a:t>
            </a:r>
            <a:endParaRPr lang="en-US" sz="1100" dirty="0"/>
          </a:p>
        </p:txBody>
      </p:sp>
      <p:sp>
        <p:nvSpPr>
          <p:cNvPr id="23" name="Shape 20"/>
          <p:cNvSpPr/>
          <p:nvPr/>
        </p:nvSpPr>
        <p:spPr>
          <a:xfrm>
            <a:off x="4718304" y="2788920"/>
            <a:ext cx="6922008" cy="832104"/>
          </a:xfrm>
          <a:prstGeom prst="roundRect">
            <a:avLst>
              <a:gd name="adj" fmla="val 4396"/>
            </a:avLst>
          </a:prstGeom>
          <a:solidFill>
            <a:srgbClr val="FFFFFF"/>
          </a:solidFill>
          <a:ln w="12700">
            <a:solidFill>
              <a:srgbClr val="E2E8F0"/>
            </a:solidFill>
            <a:prstDash val="solid"/>
          </a:ln>
        </p:spPr>
      </p:sp>
      <p:sp>
        <p:nvSpPr>
          <p:cNvPr id="24" name="Shape 21"/>
          <p:cNvSpPr/>
          <p:nvPr/>
        </p:nvSpPr>
        <p:spPr>
          <a:xfrm>
            <a:off x="4937760" y="2953512"/>
            <a:ext cx="438912" cy="438912"/>
          </a:xfrm>
          <a:prstGeom prst="ellipse">
            <a:avLst/>
          </a:prstGeom>
          <a:solidFill>
            <a:srgbClr val="CCFBF1"/>
          </a:solidFill>
          <a:ln w="12700">
            <a:solidFill>
              <a:srgbClr val="CCFBF1"/>
            </a:solidFill>
            <a:prstDash val="solid"/>
          </a:ln>
        </p:spPr>
      </p:sp>
      <p:pic>
        <p:nvPicPr>
          <p:cNvPr id="2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7488" y="3063240"/>
            <a:ext cx="219456" cy="219456"/>
          </a:xfrm>
          <a:prstGeom prst="rect">
            <a:avLst/>
          </a:prstGeom>
        </p:spPr>
      </p:pic>
      <p:sp>
        <p:nvSpPr>
          <p:cNvPr id="26" name="Text 22"/>
          <p:cNvSpPr txBox="1"/>
          <p:nvPr/>
        </p:nvSpPr>
        <p:spPr>
          <a:xfrm>
            <a:off x="5532120" y="2898648"/>
            <a:ext cx="1828800" cy="292608"/>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Accent đa dạng</a:t>
            </a:r>
            <a:endParaRPr lang="en-US" sz="1300" dirty="0"/>
          </a:p>
        </p:txBody>
      </p:sp>
      <p:sp>
        <p:nvSpPr>
          <p:cNvPr id="27" name="Text 23"/>
          <p:cNvSpPr txBox="1"/>
          <p:nvPr/>
        </p:nvSpPr>
        <p:spPr>
          <a:xfrm>
            <a:off x="7424928" y="2898648"/>
            <a:ext cx="3767328" cy="438912"/>
          </a:xfrm>
          <a:prstGeom prst="rect">
            <a:avLst/>
          </a:prstGeom>
          <a:noFill/>
          <a:ln/>
        </p:spPr>
        <p:txBody>
          <a:bodyPr wrap="square" lIns="0" tIns="0" rIns="0" bIns="0" rtlCol="0" anchor="ctr">
            <a:normAutofit/>
          </a:bodyPr>
          <a:lstStyle/>
          <a:p>
            <a:pPr marL="0" indent="0" algn="l">
              <a:buNone/>
            </a:pPr>
            <a:r>
              <a:rPr lang="en-US" sz="1100" dirty="0">
                <a:solidFill>
                  <a:srgbClr val="334155"/>
                </a:solidFill>
                <a:latin typeface="Arial" pitchFamily="34" charset="0"/>
                <a:ea typeface="Arial" pitchFamily="34" charset="-122"/>
                <a:cs typeface="Arial" pitchFamily="34" charset="-120"/>
              </a:rPr>
              <a:t>Bắc / Trung / Nam khác nhau</a:t>
            </a:r>
            <a:endParaRPr lang="en-US" sz="1100" dirty="0"/>
          </a:p>
        </p:txBody>
      </p:sp>
      <p:sp>
        <p:nvSpPr>
          <p:cNvPr id="28" name="Shape 24"/>
          <p:cNvSpPr/>
          <p:nvPr/>
        </p:nvSpPr>
        <p:spPr>
          <a:xfrm>
            <a:off x="4718304" y="3822192"/>
            <a:ext cx="6922008" cy="832104"/>
          </a:xfrm>
          <a:prstGeom prst="roundRect">
            <a:avLst>
              <a:gd name="adj" fmla="val 4396"/>
            </a:avLst>
          </a:prstGeom>
          <a:solidFill>
            <a:srgbClr val="FFFFFF"/>
          </a:solidFill>
          <a:ln w="12700">
            <a:solidFill>
              <a:srgbClr val="E2E8F0"/>
            </a:solidFill>
            <a:prstDash val="solid"/>
          </a:ln>
        </p:spPr>
      </p:sp>
      <p:sp>
        <p:nvSpPr>
          <p:cNvPr id="29" name="Shape 25"/>
          <p:cNvSpPr/>
          <p:nvPr/>
        </p:nvSpPr>
        <p:spPr>
          <a:xfrm>
            <a:off x="4937760" y="3986784"/>
            <a:ext cx="438912" cy="438912"/>
          </a:xfrm>
          <a:prstGeom prst="ellipse">
            <a:avLst/>
          </a:prstGeom>
          <a:solidFill>
            <a:srgbClr val="FEF3C7"/>
          </a:solidFill>
          <a:ln w="12700">
            <a:solidFill>
              <a:srgbClr val="FEF3C7"/>
            </a:solidFill>
            <a:prstDash val="solid"/>
          </a:ln>
        </p:spPr>
      </p:sp>
      <p:pic>
        <p:nvPicPr>
          <p:cNvPr id="3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7488" y="4096512"/>
            <a:ext cx="219456" cy="219456"/>
          </a:xfrm>
          <a:prstGeom prst="rect">
            <a:avLst/>
          </a:prstGeom>
        </p:spPr>
      </p:pic>
      <p:sp>
        <p:nvSpPr>
          <p:cNvPr id="31" name="Text 26"/>
          <p:cNvSpPr txBox="1"/>
          <p:nvPr/>
        </p:nvSpPr>
        <p:spPr>
          <a:xfrm>
            <a:off x="5532120" y="3931920"/>
            <a:ext cx="1828800" cy="292608"/>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Dữ liệu có nhãn ít</a:t>
            </a:r>
            <a:endParaRPr lang="en-US" sz="1300" dirty="0"/>
          </a:p>
        </p:txBody>
      </p:sp>
      <p:sp>
        <p:nvSpPr>
          <p:cNvPr id="32" name="Text 27"/>
          <p:cNvSpPr txBox="1"/>
          <p:nvPr/>
        </p:nvSpPr>
        <p:spPr>
          <a:xfrm>
            <a:off x="7424928" y="3931920"/>
            <a:ext cx="3767328" cy="438912"/>
          </a:xfrm>
          <a:prstGeom prst="rect">
            <a:avLst/>
          </a:prstGeom>
          <a:noFill/>
          <a:ln/>
        </p:spPr>
        <p:txBody>
          <a:bodyPr wrap="square" lIns="0" tIns="0" rIns="0" bIns="0" rtlCol="0" anchor="ctr">
            <a:normAutofit/>
          </a:bodyPr>
          <a:lstStyle/>
          <a:p>
            <a:pPr marL="0" indent="0" algn="l">
              <a:buNone/>
            </a:pPr>
            <a:r>
              <a:rPr lang="en-US" sz="1100" dirty="0">
                <a:solidFill>
                  <a:srgbClr val="334155"/>
                </a:solidFill>
                <a:latin typeface="Arial" pitchFamily="34" charset="0"/>
                <a:ea typeface="Arial" pitchFamily="34" charset="-122"/>
                <a:cs typeface="Arial" pitchFamily="34" charset="-120"/>
              </a:rPr>
              <a:t>khó bao phủ speaker và ngữ cảnh</a:t>
            </a:r>
            <a:endParaRPr lang="en-US" sz="1100" dirty="0"/>
          </a:p>
        </p:txBody>
      </p:sp>
      <p:sp>
        <p:nvSpPr>
          <p:cNvPr id="33" name="Shape 28"/>
          <p:cNvSpPr/>
          <p:nvPr/>
        </p:nvSpPr>
        <p:spPr>
          <a:xfrm>
            <a:off x="4718304" y="4855464"/>
            <a:ext cx="6922008" cy="832104"/>
          </a:xfrm>
          <a:prstGeom prst="roundRect">
            <a:avLst>
              <a:gd name="adj" fmla="val 4396"/>
            </a:avLst>
          </a:prstGeom>
          <a:solidFill>
            <a:srgbClr val="FFFFFF"/>
          </a:solidFill>
          <a:ln w="12700">
            <a:solidFill>
              <a:srgbClr val="E2E8F0"/>
            </a:solidFill>
            <a:prstDash val="solid"/>
          </a:ln>
        </p:spPr>
      </p:sp>
      <p:sp>
        <p:nvSpPr>
          <p:cNvPr id="34" name="Shape 29"/>
          <p:cNvSpPr/>
          <p:nvPr/>
        </p:nvSpPr>
        <p:spPr>
          <a:xfrm>
            <a:off x="4937760" y="5020056"/>
            <a:ext cx="438912" cy="438912"/>
          </a:xfrm>
          <a:prstGeom prst="ellipse">
            <a:avLst/>
          </a:prstGeom>
          <a:solidFill>
            <a:srgbClr val="FEE2E2"/>
          </a:solidFill>
          <a:ln w="12700">
            <a:solidFill>
              <a:srgbClr val="FEE2E2"/>
            </a:solidFill>
            <a:prstDash val="solid"/>
          </a:ln>
        </p:spPr>
      </p:sp>
      <p:pic>
        <p:nvPicPr>
          <p:cNvPr id="3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47488" y="5129784"/>
            <a:ext cx="219456" cy="219456"/>
          </a:xfrm>
          <a:prstGeom prst="rect">
            <a:avLst/>
          </a:prstGeom>
        </p:spPr>
      </p:pic>
      <p:sp>
        <p:nvSpPr>
          <p:cNvPr id="36" name="Text 30"/>
          <p:cNvSpPr txBox="1"/>
          <p:nvPr/>
        </p:nvSpPr>
        <p:spPr>
          <a:xfrm>
            <a:off x="5532120" y="4965192"/>
            <a:ext cx="1828800" cy="292608"/>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Prosody dễ lẫn</a:t>
            </a:r>
            <a:endParaRPr lang="en-US" sz="1300" dirty="0"/>
          </a:p>
        </p:txBody>
      </p:sp>
      <p:sp>
        <p:nvSpPr>
          <p:cNvPr id="37" name="Text 31"/>
          <p:cNvSpPr txBox="1"/>
          <p:nvPr/>
        </p:nvSpPr>
        <p:spPr>
          <a:xfrm>
            <a:off x="7424928" y="4965192"/>
            <a:ext cx="3767328" cy="438912"/>
          </a:xfrm>
          <a:prstGeom prst="rect">
            <a:avLst/>
          </a:prstGeom>
          <a:noFill/>
          <a:ln/>
        </p:spPr>
        <p:txBody>
          <a:bodyPr wrap="square" lIns="0" tIns="0" rIns="0" bIns="0" rtlCol="0" anchor="ctr">
            <a:normAutofit/>
          </a:bodyPr>
          <a:lstStyle/>
          <a:p>
            <a:pPr marL="0" indent="0" algn="l">
              <a:buNone/>
            </a:pPr>
            <a:r>
              <a:rPr lang="en-US" sz="1100" dirty="0">
                <a:solidFill>
                  <a:srgbClr val="334155"/>
                </a:solidFill>
                <a:latin typeface="Arial" pitchFamily="34" charset="0"/>
                <a:ea typeface="Arial" pitchFamily="34" charset="-122"/>
                <a:cs typeface="Arial" pitchFamily="34" charset="-120"/>
              </a:rPr>
              <a:t>tone và emotion cùng biến đổi cao độ</a:t>
            </a:r>
            <a:endParaRPr lang="en-US" sz="1100" dirty="0"/>
          </a:p>
        </p:txBody>
      </p:sp>
      <p:sp>
        <p:nvSpPr>
          <p:cNvPr id="38" name="Shape 32"/>
          <p:cNvSpPr/>
          <p:nvPr/>
        </p:nvSpPr>
        <p:spPr>
          <a:xfrm>
            <a:off x="4718304" y="5577840"/>
            <a:ext cx="6922008" cy="457200"/>
          </a:xfrm>
          <a:prstGeom prst="roundRect">
            <a:avLst>
              <a:gd name="adj" fmla="val 8000"/>
            </a:avLst>
          </a:prstGeom>
          <a:solidFill>
            <a:srgbClr val="DBEAFE"/>
          </a:solidFill>
          <a:ln w="12700">
            <a:solidFill>
              <a:srgbClr val="DBEAFE"/>
            </a:solidFill>
            <a:prstDash val="solid"/>
          </a:ln>
        </p:spPr>
      </p:sp>
      <p:sp>
        <p:nvSpPr>
          <p:cNvPr id="39" name="Text 33"/>
          <p:cNvSpPr txBox="1"/>
          <p:nvPr/>
        </p:nvSpPr>
        <p:spPr>
          <a:xfrm>
            <a:off x="4791456" y="5577840"/>
            <a:ext cx="6775704" cy="457200"/>
          </a:xfrm>
          <a:prstGeom prst="rect">
            <a:avLst/>
          </a:prstGeom>
          <a:noFill/>
          <a:ln/>
        </p:spPr>
        <p:txBody>
          <a:bodyPr wrap="square" lIns="0" tIns="0" rIns="0" bIns="0" rtlCol="0" anchor="ctr">
            <a:normAutofit/>
          </a:bodyPr>
          <a:lstStyle/>
          <a:p>
            <a:pPr marL="0" indent="0" algn="ctr">
              <a:buNone/>
            </a:pPr>
            <a:r>
              <a:rPr lang="en-US" sz="1200" b="1" dirty="0">
                <a:solidFill>
                  <a:srgbClr val="1D4ED8"/>
                </a:solidFill>
                <a:latin typeface="Arial" pitchFamily="34" charset="0"/>
                <a:ea typeface="Arial" pitchFamily="34" charset="-122"/>
                <a:cs typeface="Arial" pitchFamily="34" charset="-120"/>
              </a:rPr>
              <a:t>Cần benchmark trực tiếp trên dữ liệu tiếng Việt</a:t>
            </a:r>
            <a:endParaRPr lang="en-US" sz="1200" dirty="0"/>
          </a:p>
        </p:txBody>
      </p:sp>
      <p:sp>
        <p:nvSpPr>
          <p:cNvPr id="40" name="Shape 34"/>
          <p:cNvSpPr/>
          <p:nvPr/>
        </p:nvSpPr>
        <p:spPr>
          <a:xfrm>
            <a:off x="530352" y="6382512"/>
            <a:ext cx="11128248" cy="0"/>
          </a:xfrm>
          <a:prstGeom prst="line">
            <a:avLst/>
          </a:prstGeom>
          <a:noFill/>
          <a:ln w="10160">
            <a:solidFill>
              <a:srgbClr val="E2E8F0"/>
            </a:solidFill>
            <a:prstDash val="solid"/>
          </a:ln>
        </p:spPr>
      </p:sp>
      <p:sp>
        <p:nvSpPr>
          <p:cNvPr id="41" name="Text 35"/>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docs/PRESENTATION.md (thách thức tiếng Việt) • docs/BENCHMARK.md (dữ liệu ViSEC).</a:t>
            </a:r>
            <a:endParaRPr lang="en-US" sz="850" dirty="0"/>
          </a:p>
        </p:txBody>
      </p:sp>
      <p:sp>
        <p:nvSpPr>
          <p:cNvPr id="42"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06  /  DỮ LIỆU</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ViSEC là nền benchmark công khai</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Tập đầy đủ có 5.280 utterances; benchmark hiện tại dùng subset cân bằng 400 clips.</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37360"/>
            <a:ext cx="2962656" cy="4261104"/>
          </a:xfrm>
          <a:prstGeom prst="roundRect">
            <a:avLst>
              <a:gd name="adj" fmla="val 1543"/>
            </a:avLst>
          </a:prstGeom>
          <a:solidFill>
            <a:srgbClr val="0F172A"/>
          </a:solidFill>
          <a:ln w="12700">
            <a:solidFill>
              <a:srgbClr val="0F172A"/>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6112" y="2084832"/>
            <a:ext cx="566928" cy="566928"/>
          </a:xfrm>
          <a:prstGeom prst="rect">
            <a:avLst/>
          </a:prstGeom>
        </p:spPr>
      </p:pic>
      <p:sp>
        <p:nvSpPr>
          <p:cNvPr id="9" name="Text 6"/>
          <p:cNvSpPr txBox="1"/>
          <p:nvPr/>
        </p:nvSpPr>
        <p:spPr>
          <a:xfrm>
            <a:off x="896112" y="2761488"/>
            <a:ext cx="2231136" cy="658368"/>
          </a:xfrm>
          <a:prstGeom prst="rect">
            <a:avLst/>
          </a:prstGeom>
          <a:noFill/>
          <a:ln/>
        </p:spPr>
        <p:txBody>
          <a:bodyPr wrap="square" lIns="0" tIns="0" rIns="0" bIns="0" rtlCol="0" anchor="ctr">
            <a:normAutofit/>
          </a:bodyPr>
          <a:lstStyle/>
          <a:p>
            <a:pPr marL="0" indent="0" algn="l">
              <a:buNone/>
            </a:pPr>
            <a:r>
              <a:rPr lang="en-US" sz="3400" b="1" dirty="0">
                <a:solidFill>
                  <a:srgbClr val="FFFFFF"/>
                </a:solidFill>
                <a:latin typeface="Arial" pitchFamily="34" charset="0"/>
                <a:ea typeface="Arial" pitchFamily="34" charset="-122"/>
                <a:cs typeface="Arial" pitchFamily="34" charset="-120"/>
              </a:rPr>
              <a:t>5.280</a:t>
            </a:r>
            <a:endParaRPr lang="en-US" sz="3400" dirty="0"/>
          </a:p>
        </p:txBody>
      </p:sp>
      <p:sp>
        <p:nvSpPr>
          <p:cNvPr id="10" name="Text 7"/>
          <p:cNvSpPr txBox="1"/>
          <p:nvPr/>
        </p:nvSpPr>
        <p:spPr>
          <a:xfrm>
            <a:off x="896112" y="3419856"/>
            <a:ext cx="2231136" cy="329184"/>
          </a:xfrm>
          <a:prstGeom prst="rect">
            <a:avLst/>
          </a:prstGeom>
          <a:noFill/>
          <a:ln/>
        </p:spPr>
        <p:txBody>
          <a:bodyPr wrap="square" lIns="0" tIns="0" rIns="0" bIns="0" rtlCol="0" anchor="ctr">
            <a:normAutofit/>
          </a:bodyPr>
          <a:lstStyle/>
          <a:p>
            <a:pPr marL="0" indent="0" algn="l">
              <a:buNone/>
            </a:pPr>
            <a:r>
              <a:rPr lang="en-US" sz="1400" b="1" dirty="0">
                <a:solidFill>
                  <a:srgbClr val="BAE6FD"/>
                </a:solidFill>
                <a:latin typeface="Arial" pitchFamily="34" charset="0"/>
                <a:ea typeface="Arial" pitchFamily="34" charset="-122"/>
                <a:cs typeface="Arial" pitchFamily="34" charset="-120"/>
              </a:rPr>
              <a:t>utterances</a:t>
            </a:r>
            <a:endParaRPr lang="en-US" sz="1400" dirty="0"/>
          </a:p>
        </p:txBody>
      </p:sp>
      <p:sp>
        <p:nvSpPr>
          <p:cNvPr id="11" name="Shape 8"/>
          <p:cNvSpPr/>
          <p:nvPr/>
        </p:nvSpPr>
        <p:spPr>
          <a:xfrm>
            <a:off x="896112" y="3986784"/>
            <a:ext cx="2011680" cy="0"/>
          </a:xfrm>
          <a:prstGeom prst="line">
            <a:avLst/>
          </a:prstGeom>
          <a:noFill/>
          <a:ln w="12700">
            <a:solidFill>
              <a:srgbClr val="334155"/>
            </a:solidFill>
            <a:prstDash val="solid"/>
          </a:ln>
        </p:spPr>
      </p:sp>
      <p:sp>
        <p:nvSpPr>
          <p:cNvPr id="12" name="Text 9"/>
          <p:cNvSpPr txBox="1"/>
          <p:nvPr/>
        </p:nvSpPr>
        <p:spPr>
          <a:xfrm>
            <a:off x="896112" y="4224528"/>
            <a:ext cx="1993392" cy="310896"/>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Arial" pitchFamily="34" charset="0"/>
                <a:ea typeface="Arial" pitchFamily="34" charset="-122"/>
                <a:cs typeface="Arial" pitchFamily="34" charset="-120"/>
              </a:rPr>
              <a:t>4 emotions</a:t>
            </a:r>
            <a:endParaRPr lang="en-US" sz="1300" dirty="0"/>
          </a:p>
        </p:txBody>
      </p:sp>
      <p:sp>
        <p:nvSpPr>
          <p:cNvPr id="13" name="Text 10"/>
          <p:cNvSpPr txBox="1"/>
          <p:nvPr/>
        </p:nvSpPr>
        <p:spPr>
          <a:xfrm>
            <a:off x="896112" y="4645152"/>
            <a:ext cx="2011680" cy="310896"/>
          </a:xfrm>
          <a:prstGeom prst="rect">
            <a:avLst/>
          </a:prstGeom>
          <a:noFill/>
          <a:ln/>
        </p:spPr>
        <p:txBody>
          <a:bodyPr wrap="square" lIns="0" tIns="0" rIns="0" bIns="0" rtlCol="0" anchor="ctr">
            <a:normAutofit/>
          </a:bodyPr>
          <a:lstStyle/>
          <a:p>
            <a:pPr marL="0" indent="0" algn="l">
              <a:buNone/>
            </a:pPr>
            <a:r>
              <a:rPr lang="en-US" sz="1100" dirty="0">
                <a:solidFill>
                  <a:srgbClr val="CBD5E1"/>
                </a:solidFill>
                <a:latin typeface="Arial" pitchFamily="34" charset="0"/>
                <a:ea typeface="Arial" pitchFamily="34" charset="-122"/>
                <a:cs typeface="Arial" pitchFamily="34" charset="-120"/>
              </a:rPr>
              <a:t>Public trên Hugging Face</a:t>
            </a:r>
            <a:endParaRPr lang="en-US" sz="1100" dirty="0"/>
          </a:p>
        </p:txBody>
      </p:sp>
      <p:sp>
        <p:nvSpPr>
          <p:cNvPr id="14" name="Text 11"/>
          <p:cNvSpPr txBox="1"/>
          <p:nvPr/>
        </p:nvSpPr>
        <p:spPr>
          <a:xfrm>
            <a:off x="896112" y="5029200"/>
            <a:ext cx="2011680" cy="310896"/>
          </a:xfrm>
          <a:prstGeom prst="rect">
            <a:avLst/>
          </a:prstGeom>
          <a:noFill/>
          <a:ln/>
        </p:spPr>
        <p:txBody>
          <a:bodyPr wrap="square" lIns="0" tIns="0" rIns="0" bIns="0" rtlCol="0" anchor="ctr">
            <a:normAutofit/>
          </a:bodyPr>
          <a:lstStyle/>
          <a:p>
            <a:pPr marL="0" indent="0" algn="l">
              <a:buNone/>
            </a:pPr>
            <a:r>
              <a:rPr lang="en-US" sz="1100" dirty="0">
                <a:solidFill>
                  <a:srgbClr val="CBD5E1"/>
                </a:solidFill>
                <a:latin typeface="Arial" pitchFamily="34" charset="0"/>
                <a:ea typeface="Arial" pitchFamily="34" charset="-122"/>
                <a:cs typeface="Arial" pitchFamily="34" charset="-120"/>
              </a:rPr>
              <a:t>CC-BY-4.0</a:t>
            </a:r>
            <a:endParaRPr lang="en-US" sz="1100" dirty="0"/>
          </a:p>
        </p:txBody>
      </p:sp>
      <p:sp>
        <p:nvSpPr>
          <p:cNvPr id="15" name="Text 12"/>
          <p:cNvSpPr txBox="1"/>
          <p:nvPr/>
        </p:nvSpPr>
        <p:spPr>
          <a:xfrm>
            <a:off x="3931920" y="1810512"/>
            <a:ext cx="3657600" cy="310896"/>
          </a:xfrm>
          <a:prstGeom prst="rect">
            <a:avLst/>
          </a:prstGeom>
          <a:noFill/>
          <a:ln/>
        </p:spPr>
        <p:txBody>
          <a:bodyPr wrap="square" lIns="0" tIns="0" rIns="0" bIns="0" rtlCol="0" anchor="ctr">
            <a:normAutofit/>
          </a:bodyPr>
          <a:lstStyle/>
          <a:p>
            <a:pPr marL="0" indent="0" algn="l">
              <a:buNone/>
            </a:pPr>
            <a:r>
              <a:rPr lang="en-US" sz="1500" b="1" dirty="0">
                <a:solidFill>
                  <a:srgbClr val="0F172A"/>
                </a:solidFill>
                <a:latin typeface="Arial" pitchFamily="34" charset="0"/>
                <a:ea typeface="Arial" pitchFamily="34" charset="-122"/>
                <a:cs typeface="Arial" pitchFamily="34" charset="-120"/>
              </a:rPr>
              <a:t>Subset benchmark • 400 clips</a:t>
            </a:r>
            <a:endParaRPr lang="en-US" sz="1500" dirty="0"/>
          </a:p>
        </p:txBody>
      </p:sp>
      <p:sp>
        <p:nvSpPr>
          <p:cNvPr id="16" name="Text 13"/>
          <p:cNvSpPr txBox="1"/>
          <p:nvPr/>
        </p:nvSpPr>
        <p:spPr>
          <a:xfrm>
            <a:off x="8229600" y="1847088"/>
            <a:ext cx="2999232" cy="256032"/>
          </a:xfrm>
          <a:prstGeom prst="rect">
            <a:avLst/>
          </a:prstGeom>
          <a:noFill/>
          <a:ln/>
        </p:spPr>
        <p:txBody>
          <a:bodyPr wrap="square" lIns="0" tIns="0" rIns="0" bIns="0" rtlCol="0" anchor="ctr">
            <a:normAutofit/>
          </a:bodyPr>
          <a:lstStyle/>
          <a:p>
            <a:pPr marL="0" indent="0" algn="r">
              <a:buNone/>
            </a:pPr>
            <a:r>
              <a:rPr lang="en-US" sz="1100" dirty="0">
                <a:solidFill>
                  <a:srgbClr val="64748B"/>
                </a:solidFill>
                <a:latin typeface="Arial" pitchFamily="34" charset="0"/>
                <a:ea typeface="Arial" pitchFamily="34" charset="-122"/>
                <a:cs typeface="Arial" pitchFamily="34" charset="-120"/>
              </a:rPr>
              <a:t>100 clips / class • seed = 0</a:t>
            </a:r>
            <a:endParaRPr lang="en-US" sz="1100"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05072" y="2414016"/>
            <a:ext cx="256032" cy="256032"/>
          </a:xfrm>
          <a:prstGeom prst="rect">
            <a:avLst/>
          </a:prstGeom>
        </p:spPr>
      </p:pic>
      <p:sp>
        <p:nvSpPr>
          <p:cNvPr id="18" name="Text 14"/>
          <p:cNvSpPr txBox="1"/>
          <p:nvPr/>
        </p:nvSpPr>
        <p:spPr>
          <a:xfrm>
            <a:off x="4389120" y="2395728"/>
            <a:ext cx="1024128" cy="310896"/>
          </a:xfrm>
          <a:prstGeom prst="rect">
            <a:avLst/>
          </a:prstGeom>
          <a:noFill/>
          <a:ln/>
        </p:spPr>
        <p:txBody>
          <a:bodyPr wrap="square" lIns="0" tIns="0" rIns="0" bIns="0" rtlCol="0" anchor="ctr">
            <a:normAutofit/>
          </a:bodyPr>
          <a:lstStyle/>
          <a:p>
            <a:pPr marL="0" indent="0" algn="l">
              <a:buNone/>
            </a:pPr>
            <a:r>
              <a:rPr lang="en-US" sz="1250" b="1" dirty="0">
                <a:solidFill>
                  <a:srgbClr val="334155"/>
                </a:solidFill>
                <a:latin typeface="Arial" pitchFamily="34" charset="0"/>
                <a:ea typeface="Arial" pitchFamily="34" charset="-122"/>
                <a:cs typeface="Arial" pitchFamily="34" charset="-120"/>
              </a:rPr>
              <a:t>happy</a:t>
            </a:r>
            <a:endParaRPr lang="en-US" sz="1250" dirty="0"/>
          </a:p>
        </p:txBody>
      </p:sp>
      <p:sp>
        <p:nvSpPr>
          <p:cNvPr id="19" name="Shape 15"/>
          <p:cNvSpPr/>
          <p:nvPr/>
        </p:nvSpPr>
        <p:spPr>
          <a:xfrm>
            <a:off x="5468112" y="2468880"/>
            <a:ext cx="4297680" cy="164592"/>
          </a:xfrm>
          <a:prstGeom prst="roundRect">
            <a:avLst>
              <a:gd name="adj" fmla="val 16667"/>
            </a:avLst>
          </a:prstGeom>
          <a:solidFill>
            <a:srgbClr val="F1F5F9"/>
          </a:solidFill>
          <a:ln w="12700">
            <a:solidFill>
              <a:srgbClr val="F1F5F9"/>
            </a:solidFill>
            <a:prstDash val="solid"/>
          </a:ln>
        </p:spPr>
      </p:sp>
      <p:sp>
        <p:nvSpPr>
          <p:cNvPr id="20" name="Shape 16"/>
          <p:cNvSpPr/>
          <p:nvPr/>
        </p:nvSpPr>
        <p:spPr>
          <a:xfrm>
            <a:off x="5468112" y="2468880"/>
            <a:ext cx="4297680" cy="164592"/>
          </a:xfrm>
          <a:prstGeom prst="roundRect">
            <a:avLst>
              <a:gd name="adj" fmla="val 16667"/>
            </a:avLst>
          </a:prstGeom>
          <a:solidFill>
            <a:srgbClr val="B45309"/>
          </a:solidFill>
          <a:ln w="12700">
            <a:solidFill>
              <a:srgbClr val="B45309"/>
            </a:solidFill>
            <a:prstDash val="solid"/>
          </a:ln>
        </p:spPr>
      </p:sp>
      <p:sp>
        <p:nvSpPr>
          <p:cNvPr id="21" name="Text 17"/>
          <p:cNvSpPr txBox="1"/>
          <p:nvPr/>
        </p:nvSpPr>
        <p:spPr>
          <a:xfrm>
            <a:off x="9966960" y="2395728"/>
            <a:ext cx="585216" cy="310896"/>
          </a:xfrm>
          <a:prstGeom prst="rect">
            <a:avLst/>
          </a:prstGeom>
          <a:noFill/>
          <a:ln/>
        </p:spPr>
        <p:txBody>
          <a:bodyPr wrap="square" lIns="0" tIns="0" rIns="0" bIns="0" rtlCol="0" anchor="ctr">
            <a:normAutofit/>
          </a:bodyPr>
          <a:lstStyle/>
          <a:p>
            <a:pPr marL="0" indent="0" algn="r">
              <a:buNone/>
            </a:pPr>
            <a:r>
              <a:rPr lang="en-US" sz="1250" b="1" dirty="0">
                <a:solidFill>
                  <a:srgbClr val="B45309"/>
                </a:solidFill>
                <a:latin typeface="Arial" pitchFamily="34" charset="0"/>
                <a:ea typeface="Arial" pitchFamily="34" charset="-122"/>
                <a:cs typeface="Arial" pitchFamily="34" charset="-120"/>
              </a:rPr>
              <a:t>100</a:t>
            </a:r>
            <a:endParaRPr lang="en-US" sz="1250"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05072" y="3108960"/>
            <a:ext cx="256032" cy="256032"/>
          </a:xfrm>
          <a:prstGeom prst="rect">
            <a:avLst/>
          </a:prstGeom>
        </p:spPr>
      </p:pic>
      <p:sp>
        <p:nvSpPr>
          <p:cNvPr id="23" name="Text 18"/>
          <p:cNvSpPr txBox="1"/>
          <p:nvPr/>
        </p:nvSpPr>
        <p:spPr>
          <a:xfrm>
            <a:off x="4389120" y="3090672"/>
            <a:ext cx="1024128" cy="310896"/>
          </a:xfrm>
          <a:prstGeom prst="rect">
            <a:avLst/>
          </a:prstGeom>
          <a:noFill/>
          <a:ln/>
        </p:spPr>
        <p:txBody>
          <a:bodyPr wrap="square" lIns="0" tIns="0" rIns="0" bIns="0" rtlCol="0" anchor="ctr">
            <a:normAutofit/>
          </a:bodyPr>
          <a:lstStyle/>
          <a:p>
            <a:pPr marL="0" indent="0" algn="l">
              <a:buNone/>
            </a:pPr>
            <a:r>
              <a:rPr lang="en-US" sz="1250" b="1" dirty="0">
                <a:solidFill>
                  <a:srgbClr val="334155"/>
                </a:solidFill>
                <a:latin typeface="Arial" pitchFamily="34" charset="0"/>
                <a:ea typeface="Arial" pitchFamily="34" charset="-122"/>
                <a:cs typeface="Arial" pitchFamily="34" charset="-120"/>
              </a:rPr>
              <a:t>neutral</a:t>
            </a:r>
            <a:endParaRPr lang="en-US" sz="1250" dirty="0"/>
          </a:p>
        </p:txBody>
      </p:sp>
      <p:sp>
        <p:nvSpPr>
          <p:cNvPr id="24" name="Shape 19"/>
          <p:cNvSpPr/>
          <p:nvPr/>
        </p:nvSpPr>
        <p:spPr>
          <a:xfrm>
            <a:off x="5468112" y="3163824"/>
            <a:ext cx="4297680" cy="164592"/>
          </a:xfrm>
          <a:prstGeom prst="roundRect">
            <a:avLst>
              <a:gd name="adj" fmla="val 16667"/>
            </a:avLst>
          </a:prstGeom>
          <a:solidFill>
            <a:srgbClr val="F1F5F9"/>
          </a:solidFill>
          <a:ln w="12700">
            <a:solidFill>
              <a:srgbClr val="F1F5F9"/>
            </a:solidFill>
            <a:prstDash val="solid"/>
          </a:ln>
        </p:spPr>
      </p:sp>
      <p:sp>
        <p:nvSpPr>
          <p:cNvPr id="25" name="Shape 20"/>
          <p:cNvSpPr/>
          <p:nvPr/>
        </p:nvSpPr>
        <p:spPr>
          <a:xfrm>
            <a:off x="5468112" y="3163824"/>
            <a:ext cx="4297680" cy="164592"/>
          </a:xfrm>
          <a:prstGeom prst="roundRect">
            <a:avLst>
              <a:gd name="adj" fmla="val 16667"/>
            </a:avLst>
          </a:prstGeom>
          <a:solidFill>
            <a:srgbClr val="334155"/>
          </a:solidFill>
          <a:ln w="12700">
            <a:solidFill>
              <a:srgbClr val="334155"/>
            </a:solidFill>
            <a:prstDash val="solid"/>
          </a:ln>
        </p:spPr>
      </p:sp>
      <p:sp>
        <p:nvSpPr>
          <p:cNvPr id="26" name="Text 21"/>
          <p:cNvSpPr txBox="1"/>
          <p:nvPr/>
        </p:nvSpPr>
        <p:spPr>
          <a:xfrm>
            <a:off x="9966960" y="3090672"/>
            <a:ext cx="585216" cy="310896"/>
          </a:xfrm>
          <a:prstGeom prst="rect">
            <a:avLst/>
          </a:prstGeom>
          <a:noFill/>
          <a:ln/>
        </p:spPr>
        <p:txBody>
          <a:bodyPr wrap="square" lIns="0" tIns="0" rIns="0" bIns="0" rtlCol="0" anchor="ctr">
            <a:normAutofit/>
          </a:bodyPr>
          <a:lstStyle/>
          <a:p>
            <a:pPr marL="0" indent="0" algn="r">
              <a:buNone/>
            </a:pPr>
            <a:r>
              <a:rPr lang="en-US" sz="1250" b="1" dirty="0">
                <a:solidFill>
                  <a:srgbClr val="334155"/>
                </a:solidFill>
                <a:latin typeface="Arial" pitchFamily="34" charset="0"/>
                <a:ea typeface="Arial" pitchFamily="34" charset="-122"/>
                <a:cs typeface="Arial" pitchFamily="34" charset="-120"/>
              </a:rPr>
              <a:t>100</a:t>
            </a:r>
            <a:endParaRPr lang="en-US" sz="1250" dirty="0"/>
          </a:p>
        </p:txBody>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05072" y="3803904"/>
            <a:ext cx="256032" cy="256032"/>
          </a:xfrm>
          <a:prstGeom prst="rect">
            <a:avLst/>
          </a:prstGeom>
        </p:spPr>
      </p:pic>
      <p:sp>
        <p:nvSpPr>
          <p:cNvPr id="28" name="Text 22"/>
          <p:cNvSpPr txBox="1"/>
          <p:nvPr/>
        </p:nvSpPr>
        <p:spPr>
          <a:xfrm>
            <a:off x="4389120" y="3785616"/>
            <a:ext cx="1024128" cy="310896"/>
          </a:xfrm>
          <a:prstGeom prst="rect">
            <a:avLst/>
          </a:prstGeom>
          <a:noFill/>
          <a:ln/>
        </p:spPr>
        <p:txBody>
          <a:bodyPr wrap="square" lIns="0" tIns="0" rIns="0" bIns="0" rtlCol="0" anchor="ctr">
            <a:normAutofit/>
          </a:bodyPr>
          <a:lstStyle/>
          <a:p>
            <a:pPr marL="0" indent="0" algn="l">
              <a:buNone/>
            </a:pPr>
            <a:r>
              <a:rPr lang="en-US" sz="1250" b="1" dirty="0">
                <a:solidFill>
                  <a:srgbClr val="334155"/>
                </a:solidFill>
                <a:latin typeface="Arial" pitchFamily="34" charset="0"/>
                <a:ea typeface="Arial" pitchFamily="34" charset="-122"/>
                <a:cs typeface="Arial" pitchFamily="34" charset="-120"/>
              </a:rPr>
              <a:t>sad</a:t>
            </a:r>
            <a:endParaRPr lang="en-US" sz="1250" dirty="0"/>
          </a:p>
        </p:txBody>
      </p:sp>
      <p:sp>
        <p:nvSpPr>
          <p:cNvPr id="29" name="Shape 23"/>
          <p:cNvSpPr/>
          <p:nvPr/>
        </p:nvSpPr>
        <p:spPr>
          <a:xfrm>
            <a:off x="5468112" y="3858768"/>
            <a:ext cx="4297680" cy="164592"/>
          </a:xfrm>
          <a:prstGeom prst="roundRect">
            <a:avLst>
              <a:gd name="adj" fmla="val 16667"/>
            </a:avLst>
          </a:prstGeom>
          <a:solidFill>
            <a:srgbClr val="F1F5F9"/>
          </a:solidFill>
          <a:ln w="12700">
            <a:solidFill>
              <a:srgbClr val="F1F5F9"/>
            </a:solidFill>
            <a:prstDash val="solid"/>
          </a:ln>
        </p:spPr>
      </p:sp>
      <p:sp>
        <p:nvSpPr>
          <p:cNvPr id="30" name="Shape 24"/>
          <p:cNvSpPr/>
          <p:nvPr/>
        </p:nvSpPr>
        <p:spPr>
          <a:xfrm>
            <a:off x="5468112" y="3858768"/>
            <a:ext cx="4297680" cy="164592"/>
          </a:xfrm>
          <a:prstGeom prst="roundRect">
            <a:avLst>
              <a:gd name="adj" fmla="val 16667"/>
            </a:avLst>
          </a:prstGeom>
          <a:solidFill>
            <a:srgbClr val="1D4ED8"/>
          </a:solidFill>
          <a:ln w="12700">
            <a:solidFill>
              <a:srgbClr val="1D4ED8"/>
            </a:solidFill>
            <a:prstDash val="solid"/>
          </a:ln>
        </p:spPr>
      </p:sp>
      <p:sp>
        <p:nvSpPr>
          <p:cNvPr id="31" name="Text 25"/>
          <p:cNvSpPr txBox="1"/>
          <p:nvPr/>
        </p:nvSpPr>
        <p:spPr>
          <a:xfrm>
            <a:off x="9966960" y="3785616"/>
            <a:ext cx="585216" cy="310896"/>
          </a:xfrm>
          <a:prstGeom prst="rect">
            <a:avLst/>
          </a:prstGeom>
          <a:noFill/>
          <a:ln/>
        </p:spPr>
        <p:txBody>
          <a:bodyPr wrap="square" lIns="0" tIns="0" rIns="0" bIns="0" rtlCol="0" anchor="ctr">
            <a:normAutofit/>
          </a:bodyPr>
          <a:lstStyle/>
          <a:p>
            <a:pPr marL="0" indent="0" algn="r">
              <a:buNone/>
            </a:pPr>
            <a:r>
              <a:rPr lang="en-US" sz="1250" b="1" dirty="0">
                <a:solidFill>
                  <a:srgbClr val="1D4ED8"/>
                </a:solidFill>
                <a:latin typeface="Arial" pitchFamily="34" charset="0"/>
                <a:ea typeface="Arial" pitchFamily="34" charset="-122"/>
                <a:cs typeface="Arial" pitchFamily="34" charset="-120"/>
              </a:rPr>
              <a:t>100</a:t>
            </a:r>
            <a:endParaRPr lang="en-US" sz="1250" dirty="0"/>
          </a:p>
        </p:txBody>
      </p:sp>
      <p:pic>
        <p:nvPicPr>
          <p:cNvPr id="3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05072" y="4498848"/>
            <a:ext cx="256032" cy="256032"/>
          </a:xfrm>
          <a:prstGeom prst="rect">
            <a:avLst/>
          </a:prstGeom>
        </p:spPr>
      </p:pic>
      <p:sp>
        <p:nvSpPr>
          <p:cNvPr id="33" name="Text 26"/>
          <p:cNvSpPr txBox="1"/>
          <p:nvPr/>
        </p:nvSpPr>
        <p:spPr>
          <a:xfrm>
            <a:off x="4389120" y="4480560"/>
            <a:ext cx="1024128" cy="310896"/>
          </a:xfrm>
          <a:prstGeom prst="rect">
            <a:avLst/>
          </a:prstGeom>
          <a:noFill/>
          <a:ln/>
        </p:spPr>
        <p:txBody>
          <a:bodyPr wrap="square" lIns="0" tIns="0" rIns="0" bIns="0" rtlCol="0" anchor="ctr">
            <a:normAutofit/>
          </a:bodyPr>
          <a:lstStyle/>
          <a:p>
            <a:pPr marL="0" indent="0" algn="l">
              <a:buNone/>
            </a:pPr>
            <a:r>
              <a:rPr lang="en-US" sz="1250" b="1" dirty="0">
                <a:solidFill>
                  <a:srgbClr val="334155"/>
                </a:solidFill>
                <a:latin typeface="Arial" pitchFamily="34" charset="0"/>
                <a:ea typeface="Arial" pitchFamily="34" charset="-122"/>
                <a:cs typeface="Arial" pitchFamily="34" charset="-120"/>
              </a:rPr>
              <a:t>angry</a:t>
            </a:r>
            <a:endParaRPr lang="en-US" sz="1250" dirty="0"/>
          </a:p>
        </p:txBody>
      </p:sp>
      <p:sp>
        <p:nvSpPr>
          <p:cNvPr id="34" name="Shape 27"/>
          <p:cNvSpPr/>
          <p:nvPr/>
        </p:nvSpPr>
        <p:spPr>
          <a:xfrm>
            <a:off x="5468112" y="4553712"/>
            <a:ext cx="4297680" cy="164592"/>
          </a:xfrm>
          <a:prstGeom prst="roundRect">
            <a:avLst>
              <a:gd name="adj" fmla="val 16667"/>
            </a:avLst>
          </a:prstGeom>
          <a:solidFill>
            <a:srgbClr val="F1F5F9"/>
          </a:solidFill>
          <a:ln w="12700">
            <a:solidFill>
              <a:srgbClr val="F1F5F9"/>
            </a:solidFill>
            <a:prstDash val="solid"/>
          </a:ln>
        </p:spPr>
      </p:sp>
      <p:sp>
        <p:nvSpPr>
          <p:cNvPr id="35" name="Shape 28"/>
          <p:cNvSpPr/>
          <p:nvPr/>
        </p:nvSpPr>
        <p:spPr>
          <a:xfrm>
            <a:off x="5468112" y="4553712"/>
            <a:ext cx="4297680" cy="164592"/>
          </a:xfrm>
          <a:prstGeom prst="roundRect">
            <a:avLst>
              <a:gd name="adj" fmla="val 16667"/>
            </a:avLst>
          </a:prstGeom>
          <a:solidFill>
            <a:srgbClr val="B91C1C"/>
          </a:solidFill>
          <a:ln w="12700">
            <a:solidFill>
              <a:srgbClr val="B91C1C"/>
            </a:solidFill>
            <a:prstDash val="solid"/>
          </a:ln>
        </p:spPr>
      </p:sp>
      <p:sp>
        <p:nvSpPr>
          <p:cNvPr id="36" name="Text 29"/>
          <p:cNvSpPr txBox="1"/>
          <p:nvPr/>
        </p:nvSpPr>
        <p:spPr>
          <a:xfrm>
            <a:off x="9966960" y="4480560"/>
            <a:ext cx="585216" cy="310896"/>
          </a:xfrm>
          <a:prstGeom prst="rect">
            <a:avLst/>
          </a:prstGeom>
          <a:noFill/>
          <a:ln/>
        </p:spPr>
        <p:txBody>
          <a:bodyPr wrap="square" lIns="0" tIns="0" rIns="0" bIns="0" rtlCol="0" anchor="ctr">
            <a:normAutofit/>
          </a:bodyPr>
          <a:lstStyle/>
          <a:p>
            <a:pPr marL="0" indent="0" algn="r">
              <a:buNone/>
            </a:pPr>
            <a:r>
              <a:rPr lang="en-US" sz="1250" b="1" dirty="0">
                <a:solidFill>
                  <a:srgbClr val="B91C1C"/>
                </a:solidFill>
                <a:latin typeface="Arial" pitchFamily="34" charset="0"/>
                <a:ea typeface="Arial" pitchFamily="34" charset="-122"/>
                <a:cs typeface="Arial" pitchFamily="34" charset="-120"/>
              </a:rPr>
              <a:t>100</a:t>
            </a:r>
            <a:endParaRPr lang="en-US" sz="1250" dirty="0"/>
          </a:p>
        </p:txBody>
      </p:sp>
      <p:sp>
        <p:nvSpPr>
          <p:cNvPr id="37" name="Shape 30"/>
          <p:cNvSpPr/>
          <p:nvPr/>
        </p:nvSpPr>
        <p:spPr>
          <a:xfrm>
            <a:off x="3931920" y="5303520"/>
            <a:ext cx="7708392" cy="694944"/>
          </a:xfrm>
          <a:prstGeom prst="roundRect">
            <a:avLst>
              <a:gd name="adj" fmla="val 5263"/>
            </a:avLst>
          </a:prstGeom>
          <a:solidFill>
            <a:srgbClr val="DBEAFE"/>
          </a:solidFill>
          <a:ln w="12700">
            <a:solidFill>
              <a:srgbClr val="DBEAFE"/>
            </a:solidFill>
            <a:prstDash val="solid"/>
          </a:ln>
        </p:spPr>
      </p:sp>
      <p:sp>
        <p:nvSpPr>
          <p:cNvPr id="38" name="Text 31"/>
          <p:cNvSpPr txBox="1"/>
          <p:nvPr/>
        </p:nvSpPr>
        <p:spPr>
          <a:xfrm>
            <a:off x="4206240" y="5394960"/>
            <a:ext cx="7159752" cy="457200"/>
          </a:xfrm>
          <a:prstGeom prst="rect">
            <a:avLst/>
          </a:prstGeom>
          <a:noFill/>
          <a:ln/>
        </p:spPr>
        <p:txBody>
          <a:bodyPr wrap="square" lIns="0" tIns="0" rIns="0" bIns="0" rtlCol="0" anchor="ctr">
            <a:normAutofit/>
          </a:bodyPr>
          <a:lstStyle/>
          <a:p>
            <a:pPr marL="0" indent="0" algn="ctr">
              <a:buNone/>
            </a:pPr>
            <a:r>
              <a:rPr lang="en-US" sz="1200" b="1" dirty="0">
                <a:solidFill>
                  <a:srgbClr val="1D4ED8"/>
                </a:solidFill>
                <a:latin typeface="Arial" pitchFamily="34" charset="0"/>
                <a:ea typeface="Arial" pitchFamily="34" charset="-122"/>
                <a:cs typeface="Arial" pitchFamily="34" charset="-120"/>
              </a:rPr>
              <a:t>Balanced subset giúp accuracy và macro-F1 dễ so sánh, nhưng chưa thay thế full cross-validation.</a:t>
            </a:r>
            <a:endParaRPr lang="en-US" sz="1200" dirty="0"/>
          </a:p>
        </p:txBody>
      </p:sp>
      <p:sp>
        <p:nvSpPr>
          <p:cNvPr id="39" name="Shape 32"/>
          <p:cNvSpPr/>
          <p:nvPr/>
        </p:nvSpPr>
        <p:spPr>
          <a:xfrm>
            <a:off x="530352" y="6382512"/>
            <a:ext cx="11128248" cy="0"/>
          </a:xfrm>
          <a:prstGeom prst="line">
            <a:avLst/>
          </a:prstGeom>
          <a:noFill/>
          <a:ln w="10160">
            <a:solidFill>
              <a:srgbClr val="E2E8F0"/>
            </a:solidFill>
            <a:prstDash val="solid"/>
          </a:ln>
        </p:spPr>
      </p:sp>
      <p:sp>
        <p:nvSpPr>
          <p:cNvPr id="40" name="Text 33"/>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docs/BENCHMARK.md • benchmark subset 400 clips, stratified/balanced, fixed seed=0.</a:t>
            </a:r>
            <a:endParaRPr lang="en-US" sz="850" dirty="0"/>
          </a:p>
        </p:txBody>
      </p:sp>
      <p:sp>
        <p:nvSpPr>
          <p:cNvPr id="41"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07  /  MÔ HÌNH</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MERaLiON kết hợp ba nguồn tín hiệu</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Whisper-Medium và ECAPA-TDNN frozen; LoRA thích nghi cho SER.</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37360"/>
            <a:ext cx="7406640" cy="4425696"/>
          </a:xfrm>
          <a:prstGeom prst="roundRect">
            <a:avLst>
              <a:gd name="adj" fmla="val 1033"/>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932688" y="2048256"/>
            <a:ext cx="2834640" cy="1060704"/>
          </a:xfrm>
          <a:prstGeom prst="roundRect">
            <a:avLst>
              <a:gd name="adj" fmla="val 3448"/>
            </a:avLst>
          </a:prstGeom>
          <a:solidFill>
            <a:srgbClr val="DBEAFE"/>
          </a:solidFill>
          <a:ln w="12700">
            <a:solidFill>
              <a:srgbClr val="1D4ED8"/>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2304288"/>
            <a:ext cx="402336" cy="402336"/>
          </a:xfrm>
          <a:prstGeom prst="rect">
            <a:avLst/>
          </a:prstGeom>
        </p:spPr>
      </p:pic>
      <p:sp>
        <p:nvSpPr>
          <p:cNvPr id="10" name="Text 7"/>
          <p:cNvSpPr txBox="1"/>
          <p:nvPr/>
        </p:nvSpPr>
        <p:spPr>
          <a:xfrm>
            <a:off x="1719072" y="2176272"/>
            <a:ext cx="1755648" cy="329184"/>
          </a:xfrm>
          <a:prstGeom prst="rect">
            <a:avLst/>
          </a:prstGeom>
          <a:noFill/>
          <a:ln/>
        </p:spPr>
        <p:txBody>
          <a:bodyPr wrap="square" lIns="0" tIns="0" rIns="0" bIns="0" rtlCol="0" anchor="ctr">
            <a:normAutofit/>
          </a:bodyPr>
          <a:lstStyle/>
          <a:p>
            <a:pPr marL="0" indent="0" algn="l">
              <a:buNone/>
            </a:pPr>
            <a:r>
              <a:rPr lang="en-US" sz="1350" b="1" dirty="0">
                <a:solidFill>
                  <a:srgbClr val="0F172A"/>
                </a:solidFill>
                <a:latin typeface="Arial" pitchFamily="34" charset="0"/>
                <a:ea typeface="Arial" pitchFamily="34" charset="-122"/>
                <a:cs typeface="Arial" pitchFamily="34" charset="-120"/>
              </a:rPr>
              <a:t>Whisper-Medium encoder</a:t>
            </a:r>
            <a:endParaRPr lang="en-US" sz="1350" dirty="0"/>
          </a:p>
        </p:txBody>
      </p:sp>
      <p:sp>
        <p:nvSpPr>
          <p:cNvPr id="11" name="Text 8"/>
          <p:cNvSpPr txBox="1"/>
          <p:nvPr/>
        </p:nvSpPr>
        <p:spPr>
          <a:xfrm>
            <a:off x="1719072" y="2523744"/>
            <a:ext cx="1737360" cy="256032"/>
          </a:xfrm>
          <a:prstGeom prst="rect">
            <a:avLst/>
          </a:prstGeom>
          <a:noFill/>
          <a:ln/>
        </p:spPr>
        <p:txBody>
          <a:bodyPr wrap="square" lIns="0" tIns="0" rIns="0" bIns="0" rtlCol="0" anchor="ctr">
            <a:normAutofit/>
          </a:bodyPr>
          <a:lstStyle/>
          <a:p>
            <a:pPr marL="0" indent="0" algn="l">
              <a:buNone/>
            </a:pPr>
            <a:r>
              <a:rPr lang="en-US" sz="1050" dirty="0">
                <a:solidFill>
                  <a:srgbClr val="1D4ED8"/>
                </a:solidFill>
                <a:latin typeface="Arial" pitchFamily="34" charset="0"/>
                <a:ea typeface="Arial" pitchFamily="34" charset="-122"/>
                <a:cs typeface="Arial" pitchFamily="34" charset="-120"/>
              </a:rPr>
              <a:t>309M params • frozen</a:t>
            </a:r>
            <a:endParaRPr lang="en-US" sz="1050" dirty="0"/>
          </a:p>
        </p:txBody>
      </p:sp>
      <p:sp>
        <p:nvSpPr>
          <p:cNvPr id="12" name="Shape 9"/>
          <p:cNvSpPr/>
          <p:nvPr/>
        </p:nvSpPr>
        <p:spPr>
          <a:xfrm>
            <a:off x="4718304" y="2048256"/>
            <a:ext cx="2834640" cy="1060704"/>
          </a:xfrm>
          <a:prstGeom prst="roundRect">
            <a:avLst>
              <a:gd name="adj" fmla="val 3448"/>
            </a:avLst>
          </a:prstGeom>
          <a:solidFill>
            <a:srgbClr val="CCFBF1"/>
          </a:solidFill>
          <a:ln w="12700">
            <a:solidFill>
              <a:srgbClr val="0F766E"/>
            </a:solidFill>
            <a:prstDash val="solid"/>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56048" y="2304288"/>
            <a:ext cx="402336" cy="402336"/>
          </a:xfrm>
          <a:prstGeom prst="rect">
            <a:avLst/>
          </a:prstGeom>
        </p:spPr>
      </p:pic>
      <p:sp>
        <p:nvSpPr>
          <p:cNvPr id="14" name="Text 10"/>
          <p:cNvSpPr txBox="1"/>
          <p:nvPr/>
        </p:nvSpPr>
        <p:spPr>
          <a:xfrm>
            <a:off x="5504688" y="2176272"/>
            <a:ext cx="1755648" cy="329184"/>
          </a:xfrm>
          <a:prstGeom prst="rect">
            <a:avLst/>
          </a:prstGeom>
          <a:noFill/>
          <a:ln/>
        </p:spPr>
        <p:txBody>
          <a:bodyPr wrap="square" lIns="0" tIns="0" rIns="0" bIns="0" rtlCol="0" anchor="ctr">
            <a:normAutofit/>
          </a:bodyPr>
          <a:lstStyle/>
          <a:p>
            <a:pPr marL="0" indent="0" algn="l">
              <a:buNone/>
            </a:pPr>
            <a:r>
              <a:rPr lang="en-US" sz="1350" b="1" dirty="0">
                <a:solidFill>
                  <a:srgbClr val="0F172A"/>
                </a:solidFill>
                <a:latin typeface="Arial" pitchFamily="34" charset="0"/>
                <a:ea typeface="Arial" pitchFamily="34" charset="-122"/>
                <a:cs typeface="Arial" pitchFamily="34" charset="-120"/>
              </a:rPr>
              <a:t>ECAPA-TDNN</a:t>
            </a:r>
            <a:endParaRPr lang="en-US" sz="1350" dirty="0"/>
          </a:p>
        </p:txBody>
      </p:sp>
      <p:sp>
        <p:nvSpPr>
          <p:cNvPr id="15" name="Text 11"/>
          <p:cNvSpPr txBox="1"/>
          <p:nvPr/>
        </p:nvSpPr>
        <p:spPr>
          <a:xfrm>
            <a:off x="5504688" y="2523744"/>
            <a:ext cx="1737360" cy="256032"/>
          </a:xfrm>
          <a:prstGeom prst="rect">
            <a:avLst/>
          </a:prstGeom>
          <a:noFill/>
          <a:ln/>
        </p:spPr>
        <p:txBody>
          <a:bodyPr wrap="square" lIns="0" tIns="0" rIns="0" bIns="0" rtlCol="0" anchor="ctr">
            <a:normAutofit/>
          </a:bodyPr>
          <a:lstStyle/>
          <a:p>
            <a:pPr marL="0" indent="0" algn="l">
              <a:buNone/>
            </a:pPr>
            <a:r>
              <a:rPr lang="en-US" sz="1050" dirty="0">
                <a:solidFill>
                  <a:srgbClr val="0F766E"/>
                </a:solidFill>
                <a:latin typeface="Arial" pitchFamily="34" charset="0"/>
                <a:ea typeface="Arial" pitchFamily="34" charset="-122"/>
                <a:cs typeface="Arial" pitchFamily="34" charset="-120"/>
              </a:rPr>
              <a:t>speaker embedding • frozen</a:t>
            </a:r>
            <a:endParaRPr lang="en-US" sz="1050" dirty="0"/>
          </a:p>
        </p:txBody>
      </p:sp>
      <p:sp>
        <p:nvSpPr>
          <p:cNvPr id="16" name="Shape 12"/>
          <p:cNvSpPr/>
          <p:nvPr/>
        </p:nvSpPr>
        <p:spPr>
          <a:xfrm>
            <a:off x="2359152" y="3145536"/>
            <a:ext cx="1078992" cy="640080"/>
          </a:xfrm>
          <a:prstGeom prst="line">
            <a:avLst/>
          </a:prstGeom>
          <a:noFill/>
          <a:ln w="20320">
            <a:solidFill>
              <a:srgbClr val="334155"/>
            </a:solidFill>
            <a:prstDash val="solid"/>
            <a:tailEnd type="triangle"/>
          </a:ln>
        </p:spPr>
      </p:sp>
      <p:sp>
        <p:nvSpPr>
          <p:cNvPr id="17" name="Shape 13"/>
          <p:cNvSpPr/>
          <p:nvPr/>
        </p:nvSpPr>
        <p:spPr>
          <a:xfrm>
            <a:off x="6126480" y="3145536"/>
            <a:ext cx="0" cy="640080"/>
          </a:xfrm>
          <a:prstGeom prst="line">
            <a:avLst/>
          </a:prstGeom>
          <a:noFill/>
          <a:ln w="20320">
            <a:solidFill>
              <a:srgbClr val="334155"/>
            </a:solidFill>
            <a:prstDash val="solid"/>
            <a:tailEnd type="triangle"/>
          </a:ln>
        </p:spPr>
      </p:sp>
      <p:sp>
        <p:nvSpPr>
          <p:cNvPr id="18" name="Shape 14"/>
          <p:cNvSpPr/>
          <p:nvPr/>
        </p:nvSpPr>
        <p:spPr>
          <a:xfrm>
            <a:off x="3054096" y="3694176"/>
            <a:ext cx="2432304" cy="859536"/>
          </a:xfrm>
          <a:prstGeom prst="roundRect">
            <a:avLst>
              <a:gd name="adj" fmla="val 4255"/>
            </a:avLst>
          </a:prstGeom>
          <a:solidFill>
            <a:srgbClr val="DCFCE7"/>
          </a:solidFill>
          <a:ln w="12700">
            <a:solidFill>
              <a:srgbClr val="15803D"/>
            </a:solidFill>
            <a:prstDash val="solid"/>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73552" y="3913632"/>
            <a:ext cx="347472" cy="347472"/>
          </a:xfrm>
          <a:prstGeom prst="rect">
            <a:avLst/>
          </a:prstGeom>
        </p:spPr>
      </p:pic>
      <p:sp>
        <p:nvSpPr>
          <p:cNvPr id="20" name="Text 15"/>
          <p:cNvSpPr txBox="1"/>
          <p:nvPr/>
        </p:nvSpPr>
        <p:spPr>
          <a:xfrm>
            <a:off x="3749040" y="3803904"/>
            <a:ext cx="1408176" cy="274320"/>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LoRA adapters</a:t>
            </a:r>
            <a:endParaRPr lang="en-US" sz="1300" dirty="0"/>
          </a:p>
        </p:txBody>
      </p:sp>
      <p:sp>
        <p:nvSpPr>
          <p:cNvPr id="21" name="Text 16"/>
          <p:cNvSpPr txBox="1"/>
          <p:nvPr/>
        </p:nvSpPr>
        <p:spPr>
          <a:xfrm>
            <a:off x="3749040" y="4096512"/>
            <a:ext cx="1408176" cy="219456"/>
          </a:xfrm>
          <a:prstGeom prst="rect">
            <a:avLst/>
          </a:prstGeom>
          <a:noFill/>
          <a:ln/>
        </p:spPr>
        <p:txBody>
          <a:bodyPr wrap="square" lIns="0" tIns="0" rIns="0" bIns="0" rtlCol="0" anchor="ctr">
            <a:normAutofit/>
          </a:bodyPr>
          <a:lstStyle/>
          <a:p>
            <a:pPr marL="0" indent="0" algn="l">
              <a:buNone/>
            </a:pPr>
            <a:r>
              <a:rPr lang="en-US" sz="950" dirty="0">
                <a:solidFill>
                  <a:srgbClr val="15803D"/>
                </a:solidFill>
                <a:latin typeface="Arial" pitchFamily="34" charset="0"/>
                <a:ea typeface="Arial" pitchFamily="34" charset="-122"/>
                <a:cs typeface="Arial" pitchFamily="34" charset="-120"/>
              </a:rPr>
              <a:t>~5M trainable params</a:t>
            </a:r>
            <a:endParaRPr lang="en-US" sz="950" dirty="0"/>
          </a:p>
        </p:txBody>
      </p:sp>
      <p:sp>
        <p:nvSpPr>
          <p:cNvPr id="22" name="Shape 17"/>
          <p:cNvSpPr/>
          <p:nvPr/>
        </p:nvSpPr>
        <p:spPr>
          <a:xfrm>
            <a:off x="4270248" y="4572000"/>
            <a:ext cx="0" cy="493776"/>
          </a:xfrm>
          <a:prstGeom prst="line">
            <a:avLst/>
          </a:prstGeom>
          <a:noFill/>
          <a:ln w="20320">
            <a:solidFill>
              <a:srgbClr val="334155"/>
            </a:solidFill>
            <a:prstDash val="solid"/>
            <a:tailEnd type="triangle"/>
          </a:ln>
        </p:spPr>
      </p:sp>
      <p:sp>
        <p:nvSpPr>
          <p:cNvPr id="23" name="Shape 18"/>
          <p:cNvSpPr/>
          <p:nvPr/>
        </p:nvSpPr>
        <p:spPr>
          <a:xfrm>
            <a:off x="3054096" y="5084064"/>
            <a:ext cx="2432304" cy="713232"/>
          </a:xfrm>
          <a:prstGeom prst="roundRect">
            <a:avLst>
              <a:gd name="adj" fmla="val 5128"/>
            </a:avLst>
          </a:prstGeom>
          <a:solidFill>
            <a:srgbClr val="0F172A"/>
          </a:solidFill>
          <a:ln w="12700">
            <a:solidFill>
              <a:srgbClr val="0F172A"/>
            </a:solidFill>
            <a:prstDash val="solid"/>
          </a:ln>
        </p:spPr>
      </p:sp>
      <p:sp>
        <p:nvSpPr>
          <p:cNvPr id="24" name="Text 19"/>
          <p:cNvSpPr txBox="1"/>
          <p:nvPr/>
        </p:nvSpPr>
        <p:spPr>
          <a:xfrm>
            <a:off x="3310128" y="5239512"/>
            <a:ext cx="192024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Classifier  →  7 logits</a:t>
            </a:r>
            <a:endParaRPr lang="en-US" sz="1300" dirty="0"/>
          </a:p>
        </p:txBody>
      </p:sp>
      <p:sp>
        <p:nvSpPr>
          <p:cNvPr id="25" name="Shape 20"/>
          <p:cNvSpPr/>
          <p:nvPr/>
        </p:nvSpPr>
        <p:spPr>
          <a:xfrm>
            <a:off x="8247888" y="1737360"/>
            <a:ext cx="3392424" cy="4425696"/>
          </a:xfrm>
          <a:prstGeom prst="roundRect">
            <a:avLst>
              <a:gd name="adj" fmla="val 1348"/>
            </a:avLst>
          </a:prstGeom>
          <a:solidFill>
            <a:srgbClr val="0F172A"/>
          </a:solidFill>
          <a:ln w="12700">
            <a:solidFill>
              <a:srgbClr val="0F172A"/>
            </a:solidFill>
            <a:prstDash val="solid"/>
          </a:ln>
        </p:spPr>
      </p:sp>
      <p:sp>
        <p:nvSpPr>
          <p:cNvPr id="26" name="Text 21"/>
          <p:cNvSpPr txBox="1"/>
          <p:nvPr/>
        </p:nvSpPr>
        <p:spPr>
          <a:xfrm>
            <a:off x="8595360" y="2029968"/>
            <a:ext cx="2697480" cy="274320"/>
          </a:xfrm>
          <a:prstGeom prst="rect">
            <a:avLst/>
          </a:prstGeom>
          <a:noFill/>
          <a:ln/>
        </p:spPr>
        <p:txBody>
          <a:bodyPr wrap="square" lIns="0" tIns="0" rIns="0" bIns="0" rtlCol="0" anchor="ctr">
            <a:normAutofit/>
          </a:bodyPr>
          <a:lstStyle/>
          <a:p>
            <a:pPr marL="0" indent="0" algn="l">
              <a:buNone/>
            </a:pPr>
            <a:r>
              <a:rPr lang="en-US" sz="1100" b="1" dirty="0">
                <a:solidFill>
                  <a:srgbClr val="7DD3FC"/>
                </a:solidFill>
                <a:latin typeface="Arial" pitchFamily="34" charset="0"/>
                <a:ea typeface="Arial" pitchFamily="34" charset="-122"/>
                <a:cs typeface="Arial" pitchFamily="34" charset="-120"/>
              </a:rPr>
              <a:t>7 RAW LABELS</a:t>
            </a:r>
            <a:endParaRPr lang="en-US" sz="1100" dirty="0"/>
          </a:p>
        </p:txBody>
      </p:sp>
      <p:sp>
        <p:nvSpPr>
          <p:cNvPr id="27" name="Shape 22"/>
          <p:cNvSpPr/>
          <p:nvPr/>
        </p:nvSpPr>
        <p:spPr>
          <a:xfrm>
            <a:off x="8613648" y="2606040"/>
            <a:ext cx="109728" cy="109728"/>
          </a:xfrm>
          <a:prstGeom prst="ellipse">
            <a:avLst/>
          </a:prstGeom>
          <a:solidFill>
            <a:srgbClr val="334155"/>
          </a:solidFill>
          <a:ln w="12700">
            <a:solidFill>
              <a:srgbClr val="334155"/>
            </a:solidFill>
            <a:prstDash val="solid"/>
          </a:ln>
        </p:spPr>
      </p:sp>
      <p:sp>
        <p:nvSpPr>
          <p:cNvPr id="28" name="Text 23"/>
          <p:cNvSpPr txBox="1"/>
          <p:nvPr/>
        </p:nvSpPr>
        <p:spPr>
          <a:xfrm>
            <a:off x="8887968" y="2523744"/>
            <a:ext cx="1133856" cy="274320"/>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Arial" pitchFamily="34" charset="0"/>
                <a:ea typeface="Arial" pitchFamily="34" charset="-122"/>
                <a:cs typeface="Arial" pitchFamily="34" charset="-120"/>
              </a:rPr>
              <a:t>neutral</a:t>
            </a:r>
            <a:endParaRPr lang="en-US" sz="1150" dirty="0"/>
          </a:p>
        </p:txBody>
      </p:sp>
      <p:sp>
        <p:nvSpPr>
          <p:cNvPr id="29" name="Text 24"/>
          <p:cNvSpPr txBox="1"/>
          <p:nvPr/>
        </p:nvSpPr>
        <p:spPr>
          <a:xfrm>
            <a:off x="10241280" y="2523744"/>
            <a:ext cx="987552" cy="274320"/>
          </a:xfrm>
          <a:prstGeom prst="rect">
            <a:avLst/>
          </a:prstGeom>
          <a:noFill/>
          <a:ln/>
        </p:spPr>
        <p:txBody>
          <a:bodyPr wrap="square" lIns="0" tIns="0" rIns="0" bIns="0" rtlCol="0" anchor="ctr">
            <a:normAutofit/>
          </a:bodyPr>
          <a:lstStyle/>
          <a:p>
            <a:pPr marL="0" indent="0" algn="r">
              <a:buNone/>
            </a:pPr>
            <a:r>
              <a:rPr lang="en-US" sz="900" dirty="0">
                <a:solidFill>
                  <a:srgbClr val="BAE6FD"/>
                </a:solidFill>
                <a:latin typeface="Arial" pitchFamily="34" charset="0"/>
                <a:ea typeface="Arial" pitchFamily="34" charset="-122"/>
                <a:cs typeface="Arial" pitchFamily="34" charset="-120"/>
              </a:rPr>
              <a:t>ViSEC</a:t>
            </a:r>
            <a:endParaRPr lang="en-US" sz="900" dirty="0"/>
          </a:p>
        </p:txBody>
      </p:sp>
      <p:sp>
        <p:nvSpPr>
          <p:cNvPr id="30" name="Shape 25"/>
          <p:cNvSpPr/>
          <p:nvPr/>
        </p:nvSpPr>
        <p:spPr>
          <a:xfrm>
            <a:off x="8613648" y="3035808"/>
            <a:ext cx="109728" cy="109728"/>
          </a:xfrm>
          <a:prstGeom prst="ellipse">
            <a:avLst/>
          </a:prstGeom>
          <a:solidFill>
            <a:srgbClr val="B45309"/>
          </a:solidFill>
          <a:ln w="12700">
            <a:solidFill>
              <a:srgbClr val="B45309"/>
            </a:solidFill>
            <a:prstDash val="solid"/>
          </a:ln>
        </p:spPr>
      </p:sp>
      <p:sp>
        <p:nvSpPr>
          <p:cNvPr id="31" name="Text 26"/>
          <p:cNvSpPr txBox="1"/>
          <p:nvPr/>
        </p:nvSpPr>
        <p:spPr>
          <a:xfrm>
            <a:off x="8887968" y="2953512"/>
            <a:ext cx="1133856" cy="274320"/>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Arial" pitchFamily="34" charset="0"/>
                <a:ea typeface="Arial" pitchFamily="34" charset="-122"/>
                <a:cs typeface="Arial" pitchFamily="34" charset="-120"/>
              </a:rPr>
              <a:t>happy</a:t>
            </a:r>
            <a:endParaRPr lang="en-US" sz="1150" dirty="0"/>
          </a:p>
        </p:txBody>
      </p:sp>
      <p:sp>
        <p:nvSpPr>
          <p:cNvPr id="32" name="Text 27"/>
          <p:cNvSpPr txBox="1"/>
          <p:nvPr/>
        </p:nvSpPr>
        <p:spPr>
          <a:xfrm>
            <a:off x="10241280" y="2953512"/>
            <a:ext cx="987552" cy="274320"/>
          </a:xfrm>
          <a:prstGeom prst="rect">
            <a:avLst/>
          </a:prstGeom>
          <a:noFill/>
          <a:ln/>
        </p:spPr>
        <p:txBody>
          <a:bodyPr wrap="square" lIns="0" tIns="0" rIns="0" bIns="0" rtlCol="0" anchor="ctr">
            <a:normAutofit/>
          </a:bodyPr>
          <a:lstStyle/>
          <a:p>
            <a:pPr marL="0" indent="0" algn="r">
              <a:buNone/>
            </a:pPr>
            <a:r>
              <a:rPr lang="en-US" sz="900" dirty="0">
                <a:solidFill>
                  <a:srgbClr val="BAE6FD"/>
                </a:solidFill>
                <a:latin typeface="Arial" pitchFamily="34" charset="0"/>
                <a:ea typeface="Arial" pitchFamily="34" charset="-122"/>
                <a:cs typeface="Arial" pitchFamily="34" charset="-120"/>
              </a:rPr>
              <a:t>ViSEC</a:t>
            </a:r>
            <a:endParaRPr lang="en-US" sz="900" dirty="0"/>
          </a:p>
        </p:txBody>
      </p:sp>
      <p:sp>
        <p:nvSpPr>
          <p:cNvPr id="33" name="Shape 28"/>
          <p:cNvSpPr/>
          <p:nvPr/>
        </p:nvSpPr>
        <p:spPr>
          <a:xfrm>
            <a:off x="8613648" y="3465576"/>
            <a:ext cx="109728" cy="109728"/>
          </a:xfrm>
          <a:prstGeom prst="ellipse">
            <a:avLst/>
          </a:prstGeom>
          <a:solidFill>
            <a:srgbClr val="1D4ED8"/>
          </a:solidFill>
          <a:ln w="12700">
            <a:solidFill>
              <a:srgbClr val="1D4ED8"/>
            </a:solidFill>
            <a:prstDash val="solid"/>
          </a:ln>
        </p:spPr>
      </p:sp>
      <p:sp>
        <p:nvSpPr>
          <p:cNvPr id="34" name="Text 29"/>
          <p:cNvSpPr txBox="1"/>
          <p:nvPr/>
        </p:nvSpPr>
        <p:spPr>
          <a:xfrm>
            <a:off x="8887968" y="3383280"/>
            <a:ext cx="1133856" cy="274320"/>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Arial" pitchFamily="34" charset="0"/>
                <a:ea typeface="Arial" pitchFamily="34" charset="-122"/>
                <a:cs typeface="Arial" pitchFamily="34" charset="-120"/>
              </a:rPr>
              <a:t>sad</a:t>
            </a:r>
            <a:endParaRPr lang="en-US" sz="1150" dirty="0"/>
          </a:p>
        </p:txBody>
      </p:sp>
      <p:sp>
        <p:nvSpPr>
          <p:cNvPr id="35" name="Text 30"/>
          <p:cNvSpPr txBox="1"/>
          <p:nvPr/>
        </p:nvSpPr>
        <p:spPr>
          <a:xfrm>
            <a:off x="10241280" y="3383280"/>
            <a:ext cx="987552" cy="274320"/>
          </a:xfrm>
          <a:prstGeom prst="rect">
            <a:avLst/>
          </a:prstGeom>
          <a:noFill/>
          <a:ln/>
        </p:spPr>
        <p:txBody>
          <a:bodyPr wrap="square" lIns="0" tIns="0" rIns="0" bIns="0" rtlCol="0" anchor="ctr">
            <a:normAutofit/>
          </a:bodyPr>
          <a:lstStyle/>
          <a:p>
            <a:pPr marL="0" indent="0" algn="r">
              <a:buNone/>
            </a:pPr>
            <a:r>
              <a:rPr lang="en-US" sz="900" dirty="0">
                <a:solidFill>
                  <a:srgbClr val="BAE6FD"/>
                </a:solidFill>
                <a:latin typeface="Arial" pitchFamily="34" charset="0"/>
                <a:ea typeface="Arial" pitchFamily="34" charset="-122"/>
                <a:cs typeface="Arial" pitchFamily="34" charset="-120"/>
              </a:rPr>
              <a:t>ViSEC</a:t>
            </a:r>
            <a:endParaRPr lang="en-US" sz="900" dirty="0"/>
          </a:p>
        </p:txBody>
      </p:sp>
      <p:sp>
        <p:nvSpPr>
          <p:cNvPr id="36" name="Shape 31"/>
          <p:cNvSpPr/>
          <p:nvPr/>
        </p:nvSpPr>
        <p:spPr>
          <a:xfrm>
            <a:off x="8613648" y="3895344"/>
            <a:ext cx="109728" cy="109728"/>
          </a:xfrm>
          <a:prstGeom prst="ellipse">
            <a:avLst/>
          </a:prstGeom>
          <a:solidFill>
            <a:srgbClr val="B91C1C"/>
          </a:solidFill>
          <a:ln w="12700">
            <a:solidFill>
              <a:srgbClr val="B91C1C"/>
            </a:solidFill>
            <a:prstDash val="solid"/>
          </a:ln>
        </p:spPr>
      </p:sp>
      <p:sp>
        <p:nvSpPr>
          <p:cNvPr id="37" name="Text 32"/>
          <p:cNvSpPr txBox="1"/>
          <p:nvPr/>
        </p:nvSpPr>
        <p:spPr>
          <a:xfrm>
            <a:off x="8887968" y="3813048"/>
            <a:ext cx="1133856" cy="274320"/>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Arial" pitchFamily="34" charset="0"/>
                <a:ea typeface="Arial" pitchFamily="34" charset="-122"/>
                <a:cs typeface="Arial" pitchFamily="34" charset="-120"/>
              </a:rPr>
              <a:t>angry</a:t>
            </a:r>
            <a:endParaRPr lang="en-US" sz="1150" dirty="0"/>
          </a:p>
        </p:txBody>
      </p:sp>
      <p:sp>
        <p:nvSpPr>
          <p:cNvPr id="38" name="Text 33"/>
          <p:cNvSpPr txBox="1"/>
          <p:nvPr/>
        </p:nvSpPr>
        <p:spPr>
          <a:xfrm>
            <a:off x="10241280" y="3813048"/>
            <a:ext cx="987552" cy="274320"/>
          </a:xfrm>
          <a:prstGeom prst="rect">
            <a:avLst/>
          </a:prstGeom>
          <a:noFill/>
          <a:ln/>
        </p:spPr>
        <p:txBody>
          <a:bodyPr wrap="square" lIns="0" tIns="0" rIns="0" bIns="0" rtlCol="0" anchor="ctr">
            <a:normAutofit/>
          </a:bodyPr>
          <a:lstStyle/>
          <a:p>
            <a:pPr marL="0" indent="0" algn="r">
              <a:buNone/>
            </a:pPr>
            <a:r>
              <a:rPr lang="en-US" sz="900" dirty="0">
                <a:solidFill>
                  <a:srgbClr val="BAE6FD"/>
                </a:solidFill>
                <a:latin typeface="Arial" pitchFamily="34" charset="0"/>
                <a:ea typeface="Arial" pitchFamily="34" charset="-122"/>
                <a:cs typeface="Arial" pitchFamily="34" charset="-120"/>
              </a:rPr>
              <a:t>ViSEC</a:t>
            </a:r>
            <a:endParaRPr lang="en-US" sz="900" dirty="0"/>
          </a:p>
        </p:txBody>
      </p:sp>
      <p:sp>
        <p:nvSpPr>
          <p:cNvPr id="39" name="Shape 34"/>
          <p:cNvSpPr/>
          <p:nvPr/>
        </p:nvSpPr>
        <p:spPr>
          <a:xfrm>
            <a:off x="8613648" y="4325112"/>
            <a:ext cx="109728" cy="109728"/>
          </a:xfrm>
          <a:prstGeom prst="ellipse">
            <a:avLst/>
          </a:prstGeom>
          <a:solidFill>
            <a:srgbClr val="0F766E"/>
          </a:solidFill>
          <a:ln w="12700">
            <a:solidFill>
              <a:srgbClr val="0F766E"/>
            </a:solidFill>
            <a:prstDash val="solid"/>
          </a:ln>
        </p:spPr>
      </p:sp>
      <p:sp>
        <p:nvSpPr>
          <p:cNvPr id="40" name="Text 35"/>
          <p:cNvSpPr txBox="1"/>
          <p:nvPr/>
        </p:nvSpPr>
        <p:spPr>
          <a:xfrm>
            <a:off x="8887968" y="4242816"/>
            <a:ext cx="1133856" cy="274320"/>
          </a:xfrm>
          <a:prstGeom prst="rect">
            <a:avLst/>
          </a:prstGeom>
          <a:noFill/>
          <a:ln/>
        </p:spPr>
        <p:txBody>
          <a:bodyPr wrap="square" lIns="0" tIns="0" rIns="0" bIns="0" rtlCol="0" anchor="ctr">
            <a:normAutofit/>
          </a:bodyPr>
          <a:lstStyle/>
          <a:p>
            <a:pPr marL="0" indent="0" algn="l">
              <a:buNone/>
            </a:pPr>
            <a:r>
              <a:rPr lang="en-US" sz="1150" dirty="0">
                <a:solidFill>
                  <a:srgbClr val="FFFFFF"/>
                </a:solidFill>
                <a:latin typeface="Arial" pitchFamily="34" charset="0"/>
                <a:ea typeface="Arial" pitchFamily="34" charset="-122"/>
                <a:cs typeface="Arial" pitchFamily="34" charset="-120"/>
              </a:rPr>
              <a:t>fearful</a:t>
            </a:r>
            <a:endParaRPr lang="en-US" sz="1150" dirty="0"/>
          </a:p>
        </p:txBody>
      </p:sp>
      <p:sp>
        <p:nvSpPr>
          <p:cNvPr id="41" name="Text 36"/>
          <p:cNvSpPr txBox="1"/>
          <p:nvPr/>
        </p:nvSpPr>
        <p:spPr>
          <a:xfrm>
            <a:off x="10241280" y="4242816"/>
            <a:ext cx="987552" cy="274320"/>
          </a:xfrm>
          <a:prstGeom prst="rect">
            <a:avLst/>
          </a:prstGeom>
          <a:noFill/>
          <a:ln/>
        </p:spPr>
        <p:txBody>
          <a:bodyPr wrap="square" lIns="0" tIns="0" rIns="0" bIns="0" rtlCol="0" anchor="ctr">
            <a:normAutofit/>
          </a:bodyPr>
          <a:lstStyle/>
          <a:p>
            <a:pPr marL="0" indent="0" algn="r">
              <a:buNone/>
            </a:pPr>
            <a:r>
              <a:rPr lang="en-US" sz="900" dirty="0">
                <a:solidFill>
                  <a:srgbClr val="94A3B8"/>
                </a:solidFill>
                <a:latin typeface="Arial" pitchFamily="34" charset="0"/>
                <a:ea typeface="Arial" pitchFamily="34" charset="-122"/>
                <a:cs typeface="Arial" pitchFamily="34" charset="-120"/>
              </a:rPr>
              <a:t>ngoài ViSEC</a:t>
            </a:r>
            <a:endParaRPr lang="en-US" sz="900" dirty="0"/>
          </a:p>
        </p:txBody>
      </p:sp>
      <p:sp>
        <p:nvSpPr>
          <p:cNvPr id="42" name="Shape 37"/>
          <p:cNvSpPr/>
          <p:nvPr/>
        </p:nvSpPr>
        <p:spPr>
          <a:xfrm>
            <a:off x="8613648" y="4754880"/>
            <a:ext cx="109728" cy="109728"/>
          </a:xfrm>
          <a:prstGeom prst="ellipse">
            <a:avLst/>
          </a:prstGeom>
          <a:solidFill>
            <a:srgbClr val="15803D"/>
          </a:solidFill>
          <a:ln w="12700">
            <a:solidFill>
              <a:srgbClr val="15803D"/>
            </a:solidFill>
            <a:prstDash val="solid"/>
          </a:ln>
        </p:spPr>
      </p:sp>
      <p:sp>
        <p:nvSpPr>
          <p:cNvPr id="43" name="Text 38"/>
          <p:cNvSpPr txBox="1"/>
          <p:nvPr/>
        </p:nvSpPr>
        <p:spPr>
          <a:xfrm>
            <a:off x="8887968" y="4672584"/>
            <a:ext cx="1133856" cy="274320"/>
          </a:xfrm>
          <a:prstGeom prst="rect">
            <a:avLst/>
          </a:prstGeom>
          <a:noFill/>
          <a:ln/>
        </p:spPr>
        <p:txBody>
          <a:bodyPr wrap="square" lIns="0" tIns="0" rIns="0" bIns="0" rtlCol="0" anchor="ctr">
            <a:normAutofit/>
          </a:bodyPr>
          <a:lstStyle/>
          <a:p>
            <a:pPr marL="0" indent="0" algn="l">
              <a:buNone/>
            </a:pPr>
            <a:r>
              <a:rPr lang="en-US" sz="1150" dirty="0">
                <a:solidFill>
                  <a:srgbClr val="FFFFFF"/>
                </a:solidFill>
                <a:latin typeface="Arial" pitchFamily="34" charset="0"/>
                <a:ea typeface="Arial" pitchFamily="34" charset="-122"/>
                <a:cs typeface="Arial" pitchFamily="34" charset="-120"/>
              </a:rPr>
              <a:t>disgusted</a:t>
            </a:r>
            <a:endParaRPr lang="en-US" sz="1150" dirty="0"/>
          </a:p>
        </p:txBody>
      </p:sp>
      <p:sp>
        <p:nvSpPr>
          <p:cNvPr id="44" name="Text 39"/>
          <p:cNvSpPr txBox="1"/>
          <p:nvPr/>
        </p:nvSpPr>
        <p:spPr>
          <a:xfrm>
            <a:off x="10241280" y="4672584"/>
            <a:ext cx="987552" cy="274320"/>
          </a:xfrm>
          <a:prstGeom prst="rect">
            <a:avLst/>
          </a:prstGeom>
          <a:noFill/>
          <a:ln/>
        </p:spPr>
        <p:txBody>
          <a:bodyPr wrap="square" lIns="0" tIns="0" rIns="0" bIns="0" rtlCol="0" anchor="ctr">
            <a:normAutofit/>
          </a:bodyPr>
          <a:lstStyle/>
          <a:p>
            <a:pPr marL="0" indent="0" algn="r">
              <a:buNone/>
            </a:pPr>
            <a:r>
              <a:rPr lang="en-US" sz="900" dirty="0">
                <a:solidFill>
                  <a:srgbClr val="94A3B8"/>
                </a:solidFill>
                <a:latin typeface="Arial" pitchFamily="34" charset="0"/>
                <a:ea typeface="Arial" pitchFamily="34" charset="-122"/>
                <a:cs typeface="Arial" pitchFamily="34" charset="-120"/>
              </a:rPr>
              <a:t>ngoài ViSEC</a:t>
            </a:r>
            <a:endParaRPr lang="en-US" sz="900" dirty="0"/>
          </a:p>
        </p:txBody>
      </p:sp>
      <p:sp>
        <p:nvSpPr>
          <p:cNvPr id="45" name="Shape 40"/>
          <p:cNvSpPr/>
          <p:nvPr/>
        </p:nvSpPr>
        <p:spPr>
          <a:xfrm>
            <a:off x="8613648" y="5184648"/>
            <a:ext cx="109728" cy="109728"/>
          </a:xfrm>
          <a:prstGeom prst="ellipse">
            <a:avLst/>
          </a:prstGeom>
          <a:solidFill>
            <a:srgbClr val="7C3AED"/>
          </a:solidFill>
          <a:ln w="12700">
            <a:solidFill>
              <a:srgbClr val="7C3AED"/>
            </a:solidFill>
            <a:prstDash val="solid"/>
          </a:ln>
        </p:spPr>
      </p:sp>
      <p:sp>
        <p:nvSpPr>
          <p:cNvPr id="46" name="Text 41"/>
          <p:cNvSpPr txBox="1"/>
          <p:nvPr/>
        </p:nvSpPr>
        <p:spPr>
          <a:xfrm>
            <a:off x="8887968" y="5102352"/>
            <a:ext cx="1133856" cy="274320"/>
          </a:xfrm>
          <a:prstGeom prst="rect">
            <a:avLst/>
          </a:prstGeom>
          <a:noFill/>
          <a:ln/>
        </p:spPr>
        <p:txBody>
          <a:bodyPr wrap="square" lIns="0" tIns="0" rIns="0" bIns="0" rtlCol="0" anchor="ctr">
            <a:normAutofit/>
          </a:bodyPr>
          <a:lstStyle/>
          <a:p>
            <a:pPr marL="0" indent="0" algn="l">
              <a:buNone/>
            </a:pPr>
            <a:r>
              <a:rPr lang="en-US" sz="1150" dirty="0">
                <a:solidFill>
                  <a:srgbClr val="FFFFFF"/>
                </a:solidFill>
                <a:latin typeface="Arial" pitchFamily="34" charset="0"/>
                <a:ea typeface="Arial" pitchFamily="34" charset="-122"/>
                <a:cs typeface="Arial" pitchFamily="34" charset="-120"/>
              </a:rPr>
              <a:t>surprised</a:t>
            </a:r>
            <a:endParaRPr lang="en-US" sz="1150" dirty="0"/>
          </a:p>
        </p:txBody>
      </p:sp>
      <p:sp>
        <p:nvSpPr>
          <p:cNvPr id="47" name="Text 42"/>
          <p:cNvSpPr txBox="1"/>
          <p:nvPr/>
        </p:nvSpPr>
        <p:spPr>
          <a:xfrm>
            <a:off x="10241280" y="5102352"/>
            <a:ext cx="987552" cy="274320"/>
          </a:xfrm>
          <a:prstGeom prst="rect">
            <a:avLst/>
          </a:prstGeom>
          <a:noFill/>
          <a:ln/>
        </p:spPr>
        <p:txBody>
          <a:bodyPr wrap="square" lIns="0" tIns="0" rIns="0" bIns="0" rtlCol="0" anchor="ctr">
            <a:normAutofit/>
          </a:bodyPr>
          <a:lstStyle/>
          <a:p>
            <a:pPr marL="0" indent="0" algn="r">
              <a:buNone/>
            </a:pPr>
            <a:r>
              <a:rPr lang="en-US" sz="900" dirty="0">
                <a:solidFill>
                  <a:srgbClr val="94A3B8"/>
                </a:solidFill>
                <a:latin typeface="Arial" pitchFamily="34" charset="0"/>
                <a:ea typeface="Arial" pitchFamily="34" charset="-122"/>
                <a:cs typeface="Arial" pitchFamily="34" charset="-120"/>
              </a:rPr>
              <a:t>ngoài ViSEC</a:t>
            </a:r>
            <a:endParaRPr lang="en-US" sz="900" dirty="0"/>
          </a:p>
        </p:txBody>
      </p:sp>
      <p:sp>
        <p:nvSpPr>
          <p:cNvPr id="48" name="Shape 43"/>
          <p:cNvSpPr/>
          <p:nvPr/>
        </p:nvSpPr>
        <p:spPr>
          <a:xfrm>
            <a:off x="8595360" y="5632704"/>
            <a:ext cx="2697480" cy="329184"/>
          </a:xfrm>
          <a:prstGeom prst="roundRect">
            <a:avLst>
              <a:gd name="adj" fmla="val 11111"/>
            </a:avLst>
          </a:prstGeom>
          <a:solidFill>
            <a:srgbClr val="FEF3C7"/>
          </a:solidFill>
          <a:ln w="12700">
            <a:solidFill>
              <a:srgbClr val="FEF3C7"/>
            </a:solidFill>
            <a:prstDash val="solid"/>
          </a:ln>
        </p:spPr>
      </p:sp>
      <p:sp>
        <p:nvSpPr>
          <p:cNvPr id="49" name="Text 44"/>
          <p:cNvSpPr txBox="1"/>
          <p:nvPr/>
        </p:nvSpPr>
        <p:spPr>
          <a:xfrm>
            <a:off x="8668512" y="5632704"/>
            <a:ext cx="2551176" cy="329184"/>
          </a:xfrm>
          <a:prstGeom prst="rect">
            <a:avLst/>
          </a:prstGeom>
          <a:noFill/>
          <a:ln/>
        </p:spPr>
        <p:txBody>
          <a:bodyPr wrap="square" lIns="0" tIns="0" rIns="0" bIns="0" rtlCol="0" anchor="ctr">
            <a:normAutofit/>
          </a:bodyPr>
          <a:lstStyle/>
          <a:p>
            <a:pPr marL="0" indent="0" algn="ctr">
              <a:buNone/>
            </a:pPr>
            <a:r>
              <a:rPr lang="en-US" sz="950" b="1" dirty="0">
                <a:solidFill>
                  <a:srgbClr val="B45309"/>
                </a:solidFill>
                <a:latin typeface="Arial" pitchFamily="34" charset="0"/>
                <a:ea typeface="Arial" pitchFamily="34" charset="-122"/>
                <a:cs typeface="Arial" pitchFamily="34" charset="-120"/>
              </a:rPr>
              <a:t>Vietnamese: limited / secondary</a:t>
            </a:r>
            <a:endParaRPr lang="en-US" sz="950" dirty="0"/>
          </a:p>
        </p:txBody>
      </p:sp>
      <p:sp>
        <p:nvSpPr>
          <p:cNvPr id="50" name="Shape 45"/>
          <p:cNvSpPr/>
          <p:nvPr/>
        </p:nvSpPr>
        <p:spPr>
          <a:xfrm>
            <a:off x="530352" y="6382512"/>
            <a:ext cx="11128248" cy="0"/>
          </a:xfrm>
          <a:prstGeom prst="line">
            <a:avLst/>
          </a:prstGeom>
          <a:noFill/>
          <a:ln w="10160">
            <a:solidFill>
              <a:srgbClr val="E2E8F0"/>
            </a:solidFill>
            <a:prstDash val="solid"/>
          </a:ln>
        </p:spPr>
      </p:sp>
      <p:sp>
        <p:nvSpPr>
          <p:cNvPr id="51" name="Text 46"/>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docs/ARCHITECTURE.md • raw label order giữ nguyên, không merge 3 nhãn ngoài ViSEC.</a:t>
            </a:r>
            <a:endParaRPr lang="en-US" sz="850" dirty="0"/>
          </a:p>
        </p:txBody>
      </p:sp>
      <p:sp>
        <p:nvSpPr>
          <p:cNvPr id="52"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08  /  LỰA CHỌN MODEL</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Chunkformer mắc bias neutral nặng</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Kết quả legacy cho thấy accuracy thấp và phân phối dự đoán mất cân bằng.</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37360"/>
            <a:ext cx="6656832" cy="4315968"/>
          </a:xfrm>
          <a:prstGeom prst="roundRect">
            <a:avLst>
              <a:gd name="adj" fmla="val 1059"/>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896112" y="2066544"/>
            <a:ext cx="530352" cy="530352"/>
          </a:xfrm>
          <a:prstGeom prst="ellipse">
            <a:avLst/>
          </a:prstGeom>
          <a:solidFill>
            <a:srgbClr val="FEE2E2"/>
          </a:solidFill>
          <a:ln w="12700">
            <a:solidFill>
              <a:srgbClr val="FEE2E2"/>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8700" y="2199132"/>
            <a:ext cx="265176" cy="265176"/>
          </a:xfrm>
          <a:prstGeom prst="rect">
            <a:avLst/>
          </a:prstGeom>
        </p:spPr>
      </p:pic>
      <p:sp>
        <p:nvSpPr>
          <p:cNvPr id="10" name="Text 7"/>
          <p:cNvSpPr txBox="1"/>
          <p:nvPr/>
        </p:nvSpPr>
        <p:spPr>
          <a:xfrm>
            <a:off x="1591056" y="2103120"/>
            <a:ext cx="2743200" cy="310896"/>
          </a:xfrm>
          <a:prstGeom prst="rect">
            <a:avLst/>
          </a:prstGeom>
          <a:noFill/>
          <a:ln/>
        </p:spPr>
        <p:txBody>
          <a:bodyPr wrap="square" lIns="0" tIns="0" rIns="0" bIns="0" rtlCol="0" anchor="ctr">
            <a:normAutofit/>
          </a:bodyPr>
          <a:lstStyle/>
          <a:p>
            <a:pPr marL="0" indent="0" algn="l">
              <a:buNone/>
            </a:pPr>
            <a:r>
              <a:rPr lang="en-US" sz="1500" b="1" dirty="0">
                <a:solidFill>
                  <a:srgbClr val="0F172A"/>
                </a:solidFill>
                <a:latin typeface="Arial" pitchFamily="34" charset="0"/>
                <a:ea typeface="Arial" pitchFamily="34" charset="-122"/>
                <a:cs typeface="Arial" pitchFamily="34" charset="-120"/>
              </a:rPr>
              <a:t>Dự đoán rơi vào neutral</a:t>
            </a:r>
            <a:endParaRPr lang="en-US" sz="1500" dirty="0"/>
          </a:p>
        </p:txBody>
      </p:sp>
      <p:sp>
        <p:nvSpPr>
          <p:cNvPr id="11" name="Text 8"/>
          <p:cNvSpPr txBox="1"/>
          <p:nvPr/>
        </p:nvSpPr>
        <p:spPr>
          <a:xfrm>
            <a:off x="896112" y="2788920"/>
            <a:ext cx="2011680" cy="731520"/>
          </a:xfrm>
          <a:prstGeom prst="rect">
            <a:avLst/>
          </a:prstGeom>
          <a:noFill/>
          <a:ln/>
        </p:spPr>
        <p:txBody>
          <a:bodyPr wrap="square" lIns="0" tIns="0" rIns="0" bIns="0" rtlCol="0" anchor="ctr">
            <a:normAutofit/>
          </a:bodyPr>
          <a:lstStyle/>
          <a:p>
            <a:pPr marL="0" indent="0" algn="l">
              <a:buNone/>
            </a:pPr>
            <a:r>
              <a:rPr lang="en-US" sz="3600" b="1" dirty="0">
                <a:solidFill>
                  <a:srgbClr val="B91C1C"/>
                </a:solidFill>
                <a:latin typeface="Arial" pitchFamily="34" charset="0"/>
                <a:ea typeface="Arial" pitchFamily="34" charset="-122"/>
                <a:cs typeface="Arial" pitchFamily="34" charset="-120"/>
              </a:rPr>
              <a:t>~95%</a:t>
            </a:r>
            <a:endParaRPr lang="en-US" sz="3600" dirty="0"/>
          </a:p>
        </p:txBody>
      </p:sp>
      <p:sp>
        <p:nvSpPr>
          <p:cNvPr id="12" name="Shape 9"/>
          <p:cNvSpPr/>
          <p:nvPr/>
        </p:nvSpPr>
        <p:spPr>
          <a:xfrm>
            <a:off x="2907792" y="3017520"/>
            <a:ext cx="3639312" cy="274320"/>
          </a:xfrm>
          <a:prstGeom prst="roundRect">
            <a:avLst>
              <a:gd name="adj" fmla="val 13333"/>
            </a:avLst>
          </a:prstGeom>
          <a:solidFill>
            <a:srgbClr val="F1F5F9"/>
          </a:solidFill>
          <a:ln w="12700">
            <a:solidFill>
              <a:srgbClr val="F1F5F9"/>
            </a:solidFill>
            <a:prstDash val="solid"/>
          </a:ln>
        </p:spPr>
      </p:sp>
      <p:sp>
        <p:nvSpPr>
          <p:cNvPr id="13" name="Shape 10"/>
          <p:cNvSpPr/>
          <p:nvPr/>
        </p:nvSpPr>
        <p:spPr>
          <a:xfrm>
            <a:off x="2907792" y="3017520"/>
            <a:ext cx="3456432" cy="274320"/>
          </a:xfrm>
          <a:prstGeom prst="roundRect">
            <a:avLst>
              <a:gd name="adj" fmla="val 13333"/>
            </a:avLst>
          </a:prstGeom>
          <a:solidFill>
            <a:srgbClr val="B91C1C"/>
          </a:solidFill>
          <a:ln w="12700">
            <a:solidFill>
              <a:srgbClr val="B91C1C"/>
            </a:solidFill>
            <a:prstDash val="solid"/>
          </a:ln>
        </p:spPr>
      </p:sp>
      <p:sp>
        <p:nvSpPr>
          <p:cNvPr id="14" name="Text 11"/>
          <p:cNvSpPr txBox="1"/>
          <p:nvPr/>
        </p:nvSpPr>
        <p:spPr>
          <a:xfrm>
            <a:off x="2907792" y="3401568"/>
            <a:ext cx="3639312" cy="292608"/>
          </a:xfrm>
          <a:prstGeom prst="rect">
            <a:avLst/>
          </a:prstGeom>
          <a:noFill/>
          <a:ln/>
        </p:spPr>
        <p:txBody>
          <a:bodyPr wrap="square" lIns="0" tIns="0" rIns="0" bIns="0" rtlCol="0" anchor="ctr">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Các class còn lại bị bỏ qua</a:t>
            </a:r>
            <a:endParaRPr lang="en-US" sz="1100" dirty="0"/>
          </a:p>
        </p:txBody>
      </p:sp>
      <p:sp>
        <p:nvSpPr>
          <p:cNvPr id="15" name="Shape 12"/>
          <p:cNvSpPr/>
          <p:nvPr/>
        </p:nvSpPr>
        <p:spPr>
          <a:xfrm>
            <a:off x="896112" y="4041648"/>
            <a:ext cx="5650992" cy="0"/>
          </a:xfrm>
          <a:prstGeom prst="line">
            <a:avLst/>
          </a:prstGeom>
          <a:noFill/>
          <a:ln w="12700">
            <a:solidFill>
              <a:srgbClr val="E2E8F0"/>
            </a:solidFill>
            <a:prstDash val="solid"/>
          </a:ln>
        </p:spPr>
      </p:sp>
      <p:sp>
        <p:nvSpPr>
          <p:cNvPr id="16" name="Text 13"/>
          <p:cNvSpPr txBox="1"/>
          <p:nvPr/>
        </p:nvSpPr>
        <p:spPr>
          <a:xfrm>
            <a:off x="896112" y="4352544"/>
            <a:ext cx="1335024" cy="475488"/>
          </a:xfrm>
          <a:prstGeom prst="rect">
            <a:avLst/>
          </a:prstGeom>
          <a:noFill/>
          <a:ln/>
        </p:spPr>
        <p:txBody>
          <a:bodyPr wrap="square" lIns="0" tIns="0" rIns="0" bIns="0" rtlCol="0" anchor="ctr">
            <a:normAutofit/>
          </a:bodyPr>
          <a:lstStyle/>
          <a:p>
            <a:pPr marL="0" indent="0" algn="l">
              <a:buNone/>
            </a:pPr>
            <a:r>
              <a:rPr lang="en-US" sz="2400" b="1" dirty="0">
                <a:solidFill>
                  <a:srgbClr val="B91C1C"/>
                </a:solidFill>
                <a:latin typeface="Arial" pitchFamily="34" charset="0"/>
                <a:ea typeface="Arial" pitchFamily="34" charset="-122"/>
                <a:cs typeface="Arial" pitchFamily="34" charset="-120"/>
              </a:rPr>
              <a:t>28,0%</a:t>
            </a:r>
            <a:endParaRPr lang="en-US" sz="2400" dirty="0"/>
          </a:p>
        </p:txBody>
      </p:sp>
      <p:sp>
        <p:nvSpPr>
          <p:cNvPr id="17" name="Text 14"/>
          <p:cNvSpPr txBox="1"/>
          <p:nvPr/>
        </p:nvSpPr>
        <p:spPr>
          <a:xfrm>
            <a:off x="896112" y="4846320"/>
            <a:ext cx="1335024" cy="256032"/>
          </a:xfrm>
          <a:prstGeom prst="rect">
            <a:avLst/>
          </a:prstGeom>
          <a:noFill/>
          <a:ln/>
        </p:spPr>
        <p:txBody>
          <a:bodyPr wrap="square" lIns="0" tIns="0" rIns="0" bIns="0" rtlCol="0" anchor="ctr">
            <a:normAutofit/>
          </a:bodyPr>
          <a:lstStyle/>
          <a:p>
            <a:pPr marL="0" indent="0" algn="l">
              <a:buNone/>
            </a:pPr>
            <a:r>
              <a:rPr lang="en-US" sz="1050" b="1" dirty="0">
                <a:solidFill>
                  <a:srgbClr val="64748B"/>
                </a:solidFill>
                <a:latin typeface="Arial" pitchFamily="34" charset="0"/>
                <a:ea typeface="Arial" pitchFamily="34" charset="-122"/>
                <a:cs typeface="Arial" pitchFamily="34" charset="-120"/>
              </a:rPr>
              <a:t>Accuracy</a:t>
            </a:r>
            <a:endParaRPr lang="en-US" sz="1050" dirty="0"/>
          </a:p>
        </p:txBody>
      </p:sp>
      <p:sp>
        <p:nvSpPr>
          <p:cNvPr id="18" name="Text 15"/>
          <p:cNvSpPr txBox="1"/>
          <p:nvPr/>
        </p:nvSpPr>
        <p:spPr>
          <a:xfrm>
            <a:off x="2615184" y="4352544"/>
            <a:ext cx="1536192" cy="475488"/>
          </a:xfrm>
          <a:prstGeom prst="rect">
            <a:avLst/>
          </a:prstGeom>
          <a:noFill/>
          <a:ln/>
        </p:spPr>
        <p:txBody>
          <a:bodyPr wrap="square" lIns="0" tIns="0" rIns="0" bIns="0" rtlCol="0" anchor="ctr">
            <a:normAutofit/>
          </a:bodyPr>
          <a:lstStyle/>
          <a:p>
            <a:pPr marL="0" indent="0" algn="l">
              <a:buNone/>
            </a:pPr>
            <a:r>
              <a:rPr lang="en-US" sz="2400" b="1" dirty="0">
                <a:solidFill>
                  <a:srgbClr val="B91C1C"/>
                </a:solidFill>
                <a:latin typeface="Arial" pitchFamily="34" charset="0"/>
                <a:ea typeface="Arial" pitchFamily="34" charset="-122"/>
                <a:cs typeface="Arial" pitchFamily="34" charset="-120"/>
              </a:rPr>
              <a:t>15,84%</a:t>
            </a:r>
            <a:endParaRPr lang="en-US" sz="2400" dirty="0"/>
          </a:p>
        </p:txBody>
      </p:sp>
      <p:sp>
        <p:nvSpPr>
          <p:cNvPr id="19" name="Text 16"/>
          <p:cNvSpPr txBox="1"/>
          <p:nvPr/>
        </p:nvSpPr>
        <p:spPr>
          <a:xfrm>
            <a:off x="2615184" y="4846320"/>
            <a:ext cx="1536192" cy="256032"/>
          </a:xfrm>
          <a:prstGeom prst="rect">
            <a:avLst/>
          </a:prstGeom>
          <a:noFill/>
          <a:ln/>
        </p:spPr>
        <p:txBody>
          <a:bodyPr wrap="square" lIns="0" tIns="0" rIns="0" bIns="0" rtlCol="0" anchor="ctr">
            <a:normAutofit/>
          </a:bodyPr>
          <a:lstStyle/>
          <a:p>
            <a:pPr marL="0" indent="0" algn="l">
              <a:buNone/>
            </a:pPr>
            <a:r>
              <a:rPr lang="en-US" sz="1050" b="1" dirty="0">
                <a:solidFill>
                  <a:srgbClr val="64748B"/>
                </a:solidFill>
                <a:latin typeface="Arial" pitchFamily="34" charset="0"/>
                <a:ea typeface="Arial" pitchFamily="34" charset="-122"/>
                <a:cs typeface="Arial" pitchFamily="34" charset="-120"/>
              </a:rPr>
              <a:t>Macro-F1</a:t>
            </a:r>
            <a:endParaRPr lang="en-US" sz="1050" dirty="0"/>
          </a:p>
        </p:txBody>
      </p:sp>
      <p:sp>
        <p:nvSpPr>
          <p:cNvPr id="20" name="Text 17"/>
          <p:cNvSpPr txBox="1"/>
          <p:nvPr/>
        </p:nvSpPr>
        <p:spPr>
          <a:xfrm>
            <a:off x="4681728" y="4352544"/>
            <a:ext cx="1499616" cy="475488"/>
          </a:xfrm>
          <a:prstGeom prst="rect">
            <a:avLst/>
          </a:prstGeom>
          <a:noFill/>
          <a:ln/>
        </p:spPr>
        <p:txBody>
          <a:bodyPr wrap="square" lIns="0" tIns="0" rIns="0" bIns="0" rtlCol="0" anchor="ctr">
            <a:normAutofit/>
          </a:bodyPr>
          <a:lstStyle/>
          <a:p>
            <a:pPr marL="0" indent="0" algn="l">
              <a:buNone/>
            </a:pPr>
            <a:r>
              <a:rPr lang="en-US" sz="2200" b="1" dirty="0">
                <a:solidFill>
                  <a:srgbClr val="B91C1C"/>
                </a:solidFill>
                <a:latin typeface="Arial" pitchFamily="34" charset="0"/>
                <a:ea typeface="Arial" pitchFamily="34" charset="-122"/>
                <a:cs typeface="Arial" pitchFamily="34" charset="-120"/>
              </a:rPr>
              <a:t>Bias mạnh</a:t>
            </a:r>
            <a:endParaRPr lang="en-US" sz="2200" dirty="0"/>
          </a:p>
        </p:txBody>
      </p:sp>
      <p:sp>
        <p:nvSpPr>
          <p:cNvPr id="21" name="Text 18"/>
          <p:cNvSpPr txBox="1"/>
          <p:nvPr/>
        </p:nvSpPr>
        <p:spPr>
          <a:xfrm>
            <a:off x="4681728" y="4846320"/>
            <a:ext cx="1645920" cy="256032"/>
          </a:xfrm>
          <a:prstGeom prst="rect">
            <a:avLst/>
          </a:prstGeom>
          <a:noFill/>
          <a:ln/>
        </p:spPr>
        <p:txBody>
          <a:bodyPr wrap="square" lIns="0" tIns="0" rIns="0" bIns="0" rtlCol="0" anchor="ctr">
            <a:normAutofit/>
          </a:bodyPr>
          <a:lstStyle/>
          <a:p>
            <a:pPr marL="0" indent="0" algn="l">
              <a:buNone/>
            </a:pPr>
            <a:r>
              <a:rPr lang="en-US" sz="980" dirty="0">
                <a:solidFill>
                  <a:srgbClr val="64748B"/>
                </a:solidFill>
                <a:latin typeface="Arial" pitchFamily="34" charset="0"/>
                <a:ea typeface="Arial" pitchFamily="34" charset="-122"/>
                <a:cs typeface="Arial" pitchFamily="34" charset="-120"/>
              </a:rPr>
              <a:t>không ổn định theo class</a:t>
            </a:r>
            <a:endParaRPr lang="en-US" sz="980" dirty="0"/>
          </a:p>
        </p:txBody>
      </p:sp>
      <p:sp>
        <p:nvSpPr>
          <p:cNvPr id="22" name="Shape 19"/>
          <p:cNvSpPr/>
          <p:nvPr/>
        </p:nvSpPr>
        <p:spPr>
          <a:xfrm>
            <a:off x="7498080" y="1737360"/>
            <a:ext cx="4142232" cy="4315968"/>
          </a:xfrm>
          <a:prstGeom prst="roundRect">
            <a:avLst>
              <a:gd name="adj" fmla="val 1104"/>
            </a:avLst>
          </a:prstGeom>
          <a:solidFill>
            <a:srgbClr val="FEE2E2"/>
          </a:solidFill>
          <a:ln w="12700">
            <a:solidFill>
              <a:srgbClr val="FEE2E2"/>
            </a:solidFill>
            <a:prstDash val="solid"/>
          </a:ln>
        </p:spPr>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0416" y="2121408"/>
            <a:ext cx="585216" cy="585216"/>
          </a:xfrm>
          <a:prstGeom prst="rect">
            <a:avLst/>
          </a:prstGeom>
        </p:spPr>
      </p:pic>
      <p:sp>
        <p:nvSpPr>
          <p:cNvPr id="24" name="Text 20"/>
          <p:cNvSpPr txBox="1"/>
          <p:nvPr/>
        </p:nvSpPr>
        <p:spPr>
          <a:xfrm>
            <a:off x="7900416" y="2889504"/>
            <a:ext cx="2834640" cy="402336"/>
          </a:xfrm>
          <a:prstGeom prst="rect">
            <a:avLst/>
          </a:prstGeom>
          <a:noFill/>
          <a:ln/>
        </p:spPr>
        <p:txBody>
          <a:bodyPr wrap="square" lIns="0" tIns="0" rIns="0" bIns="0" rtlCol="0" anchor="ctr">
            <a:normAutofit/>
          </a:bodyPr>
          <a:lstStyle/>
          <a:p>
            <a:pPr marL="0" indent="0" algn="l">
              <a:buNone/>
            </a:pPr>
            <a:r>
              <a:rPr lang="en-US" sz="2000" b="1" dirty="0">
                <a:solidFill>
                  <a:srgbClr val="0F172A"/>
                </a:solidFill>
                <a:latin typeface="Arial" pitchFamily="34" charset="0"/>
                <a:ea typeface="Arial" pitchFamily="34" charset="-122"/>
                <a:cs typeface="Arial" pitchFamily="34" charset="-120"/>
              </a:rPr>
              <a:t>Vì sao phải thay?</a:t>
            </a:r>
            <a:endParaRPr lang="en-US" sz="2000" dirty="0"/>
          </a:p>
        </p:txBody>
      </p:sp>
      <p:sp>
        <p:nvSpPr>
          <p:cNvPr id="25" name="Shape 21"/>
          <p:cNvSpPr/>
          <p:nvPr/>
        </p:nvSpPr>
        <p:spPr>
          <a:xfrm>
            <a:off x="7918704" y="3666744"/>
            <a:ext cx="73152" cy="73152"/>
          </a:xfrm>
          <a:prstGeom prst="ellipse">
            <a:avLst/>
          </a:prstGeom>
          <a:solidFill>
            <a:srgbClr val="B91C1C"/>
          </a:solidFill>
          <a:ln w="12700">
            <a:solidFill>
              <a:srgbClr val="B91C1C"/>
            </a:solidFill>
            <a:prstDash val="solid"/>
          </a:ln>
        </p:spPr>
      </p:sp>
      <p:sp>
        <p:nvSpPr>
          <p:cNvPr id="26" name="Text 22"/>
          <p:cNvSpPr txBox="1"/>
          <p:nvPr/>
        </p:nvSpPr>
        <p:spPr>
          <a:xfrm>
            <a:off x="8083296" y="3566160"/>
            <a:ext cx="3035808" cy="347472"/>
          </a:xfrm>
          <a:prstGeom prst="rect">
            <a:avLst/>
          </a:prstGeom>
          <a:noFill/>
          <a:ln/>
        </p:spPr>
        <p:txBody>
          <a:bodyPr wrap="square" lIns="0" tIns="0" rIns="0" bIns="0" rtlCol="0" anchor="t">
            <a:normAutofit/>
          </a:bodyPr>
          <a:lstStyle/>
          <a:p>
            <a:pPr marL="0" indent="0" algn="l">
              <a:buNone/>
            </a:pPr>
            <a:r>
              <a:rPr lang="en-US" sz="1250" dirty="0">
                <a:solidFill>
                  <a:srgbClr val="334155"/>
                </a:solidFill>
                <a:latin typeface="Arial" pitchFamily="34" charset="0"/>
                <a:ea typeface="Arial" pitchFamily="34" charset="-122"/>
                <a:cs typeface="Arial" pitchFamily="34" charset="-120"/>
              </a:rPr>
              <a:t>Accuracy gần random baseline 25%</a:t>
            </a:r>
            <a:endParaRPr lang="en-US" sz="1250" dirty="0"/>
          </a:p>
        </p:txBody>
      </p:sp>
      <p:sp>
        <p:nvSpPr>
          <p:cNvPr id="27" name="Shape 23"/>
          <p:cNvSpPr/>
          <p:nvPr/>
        </p:nvSpPr>
        <p:spPr>
          <a:xfrm>
            <a:off x="7918704" y="4270248"/>
            <a:ext cx="73152" cy="73152"/>
          </a:xfrm>
          <a:prstGeom prst="ellipse">
            <a:avLst/>
          </a:prstGeom>
          <a:solidFill>
            <a:srgbClr val="B91C1C"/>
          </a:solidFill>
          <a:ln w="12700">
            <a:solidFill>
              <a:srgbClr val="B91C1C"/>
            </a:solidFill>
            <a:prstDash val="solid"/>
          </a:ln>
        </p:spPr>
      </p:sp>
      <p:sp>
        <p:nvSpPr>
          <p:cNvPr id="28" name="Text 24"/>
          <p:cNvSpPr txBox="1"/>
          <p:nvPr/>
        </p:nvSpPr>
        <p:spPr>
          <a:xfrm>
            <a:off x="8083296" y="4169664"/>
            <a:ext cx="3035808" cy="347472"/>
          </a:xfrm>
          <a:prstGeom prst="rect">
            <a:avLst/>
          </a:prstGeom>
          <a:noFill/>
          <a:ln/>
        </p:spPr>
        <p:txBody>
          <a:bodyPr wrap="square" lIns="0" tIns="0" rIns="0" bIns="0" rtlCol="0" anchor="t">
            <a:normAutofit/>
          </a:bodyPr>
          <a:lstStyle/>
          <a:p>
            <a:pPr marL="0" indent="0" algn="l">
              <a:buNone/>
            </a:pPr>
            <a:r>
              <a:rPr lang="en-US" sz="1250" dirty="0">
                <a:solidFill>
                  <a:srgbClr val="334155"/>
                </a:solidFill>
                <a:latin typeface="Arial" pitchFamily="34" charset="0"/>
                <a:ea typeface="Arial" pitchFamily="34" charset="-122"/>
                <a:cs typeface="Arial" pitchFamily="34" charset="-120"/>
              </a:rPr>
              <a:t>Macro-F1 phơi bày mất cân bằng</a:t>
            </a:r>
            <a:endParaRPr lang="en-US" sz="1250" dirty="0"/>
          </a:p>
        </p:txBody>
      </p:sp>
      <p:sp>
        <p:nvSpPr>
          <p:cNvPr id="29" name="Shape 25"/>
          <p:cNvSpPr/>
          <p:nvPr/>
        </p:nvSpPr>
        <p:spPr>
          <a:xfrm>
            <a:off x="7918704" y="4873752"/>
            <a:ext cx="73152" cy="73152"/>
          </a:xfrm>
          <a:prstGeom prst="ellipse">
            <a:avLst/>
          </a:prstGeom>
          <a:solidFill>
            <a:srgbClr val="B91C1C"/>
          </a:solidFill>
          <a:ln w="12700">
            <a:solidFill>
              <a:srgbClr val="B91C1C"/>
            </a:solidFill>
            <a:prstDash val="solid"/>
          </a:ln>
        </p:spPr>
      </p:sp>
      <p:sp>
        <p:nvSpPr>
          <p:cNvPr id="30" name="Text 26"/>
          <p:cNvSpPr txBox="1"/>
          <p:nvPr/>
        </p:nvSpPr>
        <p:spPr>
          <a:xfrm>
            <a:off x="8083296" y="4773168"/>
            <a:ext cx="3035808" cy="347472"/>
          </a:xfrm>
          <a:prstGeom prst="rect">
            <a:avLst/>
          </a:prstGeom>
          <a:noFill/>
          <a:ln/>
        </p:spPr>
        <p:txBody>
          <a:bodyPr wrap="square" lIns="0" tIns="0" rIns="0" bIns="0" rtlCol="0" anchor="t">
            <a:normAutofit/>
          </a:bodyPr>
          <a:lstStyle/>
          <a:p>
            <a:pPr marL="0" indent="0" algn="l">
              <a:buNone/>
            </a:pPr>
            <a:r>
              <a:rPr lang="en-US" sz="1250" dirty="0">
                <a:solidFill>
                  <a:srgbClr val="334155"/>
                </a:solidFill>
                <a:latin typeface="Arial" pitchFamily="34" charset="0"/>
                <a:ea typeface="Arial" pitchFamily="34" charset="-122"/>
                <a:cs typeface="Arial" pitchFamily="34" charset="-120"/>
              </a:rPr>
              <a:t>Happy và sad gần như không được nhận diện</a:t>
            </a:r>
            <a:endParaRPr lang="en-US" sz="1250" dirty="0"/>
          </a:p>
        </p:txBody>
      </p:sp>
      <p:sp>
        <p:nvSpPr>
          <p:cNvPr id="31" name="Shape 27"/>
          <p:cNvSpPr/>
          <p:nvPr/>
        </p:nvSpPr>
        <p:spPr>
          <a:xfrm>
            <a:off x="7900416" y="5413248"/>
            <a:ext cx="3328416" cy="402336"/>
          </a:xfrm>
          <a:prstGeom prst="roundRect">
            <a:avLst>
              <a:gd name="adj" fmla="val 9091"/>
            </a:avLst>
          </a:prstGeom>
          <a:solidFill>
            <a:srgbClr val="B91C1C"/>
          </a:solidFill>
          <a:ln w="12700">
            <a:solidFill>
              <a:srgbClr val="B91C1C"/>
            </a:solidFill>
            <a:prstDash val="solid"/>
          </a:ln>
        </p:spPr>
      </p:sp>
      <p:sp>
        <p:nvSpPr>
          <p:cNvPr id="32" name="Text 28"/>
          <p:cNvSpPr txBox="1"/>
          <p:nvPr/>
        </p:nvSpPr>
        <p:spPr>
          <a:xfrm>
            <a:off x="7973568" y="5413248"/>
            <a:ext cx="3182112" cy="402336"/>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Không dùng làm model mặc định</a:t>
            </a:r>
            <a:endParaRPr lang="en-US" sz="1100" dirty="0"/>
          </a:p>
        </p:txBody>
      </p:sp>
      <p:sp>
        <p:nvSpPr>
          <p:cNvPr id="33" name="Shape 29"/>
          <p:cNvSpPr/>
          <p:nvPr/>
        </p:nvSpPr>
        <p:spPr>
          <a:xfrm>
            <a:off x="530352" y="6382512"/>
            <a:ext cx="11128248" cy="0"/>
          </a:xfrm>
          <a:prstGeom prst="line">
            <a:avLst/>
          </a:prstGeom>
          <a:noFill/>
          <a:ln w="10160">
            <a:solidFill>
              <a:srgbClr val="E2E8F0"/>
            </a:solidFill>
            <a:prstDash val="solid"/>
          </a:ln>
        </p:spPr>
      </p:sp>
      <p:sp>
        <p:nvSpPr>
          <p:cNvPr id="34" name="Text 30"/>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legacy: docs/PRESENTATION.md • current scores.json chỉ lưu kết quả MERaLiON; không có raw artifact chunkformer.</a:t>
            </a:r>
            <a:endParaRPr lang="en-US" sz="850" dirty="0"/>
          </a:p>
        </p:txBody>
      </p:sp>
      <p:sp>
        <p:nvSpPr>
          <p:cNvPr id="35"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09  /  LỰA CHỌN MODEL</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MERaLiON tốt hơn, chưa đủ tốt</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Model mới cải thiện mọi metric được ghi nhận, nhưng vẫn cách xa ngưỡng 65%.</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55648"/>
            <a:ext cx="2834640" cy="530352"/>
          </a:xfrm>
          <a:prstGeom prst="rect">
            <a:avLst/>
          </a:prstGeom>
          <a:solidFill>
            <a:srgbClr val="0F172A"/>
          </a:solidFill>
          <a:ln w="12700">
            <a:solidFill>
              <a:srgbClr val="0F172A"/>
            </a:solidFill>
            <a:prstDash val="solid"/>
          </a:ln>
        </p:spPr>
      </p:sp>
      <p:sp>
        <p:nvSpPr>
          <p:cNvPr id="8" name="Text 6"/>
          <p:cNvSpPr txBox="1"/>
          <p:nvPr/>
        </p:nvSpPr>
        <p:spPr>
          <a:xfrm>
            <a:off x="713232" y="1755648"/>
            <a:ext cx="2542032" cy="530352"/>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Arial" pitchFamily="34" charset="0"/>
                <a:ea typeface="Arial" pitchFamily="34" charset="-122"/>
                <a:cs typeface="Arial" pitchFamily="34" charset="-120"/>
              </a:rPr>
              <a:t>Tiêu chí</a:t>
            </a:r>
            <a:endParaRPr lang="en-US" sz="1150" dirty="0"/>
          </a:p>
        </p:txBody>
      </p:sp>
      <p:sp>
        <p:nvSpPr>
          <p:cNvPr id="9" name="Shape 7"/>
          <p:cNvSpPr/>
          <p:nvPr/>
        </p:nvSpPr>
        <p:spPr>
          <a:xfrm>
            <a:off x="3401568" y="1755648"/>
            <a:ext cx="2450592" cy="530352"/>
          </a:xfrm>
          <a:prstGeom prst="rect">
            <a:avLst/>
          </a:prstGeom>
          <a:solidFill>
            <a:srgbClr val="0F172A"/>
          </a:solidFill>
          <a:ln w="12700">
            <a:solidFill>
              <a:srgbClr val="0F172A"/>
            </a:solidFill>
            <a:prstDash val="solid"/>
          </a:ln>
        </p:spPr>
      </p:sp>
      <p:sp>
        <p:nvSpPr>
          <p:cNvPr id="10" name="Text 8"/>
          <p:cNvSpPr txBox="1"/>
          <p:nvPr/>
        </p:nvSpPr>
        <p:spPr>
          <a:xfrm>
            <a:off x="3547872" y="1755648"/>
            <a:ext cx="2157984" cy="530352"/>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Arial" pitchFamily="34" charset="0"/>
                <a:ea typeface="Arial" pitchFamily="34" charset="-122"/>
                <a:cs typeface="Arial" pitchFamily="34" charset="-120"/>
              </a:rPr>
              <a:t>Chunkformer cũ</a:t>
            </a:r>
            <a:endParaRPr lang="en-US" sz="1150" dirty="0"/>
          </a:p>
        </p:txBody>
      </p:sp>
      <p:sp>
        <p:nvSpPr>
          <p:cNvPr id="11" name="Shape 9"/>
          <p:cNvSpPr/>
          <p:nvPr/>
        </p:nvSpPr>
        <p:spPr>
          <a:xfrm>
            <a:off x="5852160" y="1755648"/>
            <a:ext cx="2450592" cy="530352"/>
          </a:xfrm>
          <a:prstGeom prst="rect">
            <a:avLst/>
          </a:prstGeom>
          <a:solidFill>
            <a:srgbClr val="1D4ED8"/>
          </a:solidFill>
          <a:ln w="12700">
            <a:solidFill>
              <a:srgbClr val="1D4ED8"/>
            </a:solidFill>
            <a:prstDash val="solid"/>
          </a:ln>
        </p:spPr>
      </p:sp>
      <p:sp>
        <p:nvSpPr>
          <p:cNvPr id="12" name="Text 10"/>
          <p:cNvSpPr txBox="1"/>
          <p:nvPr/>
        </p:nvSpPr>
        <p:spPr>
          <a:xfrm>
            <a:off x="5998464" y="1755648"/>
            <a:ext cx="2157984" cy="530352"/>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latin typeface="Arial" pitchFamily="34" charset="0"/>
                <a:ea typeface="Arial" pitchFamily="34" charset="-122"/>
                <a:cs typeface="Arial" pitchFamily="34" charset="-120"/>
              </a:rPr>
              <a:t>MERaLiON</a:t>
            </a:r>
            <a:endParaRPr lang="en-US" sz="1150" dirty="0"/>
          </a:p>
        </p:txBody>
      </p:sp>
      <p:sp>
        <p:nvSpPr>
          <p:cNvPr id="13" name="Shape 11"/>
          <p:cNvSpPr/>
          <p:nvPr/>
        </p:nvSpPr>
        <p:spPr>
          <a:xfrm>
            <a:off x="8302752" y="1755648"/>
            <a:ext cx="3337560" cy="530352"/>
          </a:xfrm>
          <a:prstGeom prst="rect">
            <a:avLst/>
          </a:prstGeom>
          <a:solidFill>
            <a:srgbClr val="0F172A"/>
          </a:solidFill>
          <a:ln w="12700">
            <a:solidFill>
              <a:srgbClr val="0F172A"/>
            </a:solidFill>
            <a:prstDash val="solid"/>
          </a:ln>
        </p:spPr>
      </p:sp>
      <p:sp>
        <p:nvSpPr>
          <p:cNvPr id="14" name="Text 12"/>
          <p:cNvSpPr txBox="1"/>
          <p:nvPr/>
        </p:nvSpPr>
        <p:spPr>
          <a:xfrm>
            <a:off x="8449056" y="1755648"/>
            <a:ext cx="3044952" cy="530352"/>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Arial" pitchFamily="34" charset="0"/>
                <a:ea typeface="Arial" pitchFamily="34" charset="-122"/>
                <a:cs typeface="Arial" pitchFamily="34" charset="-120"/>
              </a:rPr>
              <a:t>Kết luận</a:t>
            </a:r>
            <a:endParaRPr lang="en-US" sz="1150" dirty="0"/>
          </a:p>
        </p:txBody>
      </p:sp>
      <p:sp>
        <p:nvSpPr>
          <p:cNvPr id="15" name="Shape 13"/>
          <p:cNvSpPr/>
          <p:nvPr/>
        </p:nvSpPr>
        <p:spPr>
          <a:xfrm>
            <a:off x="566928" y="2286000"/>
            <a:ext cx="2834640" cy="539496"/>
          </a:xfrm>
          <a:prstGeom prst="rect">
            <a:avLst/>
          </a:prstGeom>
          <a:solidFill>
            <a:srgbClr val="FFFFFF"/>
          </a:solidFill>
          <a:ln w="12700">
            <a:solidFill>
              <a:srgbClr val="E2E8F0"/>
            </a:solidFill>
            <a:prstDash val="solid"/>
          </a:ln>
        </p:spPr>
      </p:sp>
      <p:sp>
        <p:nvSpPr>
          <p:cNvPr id="16" name="Text 14"/>
          <p:cNvSpPr txBox="1"/>
          <p:nvPr/>
        </p:nvSpPr>
        <p:spPr>
          <a:xfrm>
            <a:off x="713232" y="2286000"/>
            <a:ext cx="2542032" cy="539496"/>
          </a:xfrm>
          <a:prstGeom prst="rect">
            <a:avLst/>
          </a:prstGeom>
          <a:noFill/>
          <a:ln/>
        </p:spPr>
        <p:txBody>
          <a:bodyPr wrap="square" lIns="0" tIns="0" rIns="0" bIns="0" rtlCol="0" anchor="ctr">
            <a:normAutofit/>
          </a:bodyPr>
          <a:lstStyle/>
          <a:p>
            <a:pPr marL="0" indent="0" algn="l">
              <a:buNone/>
            </a:pPr>
            <a:r>
              <a:rPr lang="en-US" sz="1120" b="1" dirty="0">
                <a:solidFill>
                  <a:srgbClr val="162033"/>
                </a:solidFill>
                <a:latin typeface="Arial" pitchFamily="34" charset="0"/>
                <a:ea typeface="Arial" pitchFamily="34" charset="-122"/>
                <a:cs typeface="Arial" pitchFamily="34" charset="-120"/>
              </a:rPr>
              <a:t>Accuracy</a:t>
            </a:r>
            <a:endParaRPr lang="en-US" sz="1120" dirty="0"/>
          </a:p>
        </p:txBody>
      </p:sp>
      <p:sp>
        <p:nvSpPr>
          <p:cNvPr id="17" name="Shape 15"/>
          <p:cNvSpPr/>
          <p:nvPr/>
        </p:nvSpPr>
        <p:spPr>
          <a:xfrm>
            <a:off x="3401568" y="2286000"/>
            <a:ext cx="2450592" cy="539496"/>
          </a:xfrm>
          <a:prstGeom prst="rect">
            <a:avLst/>
          </a:prstGeom>
          <a:solidFill>
            <a:srgbClr val="FFFFFF"/>
          </a:solidFill>
          <a:ln w="12700">
            <a:solidFill>
              <a:srgbClr val="E2E8F0"/>
            </a:solidFill>
            <a:prstDash val="solid"/>
          </a:ln>
        </p:spPr>
      </p:sp>
      <p:sp>
        <p:nvSpPr>
          <p:cNvPr id="18" name="Text 16"/>
          <p:cNvSpPr txBox="1"/>
          <p:nvPr/>
        </p:nvSpPr>
        <p:spPr>
          <a:xfrm>
            <a:off x="3547872" y="2286000"/>
            <a:ext cx="2157984" cy="539496"/>
          </a:xfrm>
          <a:prstGeom prst="rect">
            <a:avLst/>
          </a:prstGeom>
          <a:noFill/>
          <a:ln/>
        </p:spPr>
        <p:txBody>
          <a:bodyPr wrap="square" lIns="0" tIns="0" rIns="0" bIns="0" rtlCol="0" anchor="ctr">
            <a:normAutofit/>
          </a:bodyPr>
          <a:lstStyle/>
          <a:p>
            <a:pPr marL="0" indent="0" algn="ctr">
              <a:buNone/>
            </a:pPr>
            <a:r>
              <a:rPr lang="en-US" sz="1120" dirty="0">
                <a:solidFill>
                  <a:srgbClr val="162033"/>
                </a:solidFill>
                <a:latin typeface="Arial" pitchFamily="34" charset="0"/>
                <a:ea typeface="Arial" pitchFamily="34" charset="-122"/>
                <a:cs typeface="Arial" pitchFamily="34" charset="-120"/>
              </a:rPr>
              <a:t>28,0%</a:t>
            </a:r>
            <a:endParaRPr lang="en-US" sz="1120" dirty="0"/>
          </a:p>
        </p:txBody>
      </p:sp>
      <p:sp>
        <p:nvSpPr>
          <p:cNvPr id="19" name="Shape 17"/>
          <p:cNvSpPr/>
          <p:nvPr/>
        </p:nvSpPr>
        <p:spPr>
          <a:xfrm>
            <a:off x="5852160" y="2286000"/>
            <a:ext cx="2450592" cy="539496"/>
          </a:xfrm>
          <a:prstGeom prst="rect">
            <a:avLst/>
          </a:prstGeom>
          <a:solidFill>
            <a:srgbClr val="FFFFFF"/>
          </a:solidFill>
          <a:ln w="12700">
            <a:solidFill>
              <a:srgbClr val="E2E8F0"/>
            </a:solidFill>
            <a:prstDash val="solid"/>
          </a:ln>
        </p:spPr>
      </p:sp>
      <p:sp>
        <p:nvSpPr>
          <p:cNvPr id="20" name="Text 18"/>
          <p:cNvSpPr txBox="1"/>
          <p:nvPr/>
        </p:nvSpPr>
        <p:spPr>
          <a:xfrm>
            <a:off x="5998464" y="2286000"/>
            <a:ext cx="2157984" cy="539496"/>
          </a:xfrm>
          <a:prstGeom prst="rect">
            <a:avLst/>
          </a:prstGeom>
          <a:noFill/>
          <a:ln/>
        </p:spPr>
        <p:txBody>
          <a:bodyPr wrap="square" lIns="0" tIns="0" rIns="0" bIns="0" rtlCol="0" anchor="ctr">
            <a:normAutofit/>
          </a:bodyPr>
          <a:lstStyle/>
          <a:p>
            <a:pPr marL="0" indent="0" algn="ctr">
              <a:buNone/>
            </a:pPr>
            <a:r>
              <a:rPr lang="en-US" sz="1120" b="1" dirty="0">
                <a:solidFill>
                  <a:srgbClr val="1D4ED8"/>
                </a:solidFill>
                <a:latin typeface="Arial" pitchFamily="34" charset="0"/>
                <a:ea typeface="Arial" pitchFamily="34" charset="-122"/>
                <a:cs typeface="Arial" pitchFamily="34" charset="-120"/>
              </a:rPr>
              <a:t>40,25%</a:t>
            </a:r>
            <a:endParaRPr lang="en-US" sz="1120" dirty="0"/>
          </a:p>
        </p:txBody>
      </p:sp>
      <p:sp>
        <p:nvSpPr>
          <p:cNvPr id="21" name="Shape 19"/>
          <p:cNvSpPr/>
          <p:nvPr/>
        </p:nvSpPr>
        <p:spPr>
          <a:xfrm>
            <a:off x="8302752" y="2286000"/>
            <a:ext cx="3337560" cy="539496"/>
          </a:xfrm>
          <a:prstGeom prst="rect">
            <a:avLst/>
          </a:prstGeom>
          <a:solidFill>
            <a:srgbClr val="FFFFFF"/>
          </a:solidFill>
          <a:ln w="12700">
            <a:solidFill>
              <a:srgbClr val="E2E8F0"/>
            </a:solidFill>
            <a:prstDash val="solid"/>
          </a:ln>
        </p:spPr>
      </p:sp>
      <p:sp>
        <p:nvSpPr>
          <p:cNvPr id="22" name="Text 20"/>
          <p:cNvSpPr txBox="1"/>
          <p:nvPr/>
        </p:nvSpPr>
        <p:spPr>
          <a:xfrm>
            <a:off x="8449056" y="2286000"/>
            <a:ext cx="3044952" cy="539496"/>
          </a:xfrm>
          <a:prstGeom prst="rect">
            <a:avLst/>
          </a:prstGeom>
          <a:noFill/>
          <a:ln/>
        </p:spPr>
        <p:txBody>
          <a:bodyPr wrap="square" lIns="0" tIns="0" rIns="0" bIns="0" rtlCol="0" anchor="ctr">
            <a:normAutofit/>
          </a:bodyPr>
          <a:lstStyle/>
          <a:p>
            <a:pPr marL="0" indent="0" algn="l">
              <a:buNone/>
            </a:pPr>
            <a:r>
              <a:rPr lang="en-US" sz="1120" dirty="0">
                <a:solidFill>
                  <a:srgbClr val="334155"/>
                </a:solidFill>
                <a:latin typeface="Arial" pitchFamily="34" charset="0"/>
                <a:ea typeface="Arial" pitchFamily="34" charset="-122"/>
                <a:cs typeface="Arial" pitchFamily="34" charset="-120"/>
              </a:rPr>
              <a:t>+12,25 điểm %</a:t>
            </a:r>
            <a:endParaRPr lang="en-US" sz="1120" dirty="0"/>
          </a:p>
        </p:txBody>
      </p:sp>
      <p:sp>
        <p:nvSpPr>
          <p:cNvPr id="23" name="Shape 21"/>
          <p:cNvSpPr/>
          <p:nvPr/>
        </p:nvSpPr>
        <p:spPr>
          <a:xfrm>
            <a:off x="566928" y="2825496"/>
            <a:ext cx="2834640" cy="539496"/>
          </a:xfrm>
          <a:prstGeom prst="rect">
            <a:avLst/>
          </a:prstGeom>
          <a:solidFill>
            <a:srgbClr val="F1F5F9"/>
          </a:solidFill>
          <a:ln w="12700">
            <a:solidFill>
              <a:srgbClr val="E2E8F0"/>
            </a:solidFill>
            <a:prstDash val="solid"/>
          </a:ln>
        </p:spPr>
      </p:sp>
      <p:sp>
        <p:nvSpPr>
          <p:cNvPr id="24" name="Text 22"/>
          <p:cNvSpPr txBox="1"/>
          <p:nvPr/>
        </p:nvSpPr>
        <p:spPr>
          <a:xfrm>
            <a:off x="713232" y="2825496"/>
            <a:ext cx="2542032" cy="539496"/>
          </a:xfrm>
          <a:prstGeom prst="rect">
            <a:avLst/>
          </a:prstGeom>
          <a:noFill/>
          <a:ln/>
        </p:spPr>
        <p:txBody>
          <a:bodyPr wrap="square" lIns="0" tIns="0" rIns="0" bIns="0" rtlCol="0" anchor="ctr">
            <a:normAutofit/>
          </a:bodyPr>
          <a:lstStyle/>
          <a:p>
            <a:pPr marL="0" indent="0" algn="l">
              <a:buNone/>
            </a:pPr>
            <a:r>
              <a:rPr lang="en-US" sz="1120" b="1" dirty="0">
                <a:solidFill>
                  <a:srgbClr val="162033"/>
                </a:solidFill>
                <a:latin typeface="Arial" pitchFamily="34" charset="0"/>
                <a:ea typeface="Arial" pitchFamily="34" charset="-122"/>
                <a:cs typeface="Arial" pitchFamily="34" charset="-120"/>
              </a:rPr>
              <a:t>Macro-F1</a:t>
            </a:r>
            <a:endParaRPr lang="en-US" sz="1120" dirty="0"/>
          </a:p>
        </p:txBody>
      </p:sp>
      <p:sp>
        <p:nvSpPr>
          <p:cNvPr id="25" name="Shape 23"/>
          <p:cNvSpPr/>
          <p:nvPr/>
        </p:nvSpPr>
        <p:spPr>
          <a:xfrm>
            <a:off x="3401568" y="2825496"/>
            <a:ext cx="2450592" cy="539496"/>
          </a:xfrm>
          <a:prstGeom prst="rect">
            <a:avLst/>
          </a:prstGeom>
          <a:solidFill>
            <a:srgbClr val="F1F5F9"/>
          </a:solidFill>
          <a:ln w="12700">
            <a:solidFill>
              <a:srgbClr val="E2E8F0"/>
            </a:solidFill>
            <a:prstDash val="solid"/>
          </a:ln>
        </p:spPr>
      </p:sp>
      <p:sp>
        <p:nvSpPr>
          <p:cNvPr id="26" name="Text 24"/>
          <p:cNvSpPr txBox="1"/>
          <p:nvPr/>
        </p:nvSpPr>
        <p:spPr>
          <a:xfrm>
            <a:off x="3547872" y="2825496"/>
            <a:ext cx="2157984" cy="539496"/>
          </a:xfrm>
          <a:prstGeom prst="rect">
            <a:avLst/>
          </a:prstGeom>
          <a:noFill/>
          <a:ln/>
        </p:spPr>
        <p:txBody>
          <a:bodyPr wrap="square" lIns="0" tIns="0" rIns="0" bIns="0" rtlCol="0" anchor="ctr">
            <a:normAutofit/>
          </a:bodyPr>
          <a:lstStyle/>
          <a:p>
            <a:pPr marL="0" indent="0" algn="ctr">
              <a:buNone/>
            </a:pPr>
            <a:r>
              <a:rPr lang="en-US" sz="1120" dirty="0">
                <a:solidFill>
                  <a:srgbClr val="162033"/>
                </a:solidFill>
                <a:latin typeface="Arial" pitchFamily="34" charset="0"/>
                <a:ea typeface="Arial" pitchFamily="34" charset="-122"/>
                <a:cs typeface="Arial" pitchFamily="34" charset="-120"/>
              </a:rPr>
              <a:t>15,84%</a:t>
            </a:r>
            <a:endParaRPr lang="en-US" sz="1120" dirty="0"/>
          </a:p>
        </p:txBody>
      </p:sp>
      <p:sp>
        <p:nvSpPr>
          <p:cNvPr id="27" name="Shape 25"/>
          <p:cNvSpPr/>
          <p:nvPr/>
        </p:nvSpPr>
        <p:spPr>
          <a:xfrm>
            <a:off x="5852160" y="2825496"/>
            <a:ext cx="2450592" cy="539496"/>
          </a:xfrm>
          <a:prstGeom prst="rect">
            <a:avLst/>
          </a:prstGeom>
          <a:solidFill>
            <a:srgbClr val="F1F5F9"/>
          </a:solidFill>
          <a:ln w="12700">
            <a:solidFill>
              <a:srgbClr val="E2E8F0"/>
            </a:solidFill>
            <a:prstDash val="solid"/>
          </a:ln>
        </p:spPr>
      </p:sp>
      <p:sp>
        <p:nvSpPr>
          <p:cNvPr id="28" name="Text 26"/>
          <p:cNvSpPr txBox="1"/>
          <p:nvPr/>
        </p:nvSpPr>
        <p:spPr>
          <a:xfrm>
            <a:off x="5998464" y="2825496"/>
            <a:ext cx="2157984" cy="539496"/>
          </a:xfrm>
          <a:prstGeom prst="rect">
            <a:avLst/>
          </a:prstGeom>
          <a:noFill/>
          <a:ln/>
        </p:spPr>
        <p:txBody>
          <a:bodyPr wrap="square" lIns="0" tIns="0" rIns="0" bIns="0" rtlCol="0" anchor="ctr">
            <a:normAutofit/>
          </a:bodyPr>
          <a:lstStyle/>
          <a:p>
            <a:pPr marL="0" indent="0" algn="ctr">
              <a:buNone/>
            </a:pPr>
            <a:r>
              <a:rPr lang="en-US" sz="1120" b="1" dirty="0">
                <a:solidFill>
                  <a:srgbClr val="1D4ED8"/>
                </a:solidFill>
                <a:latin typeface="Arial" pitchFamily="34" charset="0"/>
                <a:ea typeface="Arial" pitchFamily="34" charset="-122"/>
                <a:cs typeface="Arial" pitchFamily="34" charset="-120"/>
              </a:rPr>
              <a:t>40,70%</a:t>
            </a:r>
            <a:endParaRPr lang="en-US" sz="1120" dirty="0"/>
          </a:p>
        </p:txBody>
      </p:sp>
      <p:sp>
        <p:nvSpPr>
          <p:cNvPr id="29" name="Shape 27"/>
          <p:cNvSpPr/>
          <p:nvPr/>
        </p:nvSpPr>
        <p:spPr>
          <a:xfrm>
            <a:off x="8302752" y="2825496"/>
            <a:ext cx="3337560" cy="539496"/>
          </a:xfrm>
          <a:prstGeom prst="rect">
            <a:avLst/>
          </a:prstGeom>
          <a:solidFill>
            <a:srgbClr val="F1F5F9"/>
          </a:solidFill>
          <a:ln w="12700">
            <a:solidFill>
              <a:srgbClr val="E2E8F0"/>
            </a:solidFill>
            <a:prstDash val="solid"/>
          </a:ln>
        </p:spPr>
      </p:sp>
      <p:sp>
        <p:nvSpPr>
          <p:cNvPr id="30" name="Text 28"/>
          <p:cNvSpPr txBox="1"/>
          <p:nvPr/>
        </p:nvSpPr>
        <p:spPr>
          <a:xfrm>
            <a:off x="8449056" y="2825496"/>
            <a:ext cx="3044952" cy="539496"/>
          </a:xfrm>
          <a:prstGeom prst="rect">
            <a:avLst/>
          </a:prstGeom>
          <a:noFill/>
          <a:ln/>
        </p:spPr>
        <p:txBody>
          <a:bodyPr wrap="square" lIns="0" tIns="0" rIns="0" bIns="0" rtlCol="0" anchor="ctr">
            <a:normAutofit/>
          </a:bodyPr>
          <a:lstStyle/>
          <a:p>
            <a:pPr marL="0" indent="0" algn="l">
              <a:buNone/>
            </a:pPr>
            <a:r>
              <a:rPr lang="en-US" sz="1120" dirty="0">
                <a:solidFill>
                  <a:srgbClr val="334155"/>
                </a:solidFill>
                <a:latin typeface="Arial" pitchFamily="34" charset="0"/>
                <a:ea typeface="Arial" pitchFamily="34" charset="-122"/>
                <a:cs typeface="Arial" pitchFamily="34" charset="-120"/>
              </a:rPr>
              <a:t>+24,86 điểm %</a:t>
            </a:r>
            <a:endParaRPr lang="en-US" sz="1120" dirty="0"/>
          </a:p>
        </p:txBody>
      </p:sp>
      <p:sp>
        <p:nvSpPr>
          <p:cNvPr id="31" name="Shape 29"/>
          <p:cNvSpPr/>
          <p:nvPr/>
        </p:nvSpPr>
        <p:spPr>
          <a:xfrm>
            <a:off x="566928" y="3364992"/>
            <a:ext cx="2834640" cy="539496"/>
          </a:xfrm>
          <a:prstGeom prst="rect">
            <a:avLst/>
          </a:prstGeom>
          <a:solidFill>
            <a:srgbClr val="FFFFFF"/>
          </a:solidFill>
          <a:ln w="12700">
            <a:solidFill>
              <a:srgbClr val="E2E8F0"/>
            </a:solidFill>
            <a:prstDash val="solid"/>
          </a:ln>
        </p:spPr>
      </p:sp>
      <p:sp>
        <p:nvSpPr>
          <p:cNvPr id="32" name="Text 30"/>
          <p:cNvSpPr txBox="1"/>
          <p:nvPr/>
        </p:nvSpPr>
        <p:spPr>
          <a:xfrm>
            <a:off x="713232" y="3364992"/>
            <a:ext cx="2542032" cy="539496"/>
          </a:xfrm>
          <a:prstGeom prst="rect">
            <a:avLst/>
          </a:prstGeom>
          <a:noFill/>
          <a:ln/>
        </p:spPr>
        <p:txBody>
          <a:bodyPr wrap="square" lIns="0" tIns="0" rIns="0" bIns="0" rtlCol="0" anchor="ctr">
            <a:normAutofit/>
          </a:bodyPr>
          <a:lstStyle/>
          <a:p>
            <a:pPr marL="0" indent="0" algn="l">
              <a:buNone/>
            </a:pPr>
            <a:r>
              <a:rPr lang="en-US" sz="1120" b="1" dirty="0">
                <a:solidFill>
                  <a:srgbClr val="162033"/>
                </a:solidFill>
                <a:latin typeface="Arial" pitchFamily="34" charset="0"/>
                <a:ea typeface="Arial" pitchFamily="34" charset="-122"/>
                <a:cs typeface="Arial" pitchFamily="34" charset="-120"/>
              </a:rPr>
              <a:t>Happy F1</a:t>
            </a:r>
            <a:endParaRPr lang="en-US" sz="1120" dirty="0"/>
          </a:p>
        </p:txBody>
      </p:sp>
      <p:sp>
        <p:nvSpPr>
          <p:cNvPr id="33" name="Shape 31"/>
          <p:cNvSpPr/>
          <p:nvPr/>
        </p:nvSpPr>
        <p:spPr>
          <a:xfrm>
            <a:off x="3401568" y="3364992"/>
            <a:ext cx="2450592" cy="539496"/>
          </a:xfrm>
          <a:prstGeom prst="rect">
            <a:avLst/>
          </a:prstGeom>
          <a:solidFill>
            <a:srgbClr val="FFFFFF"/>
          </a:solidFill>
          <a:ln w="12700">
            <a:solidFill>
              <a:srgbClr val="E2E8F0"/>
            </a:solidFill>
            <a:prstDash val="solid"/>
          </a:ln>
        </p:spPr>
      </p:sp>
      <p:sp>
        <p:nvSpPr>
          <p:cNvPr id="34" name="Text 32"/>
          <p:cNvSpPr txBox="1"/>
          <p:nvPr/>
        </p:nvSpPr>
        <p:spPr>
          <a:xfrm>
            <a:off x="3547872" y="3364992"/>
            <a:ext cx="2157984" cy="539496"/>
          </a:xfrm>
          <a:prstGeom prst="rect">
            <a:avLst/>
          </a:prstGeom>
          <a:noFill/>
          <a:ln/>
        </p:spPr>
        <p:txBody>
          <a:bodyPr wrap="square" lIns="0" tIns="0" rIns="0" bIns="0" rtlCol="0" anchor="ctr">
            <a:normAutofit/>
          </a:bodyPr>
          <a:lstStyle/>
          <a:p>
            <a:pPr marL="0" indent="0" algn="ctr">
              <a:buNone/>
            </a:pPr>
            <a:r>
              <a:rPr lang="en-US" sz="1120" dirty="0">
                <a:solidFill>
                  <a:srgbClr val="162033"/>
                </a:solidFill>
                <a:latin typeface="Arial" pitchFamily="34" charset="0"/>
                <a:ea typeface="Arial" pitchFamily="34" charset="-122"/>
                <a:cs typeface="Arial" pitchFamily="34" charset="-120"/>
              </a:rPr>
              <a:t>3,88%</a:t>
            </a:r>
            <a:endParaRPr lang="en-US" sz="1120" dirty="0"/>
          </a:p>
        </p:txBody>
      </p:sp>
      <p:sp>
        <p:nvSpPr>
          <p:cNvPr id="35" name="Shape 33"/>
          <p:cNvSpPr/>
          <p:nvPr/>
        </p:nvSpPr>
        <p:spPr>
          <a:xfrm>
            <a:off x="5852160" y="3364992"/>
            <a:ext cx="2450592" cy="539496"/>
          </a:xfrm>
          <a:prstGeom prst="rect">
            <a:avLst/>
          </a:prstGeom>
          <a:solidFill>
            <a:srgbClr val="FFFFFF"/>
          </a:solidFill>
          <a:ln w="12700">
            <a:solidFill>
              <a:srgbClr val="E2E8F0"/>
            </a:solidFill>
            <a:prstDash val="solid"/>
          </a:ln>
        </p:spPr>
      </p:sp>
      <p:sp>
        <p:nvSpPr>
          <p:cNvPr id="36" name="Text 34"/>
          <p:cNvSpPr txBox="1"/>
          <p:nvPr/>
        </p:nvSpPr>
        <p:spPr>
          <a:xfrm>
            <a:off x="5998464" y="3364992"/>
            <a:ext cx="2157984" cy="539496"/>
          </a:xfrm>
          <a:prstGeom prst="rect">
            <a:avLst/>
          </a:prstGeom>
          <a:noFill/>
          <a:ln/>
        </p:spPr>
        <p:txBody>
          <a:bodyPr wrap="square" lIns="0" tIns="0" rIns="0" bIns="0" rtlCol="0" anchor="ctr">
            <a:normAutofit/>
          </a:bodyPr>
          <a:lstStyle/>
          <a:p>
            <a:pPr marL="0" indent="0" algn="ctr">
              <a:buNone/>
            </a:pPr>
            <a:r>
              <a:rPr lang="en-US" sz="1120" b="1" dirty="0">
                <a:solidFill>
                  <a:srgbClr val="1D4ED8"/>
                </a:solidFill>
                <a:latin typeface="Arial" pitchFamily="34" charset="0"/>
                <a:ea typeface="Arial" pitchFamily="34" charset="-122"/>
                <a:cs typeface="Arial" pitchFamily="34" charset="-120"/>
              </a:rPr>
              <a:t>30,97%</a:t>
            </a:r>
            <a:endParaRPr lang="en-US" sz="1120" dirty="0"/>
          </a:p>
        </p:txBody>
      </p:sp>
      <p:sp>
        <p:nvSpPr>
          <p:cNvPr id="37" name="Shape 35"/>
          <p:cNvSpPr/>
          <p:nvPr/>
        </p:nvSpPr>
        <p:spPr>
          <a:xfrm>
            <a:off x="8302752" y="3364992"/>
            <a:ext cx="3337560" cy="539496"/>
          </a:xfrm>
          <a:prstGeom prst="rect">
            <a:avLst/>
          </a:prstGeom>
          <a:solidFill>
            <a:srgbClr val="FFFFFF"/>
          </a:solidFill>
          <a:ln w="12700">
            <a:solidFill>
              <a:srgbClr val="E2E8F0"/>
            </a:solidFill>
            <a:prstDash val="solid"/>
          </a:ln>
        </p:spPr>
      </p:sp>
      <p:sp>
        <p:nvSpPr>
          <p:cNvPr id="38" name="Text 36"/>
          <p:cNvSpPr txBox="1"/>
          <p:nvPr/>
        </p:nvSpPr>
        <p:spPr>
          <a:xfrm>
            <a:off x="8449056" y="3364992"/>
            <a:ext cx="3044952" cy="539496"/>
          </a:xfrm>
          <a:prstGeom prst="rect">
            <a:avLst/>
          </a:prstGeom>
          <a:noFill/>
          <a:ln/>
        </p:spPr>
        <p:txBody>
          <a:bodyPr wrap="square" lIns="0" tIns="0" rIns="0" bIns="0" rtlCol="0" anchor="ctr">
            <a:normAutofit/>
          </a:bodyPr>
          <a:lstStyle/>
          <a:p>
            <a:pPr marL="0" indent="0" algn="l">
              <a:buNone/>
            </a:pPr>
            <a:r>
              <a:rPr lang="en-US" sz="1120" dirty="0">
                <a:solidFill>
                  <a:srgbClr val="334155"/>
                </a:solidFill>
                <a:latin typeface="Arial" pitchFamily="34" charset="0"/>
                <a:ea typeface="Arial" pitchFamily="34" charset="-122"/>
                <a:cs typeface="Arial" pitchFamily="34" charset="-120"/>
              </a:rPr>
              <a:t>vẫn là class yếu</a:t>
            </a:r>
            <a:endParaRPr lang="en-US" sz="1120" dirty="0"/>
          </a:p>
        </p:txBody>
      </p:sp>
      <p:sp>
        <p:nvSpPr>
          <p:cNvPr id="39" name="Shape 37"/>
          <p:cNvSpPr/>
          <p:nvPr/>
        </p:nvSpPr>
        <p:spPr>
          <a:xfrm>
            <a:off x="566928" y="3904488"/>
            <a:ext cx="2834640" cy="539496"/>
          </a:xfrm>
          <a:prstGeom prst="rect">
            <a:avLst/>
          </a:prstGeom>
          <a:solidFill>
            <a:srgbClr val="F1F5F9"/>
          </a:solidFill>
          <a:ln w="12700">
            <a:solidFill>
              <a:srgbClr val="E2E8F0"/>
            </a:solidFill>
            <a:prstDash val="solid"/>
          </a:ln>
        </p:spPr>
      </p:sp>
      <p:sp>
        <p:nvSpPr>
          <p:cNvPr id="40" name="Text 38"/>
          <p:cNvSpPr txBox="1"/>
          <p:nvPr/>
        </p:nvSpPr>
        <p:spPr>
          <a:xfrm>
            <a:off x="713232" y="3904488"/>
            <a:ext cx="2542032" cy="539496"/>
          </a:xfrm>
          <a:prstGeom prst="rect">
            <a:avLst/>
          </a:prstGeom>
          <a:noFill/>
          <a:ln/>
        </p:spPr>
        <p:txBody>
          <a:bodyPr wrap="square" lIns="0" tIns="0" rIns="0" bIns="0" rtlCol="0" anchor="ctr">
            <a:normAutofit/>
          </a:bodyPr>
          <a:lstStyle/>
          <a:p>
            <a:pPr marL="0" indent="0" algn="l">
              <a:buNone/>
            </a:pPr>
            <a:r>
              <a:rPr lang="en-US" sz="1120" b="1" dirty="0">
                <a:solidFill>
                  <a:srgbClr val="162033"/>
                </a:solidFill>
                <a:latin typeface="Arial" pitchFamily="34" charset="0"/>
                <a:ea typeface="Arial" pitchFamily="34" charset="-122"/>
                <a:cs typeface="Arial" pitchFamily="34" charset="-120"/>
              </a:rPr>
              <a:t>Sad F1</a:t>
            </a:r>
            <a:endParaRPr lang="en-US" sz="1120" dirty="0"/>
          </a:p>
        </p:txBody>
      </p:sp>
      <p:sp>
        <p:nvSpPr>
          <p:cNvPr id="41" name="Shape 39"/>
          <p:cNvSpPr/>
          <p:nvPr/>
        </p:nvSpPr>
        <p:spPr>
          <a:xfrm>
            <a:off x="3401568" y="3904488"/>
            <a:ext cx="2450592" cy="539496"/>
          </a:xfrm>
          <a:prstGeom prst="rect">
            <a:avLst/>
          </a:prstGeom>
          <a:solidFill>
            <a:srgbClr val="F1F5F9"/>
          </a:solidFill>
          <a:ln w="12700">
            <a:solidFill>
              <a:srgbClr val="E2E8F0"/>
            </a:solidFill>
            <a:prstDash val="solid"/>
          </a:ln>
        </p:spPr>
      </p:sp>
      <p:sp>
        <p:nvSpPr>
          <p:cNvPr id="42" name="Text 40"/>
          <p:cNvSpPr txBox="1"/>
          <p:nvPr/>
        </p:nvSpPr>
        <p:spPr>
          <a:xfrm>
            <a:off x="3547872" y="3904488"/>
            <a:ext cx="2157984" cy="539496"/>
          </a:xfrm>
          <a:prstGeom prst="rect">
            <a:avLst/>
          </a:prstGeom>
          <a:noFill/>
          <a:ln/>
        </p:spPr>
        <p:txBody>
          <a:bodyPr wrap="square" lIns="0" tIns="0" rIns="0" bIns="0" rtlCol="0" anchor="ctr">
            <a:normAutofit/>
          </a:bodyPr>
          <a:lstStyle/>
          <a:p>
            <a:pPr marL="0" indent="0" algn="ctr">
              <a:buNone/>
            </a:pPr>
            <a:r>
              <a:rPr lang="en-US" sz="1120" dirty="0">
                <a:solidFill>
                  <a:srgbClr val="162033"/>
                </a:solidFill>
                <a:latin typeface="Arial" pitchFamily="34" charset="0"/>
                <a:ea typeface="Arial" pitchFamily="34" charset="-122"/>
                <a:cs typeface="Arial" pitchFamily="34" charset="-120"/>
              </a:rPr>
              <a:t>1,98%</a:t>
            </a:r>
            <a:endParaRPr lang="en-US" sz="1120" dirty="0"/>
          </a:p>
        </p:txBody>
      </p:sp>
      <p:sp>
        <p:nvSpPr>
          <p:cNvPr id="43" name="Shape 41"/>
          <p:cNvSpPr/>
          <p:nvPr/>
        </p:nvSpPr>
        <p:spPr>
          <a:xfrm>
            <a:off x="5852160" y="3904488"/>
            <a:ext cx="2450592" cy="539496"/>
          </a:xfrm>
          <a:prstGeom prst="rect">
            <a:avLst/>
          </a:prstGeom>
          <a:solidFill>
            <a:srgbClr val="F1F5F9"/>
          </a:solidFill>
          <a:ln w="12700">
            <a:solidFill>
              <a:srgbClr val="E2E8F0"/>
            </a:solidFill>
            <a:prstDash val="solid"/>
          </a:ln>
        </p:spPr>
      </p:sp>
      <p:sp>
        <p:nvSpPr>
          <p:cNvPr id="44" name="Text 42"/>
          <p:cNvSpPr txBox="1"/>
          <p:nvPr/>
        </p:nvSpPr>
        <p:spPr>
          <a:xfrm>
            <a:off x="5998464" y="3904488"/>
            <a:ext cx="2157984" cy="539496"/>
          </a:xfrm>
          <a:prstGeom prst="rect">
            <a:avLst/>
          </a:prstGeom>
          <a:noFill/>
          <a:ln/>
        </p:spPr>
        <p:txBody>
          <a:bodyPr wrap="square" lIns="0" tIns="0" rIns="0" bIns="0" rtlCol="0" anchor="ctr">
            <a:normAutofit/>
          </a:bodyPr>
          <a:lstStyle/>
          <a:p>
            <a:pPr marL="0" indent="0" algn="ctr">
              <a:buNone/>
            </a:pPr>
            <a:r>
              <a:rPr lang="en-US" sz="1120" b="1" dirty="0">
                <a:solidFill>
                  <a:srgbClr val="1D4ED8"/>
                </a:solidFill>
                <a:latin typeface="Arial" pitchFamily="34" charset="0"/>
                <a:ea typeface="Arial" pitchFamily="34" charset="-122"/>
                <a:cs typeface="Arial" pitchFamily="34" charset="-120"/>
              </a:rPr>
              <a:t>32,59%</a:t>
            </a:r>
            <a:endParaRPr lang="en-US" sz="1120" dirty="0"/>
          </a:p>
        </p:txBody>
      </p:sp>
      <p:sp>
        <p:nvSpPr>
          <p:cNvPr id="45" name="Shape 43"/>
          <p:cNvSpPr/>
          <p:nvPr/>
        </p:nvSpPr>
        <p:spPr>
          <a:xfrm>
            <a:off x="8302752" y="3904488"/>
            <a:ext cx="3337560" cy="539496"/>
          </a:xfrm>
          <a:prstGeom prst="rect">
            <a:avLst/>
          </a:prstGeom>
          <a:solidFill>
            <a:srgbClr val="F1F5F9"/>
          </a:solidFill>
          <a:ln w="12700">
            <a:solidFill>
              <a:srgbClr val="E2E8F0"/>
            </a:solidFill>
            <a:prstDash val="solid"/>
          </a:ln>
        </p:spPr>
      </p:sp>
      <p:sp>
        <p:nvSpPr>
          <p:cNvPr id="46" name="Text 44"/>
          <p:cNvSpPr txBox="1"/>
          <p:nvPr/>
        </p:nvSpPr>
        <p:spPr>
          <a:xfrm>
            <a:off x="8449056" y="3904488"/>
            <a:ext cx="3044952" cy="539496"/>
          </a:xfrm>
          <a:prstGeom prst="rect">
            <a:avLst/>
          </a:prstGeom>
          <a:noFill/>
          <a:ln/>
        </p:spPr>
        <p:txBody>
          <a:bodyPr wrap="square" lIns="0" tIns="0" rIns="0" bIns="0" rtlCol="0" anchor="ctr">
            <a:normAutofit/>
          </a:bodyPr>
          <a:lstStyle/>
          <a:p>
            <a:pPr marL="0" indent="0" algn="l">
              <a:buNone/>
            </a:pPr>
            <a:r>
              <a:rPr lang="en-US" sz="1120" dirty="0">
                <a:solidFill>
                  <a:srgbClr val="334155"/>
                </a:solidFill>
                <a:latin typeface="Arial" pitchFamily="34" charset="0"/>
                <a:ea typeface="Arial" pitchFamily="34" charset="-122"/>
                <a:cs typeface="Arial" pitchFamily="34" charset="-120"/>
              </a:rPr>
              <a:t>vẫn là class yếu</a:t>
            </a:r>
            <a:endParaRPr lang="en-US" sz="1120" dirty="0"/>
          </a:p>
        </p:txBody>
      </p:sp>
      <p:sp>
        <p:nvSpPr>
          <p:cNvPr id="47" name="Shape 45"/>
          <p:cNvSpPr/>
          <p:nvPr/>
        </p:nvSpPr>
        <p:spPr>
          <a:xfrm>
            <a:off x="566928" y="4443984"/>
            <a:ext cx="2834640" cy="539496"/>
          </a:xfrm>
          <a:prstGeom prst="rect">
            <a:avLst/>
          </a:prstGeom>
          <a:solidFill>
            <a:srgbClr val="FFFFFF"/>
          </a:solidFill>
          <a:ln w="12700">
            <a:solidFill>
              <a:srgbClr val="E2E8F0"/>
            </a:solidFill>
            <a:prstDash val="solid"/>
          </a:ln>
        </p:spPr>
      </p:sp>
      <p:sp>
        <p:nvSpPr>
          <p:cNvPr id="48" name="Text 46"/>
          <p:cNvSpPr txBox="1"/>
          <p:nvPr/>
        </p:nvSpPr>
        <p:spPr>
          <a:xfrm>
            <a:off x="713232" y="4443984"/>
            <a:ext cx="2542032" cy="539496"/>
          </a:xfrm>
          <a:prstGeom prst="rect">
            <a:avLst/>
          </a:prstGeom>
          <a:noFill/>
          <a:ln/>
        </p:spPr>
        <p:txBody>
          <a:bodyPr wrap="square" lIns="0" tIns="0" rIns="0" bIns="0" rtlCol="0" anchor="ctr">
            <a:normAutofit/>
          </a:bodyPr>
          <a:lstStyle/>
          <a:p>
            <a:pPr marL="0" indent="0" algn="l">
              <a:buNone/>
            </a:pPr>
            <a:r>
              <a:rPr lang="en-US" sz="1120" b="1" dirty="0">
                <a:solidFill>
                  <a:srgbClr val="162033"/>
                </a:solidFill>
                <a:latin typeface="Arial" pitchFamily="34" charset="0"/>
                <a:ea typeface="Arial" pitchFamily="34" charset="-122"/>
                <a:cs typeface="Arial" pitchFamily="34" charset="-120"/>
              </a:rPr>
              <a:t>Neutral F1</a:t>
            </a:r>
            <a:endParaRPr lang="en-US" sz="1120" dirty="0"/>
          </a:p>
        </p:txBody>
      </p:sp>
      <p:sp>
        <p:nvSpPr>
          <p:cNvPr id="49" name="Shape 47"/>
          <p:cNvSpPr/>
          <p:nvPr/>
        </p:nvSpPr>
        <p:spPr>
          <a:xfrm>
            <a:off x="3401568" y="4443984"/>
            <a:ext cx="2450592" cy="539496"/>
          </a:xfrm>
          <a:prstGeom prst="rect">
            <a:avLst/>
          </a:prstGeom>
          <a:solidFill>
            <a:srgbClr val="FFFFFF"/>
          </a:solidFill>
          <a:ln w="12700">
            <a:solidFill>
              <a:srgbClr val="E2E8F0"/>
            </a:solidFill>
            <a:prstDash val="solid"/>
          </a:ln>
        </p:spPr>
      </p:sp>
      <p:sp>
        <p:nvSpPr>
          <p:cNvPr id="50" name="Text 48"/>
          <p:cNvSpPr txBox="1"/>
          <p:nvPr/>
        </p:nvSpPr>
        <p:spPr>
          <a:xfrm>
            <a:off x="3547872" y="4443984"/>
            <a:ext cx="2157984" cy="539496"/>
          </a:xfrm>
          <a:prstGeom prst="rect">
            <a:avLst/>
          </a:prstGeom>
          <a:noFill/>
          <a:ln/>
        </p:spPr>
        <p:txBody>
          <a:bodyPr wrap="square" lIns="0" tIns="0" rIns="0" bIns="0" rtlCol="0" anchor="ctr">
            <a:normAutofit/>
          </a:bodyPr>
          <a:lstStyle/>
          <a:p>
            <a:pPr marL="0" indent="0" algn="ctr">
              <a:buNone/>
            </a:pPr>
            <a:r>
              <a:rPr lang="en-US" sz="1120" dirty="0">
                <a:solidFill>
                  <a:srgbClr val="162033"/>
                </a:solidFill>
                <a:latin typeface="Arial" pitchFamily="34" charset="0"/>
                <a:ea typeface="Arial" pitchFamily="34" charset="-122"/>
                <a:cs typeface="Arial" pitchFamily="34" charset="-120"/>
              </a:rPr>
              <a:t>41,15%</a:t>
            </a:r>
            <a:endParaRPr lang="en-US" sz="1120" dirty="0"/>
          </a:p>
        </p:txBody>
      </p:sp>
      <p:sp>
        <p:nvSpPr>
          <p:cNvPr id="51" name="Shape 49"/>
          <p:cNvSpPr/>
          <p:nvPr/>
        </p:nvSpPr>
        <p:spPr>
          <a:xfrm>
            <a:off x="5852160" y="4443984"/>
            <a:ext cx="2450592" cy="539496"/>
          </a:xfrm>
          <a:prstGeom prst="rect">
            <a:avLst/>
          </a:prstGeom>
          <a:solidFill>
            <a:srgbClr val="FFFFFF"/>
          </a:solidFill>
          <a:ln w="12700">
            <a:solidFill>
              <a:srgbClr val="E2E8F0"/>
            </a:solidFill>
            <a:prstDash val="solid"/>
          </a:ln>
        </p:spPr>
      </p:sp>
      <p:sp>
        <p:nvSpPr>
          <p:cNvPr id="52" name="Text 50"/>
          <p:cNvSpPr txBox="1"/>
          <p:nvPr/>
        </p:nvSpPr>
        <p:spPr>
          <a:xfrm>
            <a:off x="5998464" y="4443984"/>
            <a:ext cx="2157984" cy="539496"/>
          </a:xfrm>
          <a:prstGeom prst="rect">
            <a:avLst/>
          </a:prstGeom>
          <a:noFill/>
          <a:ln/>
        </p:spPr>
        <p:txBody>
          <a:bodyPr wrap="square" lIns="0" tIns="0" rIns="0" bIns="0" rtlCol="0" anchor="ctr">
            <a:normAutofit/>
          </a:bodyPr>
          <a:lstStyle/>
          <a:p>
            <a:pPr marL="0" indent="0" algn="ctr">
              <a:buNone/>
            </a:pPr>
            <a:r>
              <a:rPr lang="en-US" sz="1120" b="1" dirty="0">
                <a:solidFill>
                  <a:srgbClr val="1D4ED8"/>
                </a:solidFill>
                <a:latin typeface="Arial" pitchFamily="34" charset="0"/>
                <a:ea typeface="Arial" pitchFamily="34" charset="-122"/>
                <a:cs typeface="Arial" pitchFamily="34" charset="-120"/>
              </a:rPr>
              <a:t>49,52%</a:t>
            </a:r>
            <a:endParaRPr lang="en-US" sz="1120" dirty="0"/>
          </a:p>
        </p:txBody>
      </p:sp>
      <p:sp>
        <p:nvSpPr>
          <p:cNvPr id="53" name="Shape 51"/>
          <p:cNvSpPr/>
          <p:nvPr/>
        </p:nvSpPr>
        <p:spPr>
          <a:xfrm>
            <a:off x="8302752" y="4443984"/>
            <a:ext cx="3337560" cy="539496"/>
          </a:xfrm>
          <a:prstGeom prst="rect">
            <a:avLst/>
          </a:prstGeom>
          <a:solidFill>
            <a:srgbClr val="FFFFFF"/>
          </a:solidFill>
          <a:ln w="12700">
            <a:solidFill>
              <a:srgbClr val="E2E8F0"/>
            </a:solidFill>
            <a:prstDash val="solid"/>
          </a:ln>
        </p:spPr>
      </p:sp>
      <p:sp>
        <p:nvSpPr>
          <p:cNvPr id="54" name="Text 52"/>
          <p:cNvSpPr txBox="1"/>
          <p:nvPr/>
        </p:nvSpPr>
        <p:spPr>
          <a:xfrm>
            <a:off x="8449056" y="4443984"/>
            <a:ext cx="3044952" cy="539496"/>
          </a:xfrm>
          <a:prstGeom prst="rect">
            <a:avLst/>
          </a:prstGeom>
          <a:noFill/>
          <a:ln/>
        </p:spPr>
        <p:txBody>
          <a:bodyPr wrap="square" lIns="0" tIns="0" rIns="0" bIns="0" rtlCol="0" anchor="ctr">
            <a:normAutofit/>
          </a:bodyPr>
          <a:lstStyle/>
          <a:p>
            <a:pPr marL="0" indent="0" algn="l">
              <a:buNone/>
            </a:pPr>
            <a:r>
              <a:rPr lang="en-US" sz="1120" dirty="0">
                <a:solidFill>
                  <a:srgbClr val="334155"/>
                </a:solidFill>
                <a:latin typeface="Arial" pitchFamily="34" charset="0"/>
                <a:ea typeface="Arial" pitchFamily="34" charset="-122"/>
                <a:cs typeface="Arial" pitchFamily="34" charset="-120"/>
              </a:rPr>
              <a:t>dễ hơn</a:t>
            </a:r>
            <a:endParaRPr lang="en-US" sz="1120" dirty="0"/>
          </a:p>
        </p:txBody>
      </p:sp>
      <p:sp>
        <p:nvSpPr>
          <p:cNvPr id="55" name="Shape 53"/>
          <p:cNvSpPr/>
          <p:nvPr/>
        </p:nvSpPr>
        <p:spPr>
          <a:xfrm>
            <a:off x="566928" y="4983480"/>
            <a:ext cx="2834640" cy="539496"/>
          </a:xfrm>
          <a:prstGeom prst="rect">
            <a:avLst/>
          </a:prstGeom>
          <a:solidFill>
            <a:srgbClr val="F1F5F9"/>
          </a:solidFill>
          <a:ln w="12700">
            <a:solidFill>
              <a:srgbClr val="E2E8F0"/>
            </a:solidFill>
            <a:prstDash val="solid"/>
          </a:ln>
        </p:spPr>
      </p:sp>
      <p:sp>
        <p:nvSpPr>
          <p:cNvPr id="56" name="Text 54"/>
          <p:cNvSpPr txBox="1"/>
          <p:nvPr/>
        </p:nvSpPr>
        <p:spPr>
          <a:xfrm>
            <a:off x="713232" y="4983480"/>
            <a:ext cx="2542032" cy="539496"/>
          </a:xfrm>
          <a:prstGeom prst="rect">
            <a:avLst/>
          </a:prstGeom>
          <a:noFill/>
          <a:ln/>
        </p:spPr>
        <p:txBody>
          <a:bodyPr wrap="square" lIns="0" tIns="0" rIns="0" bIns="0" rtlCol="0" anchor="ctr">
            <a:normAutofit/>
          </a:bodyPr>
          <a:lstStyle/>
          <a:p>
            <a:pPr marL="0" indent="0" algn="l">
              <a:buNone/>
            </a:pPr>
            <a:r>
              <a:rPr lang="en-US" sz="1120" b="1" dirty="0">
                <a:solidFill>
                  <a:srgbClr val="162033"/>
                </a:solidFill>
                <a:latin typeface="Arial" pitchFamily="34" charset="0"/>
                <a:ea typeface="Arial" pitchFamily="34" charset="-122"/>
                <a:cs typeface="Arial" pitchFamily="34" charset="-120"/>
              </a:rPr>
              <a:t>Angry F1</a:t>
            </a:r>
            <a:endParaRPr lang="en-US" sz="1120" dirty="0"/>
          </a:p>
        </p:txBody>
      </p:sp>
      <p:sp>
        <p:nvSpPr>
          <p:cNvPr id="57" name="Shape 55"/>
          <p:cNvSpPr/>
          <p:nvPr/>
        </p:nvSpPr>
        <p:spPr>
          <a:xfrm>
            <a:off x="3401568" y="4983480"/>
            <a:ext cx="2450592" cy="539496"/>
          </a:xfrm>
          <a:prstGeom prst="rect">
            <a:avLst/>
          </a:prstGeom>
          <a:solidFill>
            <a:srgbClr val="F1F5F9"/>
          </a:solidFill>
          <a:ln w="12700">
            <a:solidFill>
              <a:srgbClr val="E2E8F0"/>
            </a:solidFill>
            <a:prstDash val="solid"/>
          </a:ln>
        </p:spPr>
      </p:sp>
      <p:sp>
        <p:nvSpPr>
          <p:cNvPr id="58" name="Text 56"/>
          <p:cNvSpPr txBox="1"/>
          <p:nvPr/>
        </p:nvSpPr>
        <p:spPr>
          <a:xfrm>
            <a:off x="3547872" y="4983480"/>
            <a:ext cx="2157984" cy="539496"/>
          </a:xfrm>
          <a:prstGeom prst="rect">
            <a:avLst/>
          </a:prstGeom>
          <a:noFill/>
          <a:ln/>
        </p:spPr>
        <p:txBody>
          <a:bodyPr wrap="square" lIns="0" tIns="0" rIns="0" bIns="0" rtlCol="0" anchor="ctr">
            <a:normAutofit/>
          </a:bodyPr>
          <a:lstStyle/>
          <a:p>
            <a:pPr marL="0" indent="0" algn="ctr">
              <a:buNone/>
            </a:pPr>
            <a:r>
              <a:rPr lang="en-US" sz="1120" dirty="0">
                <a:solidFill>
                  <a:srgbClr val="162033"/>
                </a:solidFill>
                <a:latin typeface="Arial" pitchFamily="34" charset="0"/>
                <a:ea typeface="Arial" pitchFamily="34" charset="-122"/>
                <a:cs typeface="Arial" pitchFamily="34" charset="-120"/>
              </a:rPr>
              <a:t>16,36%</a:t>
            </a:r>
            <a:endParaRPr lang="en-US" sz="1120" dirty="0"/>
          </a:p>
        </p:txBody>
      </p:sp>
      <p:sp>
        <p:nvSpPr>
          <p:cNvPr id="59" name="Shape 57"/>
          <p:cNvSpPr/>
          <p:nvPr/>
        </p:nvSpPr>
        <p:spPr>
          <a:xfrm>
            <a:off x="5852160" y="4983480"/>
            <a:ext cx="2450592" cy="539496"/>
          </a:xfrm>
          <a:prstGeom prst="rect">
            <a:avLst/>
          </a:prstGeom>
          <a:solidFill>
            <a:srgbClr val="F1F5F9"/>
          </a:solidFill>
          <a:ln w="12700">
            <a:solidFill>
              <a:srgbClr val="E2E8F0"/>
            </a:solidFill>
            <a:prstDash val="solid"/>
          </a:ln>
        </p:spPr>
      </p:sp>
      <p:sp>
        <p:nvSpPr>
          <p:cNvPr id="60" name="Text 58"/>
          <p:cNvSpPr txBox="1"/>
          <p:nvPr/>
        </p:nvSpPr>
        <p:spPr>
          <a:xfrm>
            <a:off x="5998464" y="4983480"/>
            <a:ext cx="2157984" cy="539496"/>
          </a:xfrm>
          <a:prstGeom prst="rect">
            <a:avLst/>
          </a:prstGeom>
          <a:noFill/>
          <a:ln/>
        </p:spPr>
        <p:txBody>
          <a:bodyPr wrap="square" lIns="0" tIns="0" rIns="0" bIns="0" rtlCol="0" anchor="ctr">
            <a:normAutofit/>
          </a:bodyPr>
          <a:lstStyle/>
          <a:p>
            <a:pPr marL="0" indent="0" algn="ctr">
              <a:buNone/>
            </a:pPr>
            <a:r>
              <a:rPr lang="en-US" sz="1120" b="1" dirty="0">
                <a:solidFill>
                  <a:srgbClr val="1D4ED8"/>
                </a:solidFill>
                <a:latin typeface="Arial" pitchFamily="34" charset="0"/>
                <a:ea typeface="Arial" pitchFamily="34" charset="-122"/>
                <a:cs typeface="Arial" pitchFamily="34" charset="-120"/>
              </a:rPr>
              <a:t>49,70%</a:t>
            </a:r>
            <a:endParaRPr lang="en-US" sz="1120" dirty="0"/>
          </a:p>
        </p:txBody>
      </p:sp>
      <p:sp>
        <p:nvSpPr>
          <p:cNvPr id="61" name="Shape 59"/>
          <p:cNvSpPr/>
          <p:nvPr/>
        </p:nvSpPr>
        <p:spPr>
          <a:xfrm>
            <a:off x="8302752" y="4983480"/>
            <a:ext cx="3337560" cy="539496"/>
          </a:xfrm>
          <a:prstGeom prst="rect">
            <a:avLst/>
          </a:prstGeom>
          <a:solidFill>
            <a:srgbClr val="F1F5F9"/>
          </a:solidFill>
          <a:ln w="12700">
            <a:solidFill>
              <a:srgbClr val="E2E8F0"/>
            </a:solidFill>
            <a:prstDash val="solid"/>
          </a:ln>
        </p:spPr>
      </p:sp>
      <p:sp>
        <p:nvSpPr>
          <p:cNvPr id="62" name="Text 60"/>
          <p:cNvSpPr txBox="1"/>
          <p:nvPr/>
        </p:nvSpPr>
        <p:spPr>
          <a:xfrm>
            <a:off x="8449056" y="4983480"/>
            <a:ext cx="3044952" cy="539496"/>
          </a:xfrm>
          <a:prstGeom prst="rect">
            <a:avLst/>
          </a:prstGeom>
          <a:noFill/>
          <a:ln/>
        </p:spPr>
        <p:txBody>
          <a:bodyPr wrap="square" lIns="0" tIns="0" rIns="0" bIns="0" rtlCol="0" anchor="ctr">
            <a:normAutofit/>
          </a:bodyPr>
          <a:lstStyle/>
          <a:p>
            <a:pPr marL="0" indent="0" algn="l">
              <a:buNone/>
            </a:pPr>
            <a:r>
              <a:rPr lang="en-US" sz="1120" dirty="0">
                <a:solidFill>
                  <a:srgbClr val="334155"/>
                </a:solidFill>
                <a:latin typeface="Arial" pitchFamily="34" charset="0"/>
                <a:ea typeface="Arial" pitchFamily="34" charset="-122"/>
                <a:cs typeface="Arial" pitchFamily="34" charset="-120"/>
              </a:rPr>
              <a:t>dễ hơn</a:t>
            </a:r>
            <a:endParaRPr lang="en-US" sz="1120" dirty="0"/>
          </a:p>
        </p:txBody>
      </p:sp>
      <p:sp>
        <p:nvSpPr>
          <p:cNvPr id="63" name="Shape 61"/>
          <p:cNvSpPr/>
          <p:nvPr/>
        </p:nvSpPr>
        <p:spPr>
          <a:xfrm>
            <a:off x="566928" y="5596128"/>
            <a:ext cx="11073384" cy="512064"/>
          </a:xfrm>
          <a:prstGeom prst="roundRect">
            <a:avLst>
              <a:gd name="adj" fmla="val 7143"/>
            </a:avLst>
          </a:prstGeom>
          <a:solidFill>
            <a:srgbClr val="FEF3C7"/>
          </a:solidFill>
          <a:ln w="12700">
            <a:solidFill>
              <a:srgbClr val="FEF3C7"/>
            </a:solidFill>
            <a:prstDash val="solid"/>
          </a:ln>
        </p:spPr>
      </p:sp>
      <p:pic>
        <p:nvPicPr>
          <p:cNvPr id="6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096" y="5733288"/>
            <a:ext cx="237744" cy="237744"/>
          </a:xfrm>
          <a:prstGeom prst="rect">
            <a:avLst/>
          </a:prstGeom>
        </p:spPr>
      </p:pic>
      <p:sp>
        <p:nvSpPr>
          <p:cNvPr id="65" name="Text 62"/>
          <p:cNvSpPr txBox="1"/>
          <p:nvPr/>
        </p:nvSpPr>
        <p:spPr>
          <a:xfrm>
            <a:off x="1133856" y="5660136"/>
            <a:ext cx="10094976" cy="365760"/>
          </a:xfrm>
          <a:prstGeom prst="rect">
            <a:avLst/>
          </a:prstGeom>
          <a:noFill/>
          <a:ln/>
        </p:spPr>
        <p:txBody>
          <a:bodyPr wrap="square" lIns="0" tIns="0" rIns="0" bIns="0" rtlCol="0" anchor="ctr">
            <a:normAutofit/>
          </a:bodyPr>
          <a:lstStyle/>
          <a:p>
            <a:pPr marL="0" indent="0" algn="ctr">
              <a:buNone/>
            </a:pPr>
            <a:r>
              <a:rPr lang="en-US" sz="1230" b="1" dirty="0">
                <a:solidFill>
                  <a:srgbClr val="B45309"/>
                </a:solidFill>
                <a:latin typeface="Arial" pitchFamily="34" charset="0"/>
                <a:ea typeface="Arial" pitchFamily="34" charset="-122"/>
                <a:cs typeface="Arial" pitchFamily="34" charset="-120"/>
              </a:rPr>
              <a:t>Quyết định kỹ thuật: chọn MERaLiON làm baseline mặc định; không gọi đây là model production-grade.</a:t>
            </a:r>
            <a:endParaRPr lang="en-US" sz="1230" dirty="0"/>
          </a:p>
        </p:txBody>
      </p:sp>
      <p:sp>
        <p:nvSpPr>
          <p:cNvPr id="66" name="Shape 63"/>
          <p:cNvSpPr/>
          <p:nvPr/>
        </p:nvSpPr>
        <p:spPr>
          <a:xfrm>
            <a:off x="530352" y="6382512"/>
            <a:ext cx="11128248" cy="0"/>
          </a:xfrm>
          <a:prstGeom prst="line">
            <a:avLst/>
          </a:prstGeom>
          <a:noFill/>
          <a:ln w="10160">
            <a:solidFill>
              <a:srgbClr val="E2E8F0"/>
            </a:solidFill>
            <a:prstDash val="solid"/>
          </a:ln>
        </p:spPr>
      </p:sp>
      <p:sp>
        <p:nvSpPr>
          <p:cNvPr id="67" name="Text 64"/>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docs/PRESENTATION.md (chunkformer legacy) • scores.json (MERaLiON canonical).</a:t>
            </a:r>
            <a:endParaRPr lang="en-US" sz="850" dirty="0"/>
          </a:p>
        </p:txBody>
      </p:sp>
      <p:sp>
        <p:nvSpPr>
          <p:cNvPr id="68"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10  /  KẾT QUẢ</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Baseline đạt 40,25%, còn xa 65%</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Kết quả canonical trên ViSEC subset 400 clips • RTX 4050 • FP16.</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55648"/>
            <a:ext cx="2542032" cy="2029968"/>
          </a:xfrm>
          <a:prstGeom prst="roundRect">
            <a:avLst>
              <a:gd name="adj" fmla="val 2252"/>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786384" y="1956816"/>
            <a:ext cx="438912" cy="438912"/>
          </a:xfrm>
          <a:prstGeom prst="ellipse">
            <a:avLst/>
          </a:prstGeom>
          <a:solidFill>
            <a:srgbClr val="DBEAFE"/>
          </a:solidFill>
          <a:ln w="12700">
            <a:solidFill>
              <a:srgbClr val="DBEAFE"/>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6112" y="2066544"/>
            <a:ext cx="219456" cy="219456"/>
          </a:xfrm>
          <a:prstGeom prst="rect">
            <a:avLst/>
          </a:prstGeom>
        </p:spPr>
      </p:pic>
      <p:sp>
        <p:nvSpPr>
          <p:cNvPr id="10" name="Text 7"/>
          <p:cNvSpPr txBox="1"/>
          <p:nvPr/>
        </p:nvSpPr>
        <p:spPr>
          <a:xfrm>
            <a:off x="768096" y="2505456"/>
            <a:ext cx="2139696" cy="576072"/>
          </a:xfrm>
          <a:prstGeom prst="rect">
            <a:avLst/>
          </a:prstGeom>
          <a:noFill/>
          <a:ln/>
        </p:spPr>
        <p:txBody>
          <a:bodyPr wrap="square" lIns="0" tIns="0" rIns="0" bIns="0" rtlCol="0" anchor="ctr">
            <a:normAutofit/>
          </a:bodyPr>
          <a:lstStyle/>
          <a:p>
            <a:pPr marL="0" indent="0" algn="l">
              <a:buNone/>
            </a:pPr>
            <a:r>
              <a:rPr lang="en-US" sz="2800" b="1" dirty="0">
                <a:solidFill>
                  <a:srgbClr val="1D4ED8"/>
                </a:solidFill>
                <a:latin typeface="Arial" pitchFamily="34" charset="0"/>
                <a:ea typeface="Arial" pitchFamily="34" charset="-122"/>
                <a:cs typeface="Arial" pitchFamily="34" charset="-120"/>
              </a:rPr>
              <a:t>40,25%</a:t>
            </a:r>
            <a:endParaRPr lang="en-US" sz="2800" dirty="0"/>
          </a:p>
        </p:txBody>
      </p:sp>
      <p:sp>
        <p:nvSpPr>
          <p:cNvPr id="11" name="Text 8"/>
          <p:cNvSpPr txBox="1"/>
          <p:nvPr/>
        </p:nvSpPr>
        <p:spPr>
          <a:xfrm>
            <a:off x="768096" y="3090672"/>
            <a:ext cx="2139696" cy="310896"/>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Accuracy</a:t>
            </a:r>
            <a:endParaRPr lang="en-US" sz="1200" dirty="0"/>
          </a:p>
        </p:txBody>
      </p:sp>
      <p:sp>
        <p:nvSpPr>
          <p:cNvPr id="12" name="Text 9"/>
          <p:cNvSpPr txBox="1"/>
          <p:nvPr/>
        </p:nvSpPr>
        <p:spPr>
          <a:xfrm>
            <a:off x="768096" y="3401568"/>
            <a:ext cx="2139696" cy="292608"/>
          </a:xfrm>
          <a:prstGeom prst="rect">
            <a:avLst/>
          </a:prstGeom>
          <a:noFill/>
          <a:ln/>
        </p:spPr>
        <p:txBody>
          <a:bodyPr wrap="square" lIns="0" tIns="0" rIns="0" bIns="0" rtlCol="0" anchor="t">
            <a:normAutofit/>
          </a:bodyPr>
          <a:lstStyle/>
          <a:p>
            <a:pPr marL="0" indent="0" algn="l">
              <a:buNone/>
            </a:pPr>
            <a:r>
              <a:rPr lang="en-US" sz="950" dirty="0">
                <a:solidFill>
                  <a:srgbClr val="64748B"/>
                </a:solidFill>
                <a:latin typeface="Arial" pitchFamily="34" charset="0"/>
                <a:ea typeface="Arial" pitchFamily="34" charset="-122"/>
                <a:cs typeface="Arial" pitchFamily="34" charset="-120"/>
              </a:rPr>
              <a:t>161 / 400 dự đoán đúng</a:t>
            </a:r>
            <a:endParaRPr lang="en-US" sz="950" dirty="0"/>
          </a:p>
        </p:txBody>
      </p:sp>
      <p:sp>
        <p:nvSpPr>
          <p:cNvPr id="13" name="Shape 10"/>
          <p:cNvSpPr/>
          <p:nvPr/>
        </p:nvSpPr>
        <p:spPr>
          <a:xfrm>
            <a:off x="3401568" y="1755648"/>
            <a:ext cx="2542032" cy="2029968"/>
          </a:xfrm>
          <a:prstGeom prst="roundRect">
            <a:avLst>
              <a:gd name="adj" fmla="val 2252"/>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4" name="Shape 11"/>
          <p:cNvSpPr/>
          <p:nvPr/>
        </p:nvSpPr>
        <p:spPr>
          <a:xfrm>
            <a:off x="3621024" y="1956816"/>
            <a:ext cx="438912" cy="438912"/>
          </a:xfrm>
          <a:prstGeom prst="ellipse">
            <a:avLst/>
          </a:prstGeom>
          <a:solidFill>
            <a:srgbClr val="DCFCE7"/>
          </a:solidFill>
          <a:ln w="12700">
            <a:solidFill>
              <a:srgbClr val="DCFCE7"/>
            </a:solidFill>
            <a:prstDash val="solid"/>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30752" y="2066544"/>
            <a:ext cx="219456" cy="219456"/>
          </a:xfrm>
          <a:prstGeom prst="rect">
            <a:avLst/>
          </a:prstGeom>
        </p:spPr>
      </p:pic>
      <p:sp>
        <p:nvSpPr>
          <p:cNvPr id="16" name="Text 12"/>
          <p:cNvSpPr txBox="1"/>
          <p:nvPr/>
        </p:nvSpPr>
        <p:spPr>
          <a:xfrm>
            <a:off x="3602736" y="2505456"/>
            <a:ext cx="2139696" cy="576072"/>
          </a:xfrm>
          <a:prstGeom prst="rect">
            <a:avLst/>
          </a:prstGeom>
          <a:noFill/>
          <a:ln/>
        </p:spPr>
        <p:txBody>
          <a:bodyPr wrap="square" lIns="0" tIns="0" rIns="0" bIns="0" rtlCol="0" anchor="ctr">
            <a:normAutofit/>
          </a:bodyPr>
          <a:lstStyle/>
          <a:p>
            <a:pPr marL="0" indent="0" algn="l">
              <a:buNone/>
            </a:pPr>
            <a:r>
              <a:rPr lang="en-US" sz="2800" b="1" dirty="0">
                <a:solidFill>
                  <a:srgbClr val="15803D"/>
                </a:solidFill>
                <a:latin typeface="Arial" pitchFamily="34" charset="0"/>
                <a:ea typeface="Arial" pitchFamily="34" charset="-122"/>
                <a:cs typeface="Arial" pitchFamily="34" charset="-120"/>
              </a:rPr>
              <a:t>40,70%</a:t>
            </a:r>
            <a:endParaRPr lang="en-US" sz="2800" dirty="0"/>
          </a:p>
        </p:txBody>
      </p:sp>
      <p:sp>
        <p:nvSpPr>
          <p:cNvPr id="17" name="Text 13"/>
          <p:cNvSpPr txBox="1"/>
          <p:nvPr/>
        </p:nvSpPr>
        <p:spPr>
          <a:xfrm>
            <a:off x="3602736" y="3090672"/>
            <a:ext cx="2139696" cy="310896"/>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Macro-F1</a:t>
            </a:r>
            <a:endParaRPr lang="en-US" sz="1200" dirty="0"/>
          </a:p>
        </p:txBody>
      </p:sp>
      <p:sp>
        <p:nvSpPr>
          <p:cNvPr id="18" name="Text 14"/>
          <p:cNvSpPr txBox="1"/>
          <p:nvPr/>
        </p:nvSpPr>
        <p:spPr>
          <a:xfrm>
            <a:off x="3602736" y="3401568"/>
            <a:ext cx="2139696" cy="292608"/>
          </a:xfrm>
          <a:prstGeom prst="rect">
            <a:avLst/>
          </a:prstGeom>
          <a:noFill/>
          <a:ln/>
        </p:spPr>
        <p:txBody>
          <a:bodyPr wrap="square" lIns="0" tIns="0" rIns="0" bIns="0" rtlCol="0" anchor="t">
            <a:normAutofit/>
          </a:bodyPr>
          <a:lstStyle/>
          <a:p>
            <a:pPr marL="0" indent="0" algn="l">
              <a:buNone/>
            </a:pPr>
            <a:r>
              <a:rPr lang="en-US" sz="950" dirty="0">
                <a:solidFill>
                  <a:srgbClr val="64748B"/>
                </a:solidFill>
                <a:latin typeface="Arial" pitchFamily="34" charset="0"/>
                <a:ea typeface="Arial" pitchFamily="34" charset="-122"/>
                <a:cs typeface="Arial" pitchFamily="34" charset="-120"/>
              </a:rPr>
              <a:t>trung bình đều 4 class</a:t>
            </a:r>
            <a:endParaRPr lang="en-US" sz="950" dirty="0"/>
          </a:p>
        </p:txBody>
      </p:sp>
      <p:sp>
        <p:nvSpPr>
          <p:cNvPr id="19" name="Shape 15"/>
          <p:cNvSpPr/>
          <p:nvPr/>
        </p:nvSpPr>
        <p:spPr>
          <a:xfrm>
            <a:off x="6236208" y="1755648"/>
            <a:ext cx="2542032" cy="2029968"/>
          </a:xfrm>
          <a:prstGeom prst="roundRect">
            <a:avLst>
              <a:gd name="adj" fmla="val 2252"/>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0" name="Shape 16"/>
          <p:cNvSpPr/>
          <p:nvPr/>
        </p:nvSpPr>
        <p:spPr>
          <a:xfrm>
            <a:off x="6455664" y="1956816"/>
            <a:ext cx="438912" cy="438912"/>
          </a:xfrm>
          <a:prstGeom prst="ellipse">
            <a:avLst/>
          </a:prstGeom>
          <a:solidFill>
            <a:srgbClr val="FEF3C7"/>
          </a:solidFill>
          <a:ln w="12700">
            <a:solidFill>
              <a:srgbClr val="FEF3C7"/>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65392" y="2066544"/>
            <a:ext cx="219456" cy="219456"/>
          </a:xfrm>
          <a:prstGeom prst="rect">
            <a:avLst/>
          </a:prstGeom>
        </p:spPr>
      </p:pic>
      <p:sp>
        <p:nvSpPr>
          <p:cNvPr id="22" name="Text 17"/>
          <p:cNvSpPr txBox="1"/>
          <p:nvPr/>
        </p:nvSpPr>
        <p:spPr>
          <a:xfrm>
            <a:off x="6437376" y="2505456"/>
            <a:ext cx="2139696" cy="576072"/>
          </a:xfrm>
          <a:prstGeom prst="rect">
            <a:avLst/>
          </a:prstGeom>
          <a:noFill/>
          <a:ln/>
        </p:spPr>
        <p:txBody>
          <a:bodyPr wrap="square" lIns="0" tIns="0" rIns="0" bIns="0" rtlCol="0" anchor="ctr">
            <a:normAutofit/>
          </a:bodyPr>
          <a:lstStyle/>
          <a:p>
            <a:pPr marL="0" indent="0" algn="l">
              <a:buNone/>
            </a:pPr>
            <a:r>
              <a:rPr lang="en-US" sz="2800" b="1" dirty="0">
                <a:solidFill>
                  <a:srgbClr val="B45309"/>
                </a:solidFill>
                <a:latin typeface="Arial" pitchFamily="34" charset="0"/>
                <a:ea typeface="Arial" pitchFamily="34" charset="-122"/>
                <a:cs typeface="Arial" pitchFamily="34" charset="-120"/>
              </a:rPr>
              <a:t>400</a:t>
            </a:r>
            <a:endParaRPr lang="en-US" sz="2800" dirty="0"/>
          </a:p>
        </p:txBody>
      </p:sp>
      <p:sp>
        <p:nvSpPr>
          <p:cNvPr id="23" name="Text 18"/>
          <p:cNvSpPr txBox="1"/>
          <p:nvPr/>
        </p:nvSpPr>
        <p:spPr>
          <a:xfrm>
            <a:off x="6437376" y="3090672"/>
            <a:ext cx="2139696" cy="310896"/>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Clips benchmark</a:t>
            </a:r>
            <a:endParaRPr lang="en-US" sz="1200" dirty="0"/>
          </a:p>
        </p:txBody>
      </p:sp>
      <p:sp>
        <p:nvSpPr>
          <p:cNvPr id="24" name="Text 19"/>
          <p:cNvSpPr txBox="1"/>
          <p:nvPr/>
        </p:nvSpPr>
        <p:spPr>
          <a:xfrm>
            <a:off x="6437376" y="3401568"/>
            <a:ext cx="2139696" cy="292608"/>
          </a:xfrm>
          <a:prstGeom prst="rect">
            <a:avLst/>
          </a:prstGeom>
          <a:noFill/>
          <a:ln/>
        </p:spPr>
        <p:txBody>
          <a:bodyPr wrap="square" lIns="0" tIns="0" rIns="0" bIns="0" rtlCol="0" anchor="t">
            <a:normAutofit/>
          </a:bodyPr>
          <a:lstStyle/>
          <a:p>
            <a:pPr marL="0" indent="0" algn="l">
              <a:buNone/>
            </a:pPr>
            <a:r>
              <a:rPr lang="en-US" sz="950" dirty="0">
                <a:solidFill>
                  <a:srgbClr val="64748B"/>
                </a:solidFill>
                <a:latin typeface="Arial" pitchFamily="34" charset="0"/>
                <a:ea typeface="Arial" pitchFamily="34" charset="-122"/>
                <a:cs typeface="Arial" pitchFamily="34" charset="-120"/>
              </a:rPr>
              <a:t>100 clips / class</a:t>
            </a:r>
            <a:endParaRPr lang="en-US" sz="950" dirty="0"/>
          </a:p>
        </p:txBody>
      </p:sp>
      <p:sp>
        <p:nvSpPr>
          <p:cNvPr id="25" name="Shape 20"/>
          <p:cNvSpPr/>
          <p:nvPr/>
        </p:nvSpPr>
        <p:spPr>
          <a:xfrm>
            <a:off x="9070848" y="1755648"/>
            <a:ext cx="2569464" cy="2029968"/>
          </a:xfrm>
          <a:prstGeom prst="roundRect">
            <a:avLst>
              <a:gd name="adj" fmla="val 2252"/>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6" name="Shape 21"/>
          <p:cNvSpPr/>
          <p:nvPr/>
        </p:nvSpPr>
        <p:spPr>
          <a:xfrm>
            <a:off x="9290304" y="1956816"/>
            <a:ext cx="438912" cy="438912"/>
          </a:xfrm>
          <a:prstGeom prst="ellipse">
            <a:avLst/>
          </a:prstGeom>
          <a:solidFill>
            <a:srgbClr val="DBEAFE"/>
          </a:solidFill>
          <a:ln w="12700">
            <a:solidFill>
              <a:srgbClr val="DBEAFE"/>
            </a:solidFill>
            <a:prstDash val="solid"/>
          </a:ln>
        </p:spPr>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00032" y="2066544"/>
            <a:ext cx="219456" cy="219456"/>
          </a:xfrm>
          <a:prstGeom prst="rect">
            <a:avLst/>
          </a:prstGeom>
        </p:spPr>
      </p:pic>
      <p:sp>
        <p:nvSpPr>
          <p:cNvPr id="28" name="Text 22"/>
          <p:cNvSpPr txBox="1"/>
          <p:nvPr/>
        </p:nvSpPr>
        <p:spPr>
          <a:xfrm>
            <a:off x="9272016" y="2505456"/>
            <a:ext cx="2167128" cy="576072"/>
          </a:xfrm>
          <a:prstGeom prst="rect">
            <a:avLst/>
          </a:prstGeom>
          <a:noFill/>
          <a:ln/>
        </p:spPr>
        <p:txBody>
          <a:bodyPr wrap="square" lIns="0" tIns="0" rIns="0" bIns="0" rtlCol="0" anchor="ctr">
            <a:normAutofit/>
          </a:bodyPr>
          <a:lstStyle/>
          <a:p>
            <a:pPr marL="0" indent="0" algn="l">
              <a:buNone/>
            </a:pPr>
            <a:r>
              <a:rPr lang="en-US" sz="2800" b="1" dirty="0">
                <a:solidFill>
                  <a:srgbClr val="0F766E"/>
                </a:solidFill>
                <a:latin typeface="Arial" pitchFamily="34" charset="0"/>
                <a:ea typeface="Arial" pitchFamily="34" charset="-122"/>
                <a:cs typeface="Arial" pitchFamily="34" charset="-120"/>
              </a:rPr>
              <a:t>69 ms</a:t>
            </a:r>
            <a:endParaRPr lang="en-US" sz="2800" dirty="0"/>
          </a:p>
        </p:txBody>
      </p:sp>
      <p:sp>
        <p:nvSpPr>
          <p:cNvPr id="29" name="Text 23"/>
          <p:cNvSpPr txBox="1"/>
          <p:nvPr/>
        </p:nvSpPr>
        <p:spPr>
          <a:xfrm>
            <a:off x="9272016" y="3090672"/>
            <a:ext cx="2167128" cy="310896"/>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Latency / clip</a:t>
            </a:r>
            <a:endParaRPr lang="en-US" sz="1200" dirty="0"/>
          </a:p>
        </p:txBody>
      </p:sp>
      <p:sp>
        <p:nvSpPr>
          <p:cNvPr id="30" name="Text 24"/>
          <p:cNvSpPr txBox="1"/>
          <p:nvPr/>
        </p:nvSpPr>
        <p:spPr>
          <a:xfrm>
            <a:off x="9272016" y="3401568"/>
            <a:ext cx="2167128" cy="292608"/>
          </a:xfrm>
          <a:prstGeom prst="rect">
            <a:avLst/>
          </a:prstGeom>
          <a:noFill/>
          <a:ln/>
        </p:spPr>
        <p:txBody>
          <a:bodyPr wrap="square" lIns="0" tIns="0" rIns="0" bIns="0" rtlCol="0" anchor="t">
            <a:normAutofit/>
          </a:bodyPr>
          <a:lstStyle/>
          <a:p>
            <a:pPr marL="0" indent="0" algn="l">
              <a:buNone/>
            </a:pPr>
            <a:r>
              <a:rPr lang="en-US" sz="950" dirty="0">
                <a:solidFill>
                  <a:srgbClr val="64748B"/>
                </a:solidFill>
                <a:latin typeface="Arial" pitchFamily="34" charset="0"/>
                <a:ea typeface="Arial" pitchFamily="34" charset="-122"/>
                <a:cs typeface="Arial" pitchFamily="34" charset="-120"/>
              </a:rPr>
              <a:t>RTX 4050 • FP16</a:t>
            </a:r>
            <a:endParaRPr lang="en-US" sz="950" dirty="0"/>
          </a:p>
        </p:txBody>
      </p:sp>
      <p:sp>
        <p:nvSpPr>
          <p:cNvPr id="31" name="Shape 25"/>
          <p:cNvSpPr/>
          <p:nvPr/>
        </p:nvSpPr>
        <p:spPr>
          <a:xfrm>
            <a:off x="566928" y="4133088"/>
            <a:ext cx="11073384" cy="1591056"/>
          </a:xfrm>
          <a:prstGeom prst="roundRect">
            <a:avLst>
              <a:gd name="adj" fmla="val 2874"/>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32" name="Text 26"/>
          <p:cNvSpPr txBox="1"/>
          <p:nvPr/>
        </p:nvSpPr>
        <p:spPr>
          <a:xfrm>
            <a:off x="859536" y="4407408"/>
            <a:ext cx="1481328" cy="237744"/>
          </a:xfrm>
          <a:prstGeom prst="rect">
            <a:avLst/>
          </a:prstGeom>
          <a:noFill/>
          <a:ln/>
        </p:spPr>
        <p:txBody>
          <a:bodyPr wrap="square" lIns="0" tIns="0" rIns="0" bIns="0" rtlCol="0" anchor="ctr">
            <a:normAutofit/>
          </a:bodyPr>
          <a:lstStyle/>
          <a:p>
            <a:pPr marL="0" indent="0" algn="l">
              <a:buNone/>
            </a:pPr>
            <a:r>
              <a:rPr lang="en-US" sz="1050" b="1" dirty="0">
                <a:solidFill>
                  <a:srgbClr val="B91C1C"/>
                </a:solidFill>
                <a:latin typeface="Arial" pitchFamily="34" charset="0"/>
                <a:ea typeface="Arial" pitchFamily="34" charset="-122"/>
                <a:cs typeface="Arial" pitchFamily="34" charset="-120"/>
              </a:rPr>
              <a:t>STOP CRITERION</a:t>
            </a:r>
            <a:endParaRPr lang="en-US" sz="1050" dirty="0"/>
          </a:p>
        </p:txBody>
      </p:sp>
      <p:sp>
        <p:nvSpPr>
          <p:cNvPr id="33" name="Text 27"/>
          <p:cNvSpPr txBox="1"/>
          <p:nvPr/>
        </p:nvSpPr>
        <p:spPr>
          <a:xfrm>
            <a:off x="859536" y="4791456"/>
            <a:ext cx="1243584" cy="402336"/>
          </a:xfrm>
          <a:prstGeom prst="rect">
            <a:avLst/>
          </a:prstGeom>
          <a:noFill/>
          <a:ln/>
        </p:spPr>
        <p:txBody>
          <a:bodyPr wrap="square" lIns="0" tIns="0" rIns="0" bIns="0" rtlCol="0" anchor="ctr">
            <a:normAutofit/>
          </a:bodyPr>
          <a:lstStyle/>
          <a:p>
            <a:pPr marL="0" indent="0" algn="l">
              <a:buNone/>
            </a:pPr>
            <a:r>
              <a:rPr lang="en-US" sz="2000" b="1" dirty="0">
                <a:solidFill>
                  <a:srgbClr val="1D4ED8"/>
                </a:solidFill>
                <a:latin typeface="Arial" pitchFamily="34" charset="0"/>
                <a:ea typeface="Arial" pitchFamily="34" charset="-122"/>
                <a:cs typeface="Arial" pitchFamily="34" charset="-120"/>
              </a:rPr>
              <a:t>40,25%</a:t>
            </a:r>
            <a:endParaRPr lang="en-US" sz="2000" dirty="0"/>
          </a:p>
        </p:txBody>
      </p:sp>
      <p:sp>
        <p:nvSpPr>
          <p:cNvPr id="34" name="Shape 28"/>
          <p:cNvSpPr/>
          <p:nvPr/>
        </p:nvSpPr>
        <p:spPr>
          <a:xfrm>
            <a:off x="2212848" y="4882896"/>
            <a:ext cx="7808976" cy="219456"/>
          </a:xfrm>
          <a:prstGeom prst="roundRect">
            <a:avLst>
              <a:gd name="adj" fmla="val 16667"/>
            </a:avLst>
          </a:prstGeom>
          <a:solidFill>
            <a:srgbClr val="F1F5F9"/>
          </a:solidFill>
          <a:ln w="12700">
            <a:solidFill>
              <a:srgbClr val="F1F5F9"/>
            </a:solidFill>
            <a:prstDash val="solid"/>
          </a:ln>
        </p:spPr>
      </p:sp>
      <p:sp>
        <p:nvSpPr>
          <p:cNvPr id="35" name="Shape 29"/>
          <p:cNvSpPr/>
          <p:nvPr/>
        </p:nvSpPr>
        <p:spPr>
          <a:xfrm>
            <a:off x="2212848" y="4882896"/>
            <a:ext cx="4835558" cy="219456"/>
          </a:xfrm>
          <a:prstGeom prst="roundRect">
            <a:avLst>
              <a:gd name="adj" fmla="val 16667"/>
            </a:avLst>
          </a:prstGeom>
          <a:solidFill>
            <a:srgbClr val="1D4ED8"/>
          </a:solidFill>
          <a:ln w="12700">
            <a:solidFill>
              <a:srgbClr val="1D4ED8"/>
            </a:solidFill>
            <a:prstDash val="solid"/>
          </a:ln>
        </p:spPr>
      </p:sp>
      <p:sp>
        <p:nvSpPr>
          <p:cNvPr id="36" name="Shape 30"/>
          <p:cNvSpPr/>
          <p:nvPr/>
        </p:nvSpPr>
        <p:spPr>
          <a:xfrm>
            <a:off x="10021824" y="4645152"/>
            <a:ext cx="0" cy="704088"/>
          </a:xfrm>
          <a:prstGeom prst="line">
            <a:avLst/>
          </a:prstGeom>
          <a:noFill/>
          <a:ln w="25400">
            <a:solidFill>
              <a:srgbClr val="B91C1C"/>
            </a:solidFill>
            <a:prstDash val="solid"/>
          </a:ln>
        </p:spPr>
      </p:sp>
      <p:sp>
        <p:nvSpPr>
          <p:cNvPr id="37" name="Text 31"/>
          <p:cNvSpPr txBox="1"/>
          <p:nvPr/>
        </p:nvSpPr>
        <p:spPr>
          <a:xfrm>
            <a:off x="10204704" y="4736592"/>
            <a:ext cx="640080" cy="329184"/>
          </a:xfrm>
          <a:prstGeom prst="rect">
            <a:avLst/>
          </a:prstGeom>
          <a:noFill/>
          <a:ln/>
        </p:spPr>
        <p:txBody>
          <a:bodyPr wrap="square" lIns="0" tIns="0" rIns="0" bIns="0" rtlCol="0" anchor="ctr">
            <a:normAutofit/>
          </a:bodyPr>
          <a:lstStyle/>
          <a:p>
            <a:pPr marL="0" indent="0" algn="l">
              <a:buNone/>
            </a:pPr>
            <a:r>
              <a:rPr lang="en-US" sz="1700" b="1" dirty="0">
                <a:solidFill>
                  <a:srgbClr val="B91C1C"/>
                </a:solidFill>
                <a:latin typeface="Arial" pitchFamily="34" charset="0"/>
                <a:ea typeface="Arial" pitchFamily="34" charset="-122"/>
                <a:cs typeface="Arial" pitchFamily="34" charset="-120"/>
              </a:rPr>
              <a:t>65%</a:t>
            </a:r>
            <a:endParaRPr lang="en-US" sz="1700" dirty="0"/>
          </a:p>
        </p:txBody>
      </p:sp>
      <p:sp>
        <p:nvSpPr>
          <p:cNvPr id="38" name="Shape 32"/>
          <p:cNvSpPr/>
          <p:nvPr/>
        </p:nvSpPr>
        <p:spPr>
          <a:xfrm>
            <a:off x="10716768" y="4389120"/>
            <a:ext cx="704088" cy="310896"/>
          </a:xfrm>
          <a:prstGeom prst="roundRect">
            <a:avLst>
              <a:gd name="adj" fmla="val 11765"/>
            </a:avLst>
          </a:prstGeom>
          <a:solidFill>
            <a:srgbClr val="FEE2E2"/>
          </a:solidFill>
          <a:ln w="12700">
            <a:solidFill>
              <a:srgbClr val="FEE2E2"/>
            </a:solidFill>
            <a:prstDash val="solid"/>
          </a:ln>
        </p:spPr>
      </p:sp>
      <p:sp>
        <p:nvSpPr>
          <p:cNvPr id="39" name="Text 33"/>
          <p:cNvSpPr txBox="1"/>
          <p:nvPr/>
        </p:nvSpPr>
        <p:spPr>
          <a:xfrm>
            <a:off x="10789920" y="4389120"/>
            <a:ext cx="557784" cy="310896"/>
          </a:xfrm>
          <a:prstGeom prst="rect">
            <a:avLst/>
          </a:prstGeom>
          <a:noFill/>
          <a:ln/>
        </p:spPr>
        <p:txBody>
          <a:bodyPr wrap="square" lIns="0" tIns="0" rIns="0" bIns="0" rtlCol="0" anchor="ctr">
            <a:normAutofit/>
          </a:bodyPr>
          <a:lstStyle/>
          <a:p>
            <a:pPr marL="0" indent="0" algn="ctr">
              <a:buNone/>
            </a:pPr>
            <a:r>
              <a:rPr lang="en-US" sz="850" b="1" dirty="0">
                <a:solidFill>
                  <a:srgbClr val="B91C1C"/>
                </a:solidFill>
                <a:latin typeface="Arial" pitchFamily="34" charset="0"/>
                <a:ea typeface="Arial" pitchFamily="34" charset="-122"/>
                <a:cs typeface="Arial" pitchFamily="34" charset="-120"/>
              </a:rPr>
              <a:t>CHƯA ĐẠT</a:t>
            </a:r>
            <a:endParaRPr lang="en-US" sz="850" dirty="0"/>
          </a:p>
        </p:txBody>
      </p:sp>
      <p:sp>
        <p:nvSpPr>
          <p:cNvPr id="40" name="Text 34"/>
          <p:cNvSpPr txBox="1"/>
          <p:nvPr/>
        </p:nvSpPr>
        <p:spPr>
          <a:xfrm>
            <a:off x="2212848" y="5303520"/>
            <a:ext cx="3767328" cy="256032"/>
          </a:xfrm>
          <a:prstGeom prst="rect">
            <a:avLst/>
          </a:prstGeom>
          <a:noFill/>
          <a:ln/>
        </p:spPr>
        <p:txBody>
          <a:bodyPr wrap="square" lIns="0" tIns="0" rIns="0" bIns="0" rtlCol="0" anchor="ctr">
            <a:normAutofit/>
          </a:bodyPr>
          <a:lstStyle/>
          <a:p>
            <a:pPr marL="0" indent="0" algn="l">
              <a:buNone/>
            </a:pPr>
            <a:r>
              <a:rPr lang="en-US" sz="1100" b="1" dirty="0">
                <a:solidFill>
                  <a:srgbClr val="64748B"/>
                </a:solidFill>
                <a:latin typeface="Arial" pitchFamily="34" charset="0"/>
                <a:ea typeface="Arial" pitchFamily="34" charset="-122"/>
                <a:cs typeface="Arial" pitchFamily="34" charset="-120"/>
              </a:rPr>
              <a:t>Khoảng cách: 24,75 điểm phần trăm</a:t>
            </a:r>
            <a:endParaRPr lang="en-US" sz="1100" dirty="0"/>
          </a:p>
        </p:txBody>
      </p:sp>
      <p:sp>
        <p:nvSpPr>
          <p:cNvPr id="41" name="Shape 35"/>
          <p:cNvSpPr/>
          <p:nvPr/>
        </p:nvSpPr>
        <p:spPr>
          <a:xfrm>
            <a:off x="530352" y="6382512"/>
            <a:ext cx="11128248" cy="0"/>
          </a:xfrm>
          <a:prstGeom prst="line">
            <a:avLst/>
          </a:prstGeom>
          <a:noFill/>
          <a:ln w="10160">
            <a:solidFill>
              <a:srgbClr val="E2E8F0"/>
            </a:solidFill>
            <a:prstDash val="solid"/>
          </a:ln>
        </p:spPr>
      </p:sp>
      <p:sp>
        <p:nvSpPr>
          <p:cNvPr id="42" name="Text 36"/>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sự thật: bench/results/scores.json • 0 failures • device=cuda • dtype=float16.</a:t>
            </a:r>
            <a:endParaRPr lang="en-US" sz="850" dirty="0"/>
          </a:p>
        </p:txBody>
      </p:sp>
      <p:sp>
        <p:nvSpPr>
          <p:cNvPr id="43"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11  /  KẾT QUẢ</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Happy và sad là hai class yếu</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F1 theo class cho thấy chất lượng chưa đồng đều dù subset đã cân bằng.</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55648"/>
            <a:ext cx="6766560" cy="4352544"/>
          </a:xfrm>
          <a:prstGeom prst="roundRect">
            <a:avLst>
              <a:gd name="adj" fmla="val 1050"/>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Text 6"/>
          <p:cNvSpPr txBox="1"/>
          <p:nvPr/>
        </p:nvSpPr>
        <p:spPr>
          <a:xfrm>
            <a:off x="896112" y="2029968"/>
            <a:ext cx="2048256" cy="256032"/>
          </a:xfrm>
          <a:prstGeom prst="rect">
            <a:avLst/>
          </a:prstGeom>
          <a:noFill/>
          <a:ln/>
        </p:spPr>
        <p:txBody>
          <a:bodyPr wrap="square" lIns="0" tIns="0" rIns="0" bIns="0" rtlCol="0" anchor="ctr">
            <a:normAutofit/>
          </a:bodyPr>
          <a:lstStyle/>
          <a:p>
            <a:pPr marL="0" indent="0" algn="l">
              <a:buNone/>
            </a:pPr>
            <a:r>
              <a:rPr lang="en-US" sz="1100" b="1" dirty="0">
                <a:solidFill>
                  <a:srgbClr val="334155"/>
                </a:solidFill>
                <a:latin typeface="Arial" pitchFamily="34" charset="0"/>
                <a:ea typeface="Arial" pitchFamily="34" charset="-122"/>
                <a:cs typeface="Arial" pitchFamily="34" charset="-120"/>
              </a:rPr>
              <a:t>PER-CLASS F1</a:t>
            </a:r>
            <a:endParaRPr lang="en-US" sz="1100" dirty="0"/>
          </a:p>
        </p:txBody>
      </p:sp>
      <p:sp>
        <p:nvSpPr>
          <p:cNvPr id="9" name="Shape 7"/>
          <p:cNvSpPr/>
          <p:nvPr/>
        </p:nvSpPr>
        <p:spPr>
          <a:xfrm>
            <a:off x="2212848" y="2212848"/>
            <a:ext cx="0" cy="3255264"/>
          </a:xfrm>
          <a:prstGeom prst="line">
            <a:avLst/>
          </a:prstGeom>
          <a:noFill/>
          <a:ln w="12700">
            <a:solidFill>
              <a:srgbClr val="E2E8F0"/>
            </a:solidFill>
            <a:prstDash val="solid"/>
          </a:ln>
        </p:spPr>
      </p:sp>
      <p:sp>
        <p:nvSpPr>
          <p:cNvPr id="10" name="Text 8"/>
          <p:cNvSpPr txBox="1"/>
          <p:nvPr/>
        </p:nvSpPr>
        <p:spPr>
          <a:xfrm>
            <a:off x="2011680" y="5559552"/>
            <a:ext cx="420624" cy="219456"/>
          </a:xfrm>
          <a:prstGeom prst="rect">
            <a:avLst/>
          </a:prstGeom>
          <a:noFill/>
          <a:ln/>
        </p:spPr>
        <p:txBody>
          <a:bodyPr wrap="square" lIns="0" tIns="0" rIns="0" bIns="0" rtlCol="0" anchor="ctr">
            <a:normAutofit/>
          </a:bodyPr>
          <a:lstStyle/>
          <a:p>
            <a:pPr marL="0" indent="0" algn="ctr">
              <a:buNone/>
            </a:pPr>
            <a:r>
              <a:rPr lang="en-US" sz="900" dirty="0">
                <a:solidFill>
                  <a:srgbClr val="64748B"/>
                </a:solidFill>
                <a:latin typeface="Arial" pitchFamily="34" charset="0"/>
                <a:ea typeface="Arial" pitchFamily="34" charset="-122"/>
                <a:cs typeface="Arial" pitchFamily="34" charset="-120"/>
              </a:rPr>
              <a:t>0,0</a:t>
            </a:r>
            <a:endParaRPr lang="en-US" sz="900" dirty="0"/>
          </a:p>
        </p:txBody>
      </p:sp>
      <p:sp>
        <p:nvSpPr>
          <p:cNvPr id="11" name="Text 9"/>
          <p:cNvSpPr txBox="1"/>
          <p:nvPr/>
        </p:nvSpPr>
        <p:spPr>
          <a:xfrm>
            <a:off x="6144768" y="5559552"/>
            <a:ext cx="420624" cy="219456"/>
          </a:xfrm>
          <a:prstGeom prst="rect">
            <a:avLst/>
          </a:prstGeom>
          <a:noFill/>
          <a:ln/>
        </p:spPr>
        <p:txBody>
          <a:bodyPr wrap="square" lIns="0" tIns="0" rIns="0" bIns="0" rtlCol="0" anchor="ctr">
            <a:normAutofit/>
          </a:bodyPr>
          <a:lstStyle/>
          <a:p>
            <a:pPr marL="0" indent="0" algn="ctr">
              <a:buNone/>
            </a:pPr>
            <a:r>
              <a:rPr lang="en-US" sz="900" dirty="0">
                <a:solidFill>
                  <a:srgbClr val="64748B"/>
                </a:solidFill>
                <a:latin typeface="Arial" pitchFamily="34" charset="0"/>
                <a:ea typeface="Arial" pitchFamily="34" charset="-122"/>
                <a:cs typeface="Arial" pitchFamily="34" charset="-120"/>
              </a:rPr>
              <a:t>0,5</a:t>
            </a:r>
            <a:endParaRPr lang="en-US" sz="900" dirty="0"/>
          </a:p>
        </p:txBody>
      </p:sp>
      <p:sp>
        <p:nvSpPr>
          <p:cNvPr id="12" name="Text 10"/>
          <p:cNvSpPr txBox="1"/>
          <p:nvPr/>
        </p:nvSpPr>
        <p:spPr>
          <a:xfrm>
            <a:off x="896112" y="2615184"/>
            <a:ext cx="1316736" cy="310896"/>
          </a:xfrm>
          <a:prstGeom prst="rect">
            <a:avLst/>
          </a:prstGeom>
          <a:noFill/>
          <a:ln/>
        </p:spPr>
        <p:txBody>
          <a:bodyPr wrap="square" lIns="0" tIns="0" rIns="0" bIns="0" rtlCol="0" anchor="ctr">
            <a:normAutofit/>
          </a:bodyPr>
          <a:lstStyle/>
          <a:p>
            <a:pPr marL="0" indent="0" algn="l">
              <a:buNone/>
            </a:pPr>
            <a:r>
              <a:rPr lang="en-US" sz="1300" b="1" dirty="0">
                <a:solidFill>
                  <a:srgbClr val="334155"/>
                </a:solidFill>
                <a:latin typeface="Arial" pitchFamily="34" charset="0"/>
                <a:ea typeface="Arial" pitchFamily="34" charset="-122"/>
                <a:cs typeface="Arial" pitchFamily="34" charset="-120"/>
              </a:rPr>
              <a:t>happy</a:t>
            </a:r>
            <a:endParaRPr lang="en-US" sz="1300" dirty="0"/>
          </a:p>
        </p:txBody>
      </p:sp>
      <p:sp>
        <p:nvSpPr>
          <p:cNvPr id="13" name="Shape 11"/>
          <p:cNvSpPr/>
          <p:nvPr/>
        </p:nvSpPr>
        <p:spPr>
          <a:xfrm>
            <a:off x="2212848" y="2688336"/>
            <a:ext cx="3785616" cy="155448"/>
          </a:xfrm>
          <a:prstGeom prst="roundRect">
            <a:avLst>
              <a:gd name="adj" fmla="val 17647"/>
            </a:avLst>
          </a:prstGeom>
          <a:solidFill>
            <a:srgbClr val="F1F5F9"/>
          </a:solidFill>
          <a:ln w="12700">
            <a:solidFill>
              <a:srgbClr val="F1F5F9"/>
            </a:solidFill>
            <a:prstDash val="solid"/>
          </a:ln>
        </p:spPr>
      </p:sp>
      <p:sp>
        <p:nvSpPr>
          <p:cNvPr id="14" name="Shape 12"/>
          <p:cNvSpPr/>
          <p:nvPr/>
        </p:nvSpPr>
        <p:spPr>
          <a:xfrm>
            <a:off x="2212848" y="2688336"/>
            <a:ext cx="2131646" cy="155448"/>
          </a:xfrm>
          <a:prstGeom prst="roundRect">
            <a:avLst>
              <a:gd name="adj" fmla="val 17647"/>
            </a:avLst>
          </a:prstGeom>
          <a:solidFill>
            <a:srgbClr val="B45309"/>
          </a:solidFill>
          <a:ln w="12700">
            <a:solidFill>
              <a:srgbClr val="B45309"/>
            </a:solidFill>
            <a:prstDash val="solid"/>
          </a:ln>
        </p:spPr>
      </p:sp>
      <p:sp>
        <p:nvSpPr>
          <p:cNvPr id="15" name="Text 13"/>
          <p:cNvSpPr txBox="1"/>
          <p:nvPr/>
        </p:nvSpPr>
        <p:spPr>
          <a:xfrm>
            <a:off x="6071616" y="2615184"/>
            <a:ext cx="749808" cy="310896"/>
          </a:xfrm>
          <a:prstGeom prst="rect">
            <a:avLst/>
          </a:prstGeom>
          <a:noFill/>
          <a:ln/>
        </p:spPr>
        <p:txBody>
          <a:bodyPr wrap="square" lIns="0" tIns="0" rIns="0" bIns="0" rtlCol="0" anchor="ctr">
            <a:normAutofit/>
          </a:bodyPr>
          <a:lstStyle/>
          <a:p>
            <a:pPr marL="0" indent="0" algn="r">
              <a:buNone/>
            </a:pPr>
            <a:r>
              <a:rPr lang="en-US" sz="1300" b="1" dirty="0">
                <a:solidFill>
                  <a:srgbClr val="B45309"/>
                </a:solidFill>
                <a:latin typeface="Arial" pitchFamily="34" charset="0"/>
                <a:ea typeface="Arial" pitchFamily="34" charset="-122"/>
                <a:cs typeface="Arial" pitchFamily="34" charset="-120"/>
              </a:rPr>
              <a:t>0,3097</a:t>
            </a:r>
            <a:endParaRPr lang="en-US" sz="1300" dirty="0"/>
          </a:p>
        </p:txBody>
      </p:sp>
      <p:sp>
        <p:nvSpPr>
          <p:cNvPr id="16" name="Text 14"/>
          <p:cNvSpPr txBox="1"/>
          <p:nvPr/>
        </p:nvSpPr>
        <p:spPr>
          <a:xfrm>
            <a:off x="896112" y="3310128"/>
            <a:ext cx="1316736" cy="310896"/>
          </a:xfrm>
          <a:prstGeom prst="rect">
            <a:avLst/>
          </a:prstGeom>
          <a:noFill/>
          <a:ln/>
        </p:spPr>
        <p:txBody>
          <a:bodyPr wrap="square" lIns="0" tIns="0" rIns="0" bIns="0" rtlCol="0" anchor="ctr">
            <a:normAutofit/>
          </a:bodyPr>
          <a:lstStyle/>
          <a:p>
            <a:pPr marL="0" indent="0" algn="l">
              <a:buNone/>
            </a:pPr>
            <a:r>
              <a:rPr lang="en-US" sz="1300" b="1" dirty="0">
                <a:solidFill>
                  <a:srgbClr val="334155"/>
                </a:solidFill>
                <a:latin typeface="Arial" pitchFamily="34" charset="0"/>
                <a:ea typeface="Arial" pitchFamily="34" charset="-122"/>
                <a:cs typeface="Arial" pitchFamily="34" charset="-120"/>
              </a:rPr>
              <a:t>neutral</a:t>
            </a:r>
            <a:endParaRPr lang="en-US" sz="1300" dirty="0"/>
          </a:p>
        </p:txBody>
      </p:sp>
      <p:sp>
        <p:nvSpPr>
          <p:cNvPr id="17" name="Shape 15"/>
          <p:cNvSpPr/>
          <p:nvPr/>
        </p:nvSpPr>
        <p:spPr>
          <a:xfrm>
            <a:off x="2212848" y="3383280"/>
            <a:ext cx="3785616" cy="155448"/>
          </a:xfrm>
          <a:prstGeom prst="roundRect">
            <a:avLst>
              <a:gd name="adj" fmla="val 17647"/>
            </a:avLst>
          </a:prstGeom>
          <a:solidFill>
            <a:srgbClr val="F1F5F9"/>
          </a:solidFill>
          <a:ln w="12700">
            <a:solidFill>
              <a:srgbClr val="F1F5F9"/>
            </a:solidFill>
            <a:prstDash val="solid"/>
          </a:ln>
        </p:spPr>
      </p:sp>
      <p:sp>
        <p:nvSpPr>
          <p:cNvPr id="18" name="Shape 16"/>
          <p:cNvSpPr/>
          <p:nvPr/>
        </p:nvSpPr>
        <p:spPr>
          <a:xfrm>
            <a:off x="2212848" y="3383280"/>
            <a:ext cx="3408431" cy="155448"/>
          </a:xfrm>
          <a:prstGeom prst="roundRect">
            <a:avLst>
              <a:gd name="adj" fmla="val 17647"/>
            </a:avLst>
          </a:prstGeom>
          <a:solidFill>
            <a:srgbClr val="334155"/>
          </a:solidFill>
          <a:ln w="12700">
            <a:solidFill>
              <a:srgbClr val="334155"/>
            </a:solidFill>
            <a:prstDash val="solid"/>
          </a:ln>
        </p:spPr>
      </p:sp>
      <p:sp>
        <p:nvSpPr>
          <p:cNvPr id="19" name="Text 17"/>
          <p:cNvSpPr txBox="1"/>
          <p:nvPr/>
        </p:nvSpPr>
        <p:spPr>
          <a:xfrm>
            <a:off x="6071616" y="3310128"/>
            <a:ext cx="749808" cy="310896"/>
          </a:xfrm>
          <a:prstGeom prst="rect">
            <a:avLst/>
          </a:prstGeom>
          <a:noFill/>
          <a:ln/>
        </p:spPr>
        <p:txBody>
          <a:bodyPr wrap="square" lIns="0" tIns="0" rIns="0" bIns="0" rtlCol="0" anchor="ctr">
            <a:normAutofit/>
          </a:bodyPr>
          <a:lstStyle/>
          <a:p>
            <a:pPr marL="0" indent="0" algn="r">
              <a:buNone/>
            </a:pPr>
            <a:r>
              <a:rPr lang="en-US" sz="1300" b="1" dirty="0">
                <a:solidFill>
                  <a:srgbClr val="334155"/>
                </a:solidFill>
                <a:latin typeface="Arial" pitchFamily="34" charset="0"/>
                <a:ea typeface="Arial" pitchFamily="34" charset="-122"/>
                <a:cs typeface="Arial" pitchFamily="34" charset="-120"/>
              </a:rPr>
              <a:t>0,4952</a:t>
            </a:r>
            <a:endParaRPr lang="en-US" sz="1300" dirty="0"/>
          </a:p>
        </p:txBody>
      </p:sp>
      <p:sp>
        <p:nvSpPr>
          <p:cNvPr id="20" name="Text 18"/>
          <p:cNvSpPr txBox="1"/>
          <p:nvPr/>
        </p:nvSpPr>
        <p:spPr>
          <a:xfrm>
            <a:off x="896112" y="4005072"/>
            <a:ext cx="1316736" cy="310896"/>
          </a:xfrm>
          <a:prstGeom prst="rect">
            <a:avLst/>
          </a:prstGeom>
          <a:noFill/>
          <a:ln/>
        </p:spPr>
        <p:txBody>
          <a:bodyPr wrap="square" lIns="0" tIns="0" rIns="0" bIns="0" rtlCol="0" anchor="ctr">
            <a:normAutofit/>
          </a:bodyPr>
          <a:lstStyle/>
          <a:p>
            <a:pPr marL="0" indent="0" algn="l">
              <a:buNone/>
            </a:pPr>
            <a:r>
              <a:rPr lang="en-US" sz="1300" b="1" dirty="0">
                <a:solidFill>
                  <a:srgbClr val="334155"/>
                </a:solidFill>
                <a:latin typeface="Arial" pitchFamily="34" charset="0"/>
                <a:ea typeface="Arial" pitchFamily="34" charset="-122"/>
                <a:cs typeface="Arial" pitchFamily="34" charset="-120"/>
              </a:rPr>
              <a:t>sad</a:t>
            </a:r>
            <a:endParaRPr lang="en-US" sz="1300" dirty="0"/>
          </a:p>
        </p:txBody>
      </p:sp>
      <p:sp>
        <p:nvSpPr>
          <p:cNvPr id="21" name="Shape 19"/>
          <p:cNvSpPr/>
          <p:nvPr/>
        </p:nvSpPr>
        <p:spPr>
          <a:xfrm>
            <a:off x="2212848" y="4078224"/>
            <a:ext cx="3785616" cy="155448"/>
          </a:xfrm>
          <a:prstGeom prst="roundRect">
            <a:avLst>
              <a:gd name="adj" fmla="val 17647"/>
            </a:avLst>
          </a:prstGeom>
          <a:solidFill>
            <a:srgbClr val="F1F5F9"/>
          </a:solidFill>
          <a:ln w="12700">
            <a:solidFill>
              <a:srgbClr val="F1F5F9"/>
            </a:solidFill>
            <a:prstDash val="solid"/>
          </a:ln>
        </p:spPr>
      </p:sp>
      <p:sp>
        <p:nvSpPr>
          <p:cNvPr id="22" name="Shape 20"/>
          <p:cNvSpPr/>
          <p:nvPr/>
        </p:nvSpPr>
        <p:spPr>
          <a:xfrm>
            <a:off x="2212848" y="4078224"/>
            <a:ext cx="2243150" cy="155448"/>
          </a:xfrm>
          <a:prstGeom prst="roundRect">
            <a:avLst>
              <a:gd name="adj" fmla="val 17647"/>
            </a:avLst>
          </a:prstGeom>
          <a:solidFill>
            <a:srgbClr val="1D4ED8"/>
          </a:solidFill>
          <a:ln w="12700">
            <a:solidFill>
              <a:srgbClr val="1D4ED8"/>
            </a:solidFill>
            <a:prstDash val="solid"/>
          </a:ln>
        </p:spPr>
      </p:sp>
      <p:sp>
        <p:nvSpPr>
          <p:cNvPr id="23" name="Text 21"/>
          <p:cNvSpPr txBox="1"/>
          <p:nvPr/>
        </p:nvSpPr>
        <p:spPr>
          <a:xfrm>
            <a:off x="6071616" y="4005072"/>
            <a:ext cx="749808" cy="310896"/>
          </a:xfrm>
          <a:prstGeom prst="rect">
            <a:avLst/>
          </a:prstGeom>
          <a:noFill/>
          <a:ln/>
        </p:spPr>
        <p:txBody>
          <a:bodyPr wrap="square" lIns="0" tIns="0" rIns="0" bIns="0" rtlCol="0" anchor="ctr">
            <a:normAutofit/>
          </a:bodyPr>
          <a:lstStyle/>
          <a:p>
            <a:pPr marL="0" indent="0" algn="r">
              <a:buNone/>
            </a:pPr>
            <a:r>
              <a:rPr lang="en-US" sz="1300" b="1" dirty="0">
                <a:solidFill>
                  <a:srgbClr val="1D4ED8"/>
                </a:solidFill>
                <a:latin typeface="Arial" pitchFamily="34" charset="0"/>
                <a:ea typeface="Arial" pitchFamily="34" charset="-122"/>
                <a:cs typeface="Arial" pitchFamily="34" charset="-120"/>
              </a:rPr>
              <a:t>0,3259</a:t>
            </a:r>
            <a:endParaRPr lang="en-US" sz="1300" dirty="0"/>
          </a:p>
        </p:txBody>
      </p:sp>
      <p:sp>
        <p:nvSpPr>
          <p:cNvPr id="24" name="Text 22"/>
          <p:cNvSpPr txBox="1"/>
          <p:nvPr/>
        </p:nvSpPr>
        <p:spPr>
          <a:xfrm>
            <a:off x="896112" y="4700016"/>
            <a:ext cx="1316736" cy="310896"/>
          </a:xfrm>
          <a:prstGeom prst="rect">
            <a:avLst/>
          </a:prstGeom>
          <a:noFill/>
          <a:ln/>
        </p:spPr>
        <p:txBody>
          <a:bodyPr wrap="square" lIns="0" tIns="0" rIns="0" bIns="0" rtlCol="0" anchor="ctr">
            <a:normAutofit/>
          </a:bodyPr>
          <a:lstStyle/>
          <a:p>
            <a:pPr marL="0" indent="0" algn="l">
              <a:buNone/>
            </a:pPr>
            <a:r>
              <a:rPr lang="en-US" sz="1300" b="1" dirty="0">
                <a:solidFill>
                  <a:srgbClr val="334155"/>
                </a:solidFill>
                <a:latin typeface="Arial" pitchFamily="34" charset="0"/>
                <a:ea typeface="Arial" pitchFamily="34" charset="-122"/>
                <a:cs typeface="Arial" pitchFamily="34" charset="-120"/>
              </a:rPr>
              <a:t>angry</a:t>
            </a:r>
            <a:endParaRPr lang="en-US" sz="1300" dirty="0"/>
          </a:p>
        </p:txBody>
      </p:sp>
      <p:sp>
        <p:nvSpPr>
          <p:cNvPr id="25" name="Shape 23"/>
          <p:cNvSpPr/>
          <p:nvPr/>
        </p:nvSpPr>
        <p:spPr>
          <a:xfrm>
            <a:off x="2212848" y="4773168"/>
            <a:ext cx="3785616" cy="155448"/>
          </a:xfrm>
          <a:prstGeom prst="roundRect">
            <a:avLst>
              <a:gd name="adj" fmla="val 17647"/>
            </a:avLst>
          </a:prstGeom>
          <a:solidFill>
            <a:srgbClr val="F1F5F9"/>
          </a:solidFill>
          <a:ln w="12700">
            <a:solidFill>
              <a:srgbClr val="F1F5F9"/>
            </a:solidFill>
            <a:prstDash val="solid"/>
          </a:ln>
        </p:spPr>
      </p:sp>
      <p:sp>
        <p:nvSpPr>
          <p:cNvPr id="26" name="Shape 24"/>
          <p:cNvSpPr/>
          <p:nvPr/>
        </p:nvSpPr>
        <p:spPr>
          <a:xfrm>
            <a:off x="2212848" y="4773168"/>
            <a:ext cx="3420820" cy="155448"/>
          </a:xfrm>
          <a:prstGeom prst="roundRect">
            <a:avLst>
              <a:gd name="adj" fmla="val 17647"/>
            </a:avLst>
          </a:prstGeom>
          <a:solidFill>
            <a:srgbClr val="B91C1C"/>
          </a:solidFill>
          <a:ln w="12700">
            <a:solidFill>
              <a:srgbClr val="B91C1C"/>
            </a:solidFill>
            <a:prstDash val="solid"/>
          </a:ln>
        </p:spPr>
      </p:sp>
      <p:sp>
        <p:nvSpPr>
          <p:cNvPr id="27" name="Text 25"/>
          <p:cNvSpPr txBox="1"/>
          <p:nvPr/>
        </p:nvSpPr>
        <p:spPr>
          <a:xfrm>
            <a:off x="6071616" y="4700016"/>
            <a:ext cx="749808" cy="310896"/>
          </a:xfrm>
          <a:prstGeom prst="rect">
            <a:avLst/>
          </a:prstGeom>
          <a:noFill/>
          <a:ln/>
        </p:spPr>
        <p:txBody>
          <a:bodyPr wrap="square" lIns="0" tIns="0" rIns="0" bIns="0" rtlCol="0" anchor="ctr">
            <a:normAutofit/>
          </a:bodyPr>
          <a:lstStyle/>
          <a:p>
            <a:pPr marL="0" indent="0" algn="r">
              <a:buNone/>
            </a:pPr>
            <a:r>
              <a:rPr lang="en-US" sz="1300" b="1" dirty="0">
                <a:solidFill>
                  <a:srgbClr val="B91C1C"/>
                </a:solidFill>
                <a:latin typeface="Arial" pitchFamily="34" charset="0"/>
                <a:ea typeface="Arial" pitchFamily="34" charset="-122"/>
                <a:cs typeface="Arial" pitchFamily="34" charset="-120"/>
              </a:rPr>
              <a:t>0,4970</a:t>
            </a:r>
            <a:endParaRPr lang="en-US" sz="1300" dirty="0"/>
          </a:p>
        </p:txBody>
      </p:sp>
      <p:sp>
        <p:nvSpPr>
          <p:cNvPr id="28" name="Shape 26"/>
          <p:cNvSpPr/>
          <p:nvPr/>
        </p:nvSpPr>
        <p:spPr>
          <a:xfrm>
            <a:off x="7626096" y="1755648"/>
            <a:ext cx="4014216" cy="1965960"/>
          </a:xfrm>
          <a:prstGeom prst="roundRect">
            <a:avLst>
              <a:gd name="adj" fmla="val 2326"/>
            </a:avLst>
          </a:prstGeom>
          <a:solidFill>
            <a:srgbClr val="FEE2E2"/>
          </a:solidFill>
          <a:ln w="12700">
            <a:solidFill>
              <a:srgbClr val="FEE2E2"/>
            </a:solidFill>
            <a:prstDash val="solid"/>
          </a:ln>
        </p:spPr>
      </p:sp>
      <p:sp>
        <p:nvSpPr>
          <p:cNvPr id="29" name="Shape 27"/>
          <p:cNvSpPr/>
          <p:nvPr/>
        </p:nvSpPr>
        <p:spPr>
          <a:xfrm>
            <a:off x="7936992" y="2084832"/>
            <a:ext cx="493776" cy="493776"/>
          </a:xfrm>
          <a:prstGeom prst="ellipse">
            <a:avLst/>
          </a:prstGeom>
          <a:solidFill>
            <a:srgbClr val="FFFFFF"/>
          </a:solidFill>
          <a:ln w="12700">
            <a:solidFill>
              <a:srgbClr val="FFFFFF"/>
            </a:solidFill>
            <a:prstDash val="solid"/>
          </a:ln>
        </p:spPr>
      </p:sp>
      <p:pic>
        <p:nvPicPr>
          <p:cNvPr id="3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60436" y="2208276"/>
            <a:ext cx="246888" cy="246888"/>
          </a:xfrm>
          <a:prstGeom prst="rect">
            <a:avLst/>
          </a:prstGeom>
        </p:spPr>
      </p:pic>
      <p:sp>
        <p:nvSpPr>
          <p:cNvPr id="31" name="Text 28"/>
          <p:cNvSpPr txBox="1"/>
          <p:nvPr/>
        </p:nvSpPr>
        <p:spPr>
          <a:xfrm>
            <a:off x="8631936" y="2121408"/>
            <a:ext cx="2194560" cy="310896"/>
          </a:xfrm>
          <a:prstGeom prst="rect">
            <a:avLst/>
          </a:prstGeom>
          <a:noFill/>
          <a:ln/>
        </p:spPr>
        <p:txBody>
          <a:bodyPr wrap="square" lIns="0" tIns="0" rIns="0" bIns="0" rtlCol="0" anchor="ctr">
            <a:normAutofit/>
          </a:bodyPr>
          <a:lstStyle/>
          <a:p>
            <a:pPr marL="0" indent="0" algn="l">
              <a:buNone/>
            </a:pPr>
            <a:r>
              <a:rPr lang="en-US" sz="1500" b="1" dirty="0">
                <a:solidFill>
                  <a:srgbClr val="B91C1C"/>
                </a:solidFill>
                <a:latin typeface="Arial" pitchFamily="34" charset="0"/>
                <a:ea typeface="Arial" pitchFamily="34" charset="-122"/>
                <a:cs typeface="Arial" pitchFamily="34" charset="-120"/>
              </a:rPr>
              <a:t>Nhóm khó</a:t>
            </a:r>
            <a:endParaRPr lang="en-US" sz="1500" dirty="0"/>
          </a:p>
        </p:txBody>
      </p:sp>
      <p:sp>
        <p:nvSpPr>
          <p:cNvPr id="32" name="Text 29"/>
          <p:cNvSpPr txBox="1"/>
          <p:nvPr/>
        </p:nvSpPr>
        <p:spPr>
          <a:xfrm>
            <a:off x="7936992" y="2798064"/>
            <a:ext cx="2926080" cy="384048"/>
          </a:xfrm>
          <a:prstGeom prst="rect">
            <a:avLst/>
          </a:prstGeom>
          <a:noFill/>
          <a:ln/>
        </p:spPr>
        <p:txBody>
          <a:bodyPr wrap="square" lIns="0" tIns="0" rIns="0" bIns="0" rtlCol="0" anchor="ctr">
            <a:normAutofit/>
          </a:bodyPr>
          <a:lstStyle/>
          <a:p>
            <a:pPr marL="0" indent="0" algn="ctr">
              <a:buNone/>
            </a:pPr>
            <a:r>
              <a:rPr lang="en-US" sz="2200" b="1" dirty="0">
                <a:solidFill>
                  <a:srgbClr val="0F172A"/>
                </a:solidFill>
                <a:latin typeface="Arial" pitchFamily="34" charset="0"/>
                <a:ea typeface="Arial" pitchFamily="34" charset="-122"/>
                <a:cs typeface="Arial" pitchFamily="34" charset="-120"/>
              </a:rPr>
              <a:t>happy  •  sad</a:t>
            </a:r>
            <a:endParaRPr lang="en-US" sz="2200" dirty="0"/>
          </a:p>
        </p:txBody>
      </p:sp>
      <p:sp>
        <p:nvSpPr>
          <p:cNvPr id="33" name="Shape 30"/>
          <p:cNvSpPr/>
          <p:nvPr/>
        </p:nvSpPr>
        <p:spPr>
          <a:xfrm>
            <a:off x="7626096" y="3941064"/>
            <a:ext cx="4014216" cy="2167128"/>
          </a:xfrm>
          <a:prstGeom prst="roundRect">
            <a:avLst>
              <a:gd name="adj" fmla="val 2110"/>
            </a:avLst>
          </a:prstGeom>
          <a:solidFill>
            <a:srgbClr val="DCFCE7"/>
          </a:solidFill>
          <a:ln w="12700">
            <a:solidFill>
              <a:srgbClr val="DCFCE7"/>
            </a:solidFill>
            <a:prstDash val="solid"/>
          </a:ln>
        </p:spPr>
      </p:sp>
      <p:sp>
        <p:nvSpPr>
          <p:cNvPr id="34" name="Shape 31"/>
          <p:cNvSpPr/>
          <p:nvPr/>
        </p:nvSpPr>
        <p:spPr>
          <a:xfrm>
            <a:off x="7936992" y="4279392"/>
            <a:ext cx="493776" cy="493776"/>
          </a:xfrm>
          <a:prstGeom prst="ellipse">
            <a:avLst/>
          </a:prstGeom>
          <a:solidFill>
            <a:srgbClr val="FFFFFF"/>
          </a:solidFill>
          <a:ln w="12700">
            <a:solidFill>
              <a:srgbClr val="FFFFFF"/>
            </a:solidFill>
            <a:prstDash val="solid"/>
          </a:ln>
        </p:spPr>
      </p:sp>
      <p:pic>
        <p:nvPicPr>
          <p:cNvPr id="3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60436" y="4402836"/>
            <a:ext cx="246888" cy="246888"/>
          </a:xfrm>
          <a:prstGeom prst="rect">
            <a:avLst/>
          </a:prstGeom>
        </p:spPr>
      </p:pic>
      <p:sp>
        <p:nvSpPr>
          <p:cNvPr id="36" name="Text 32"/>
          <p:cNvSpPr txBox="1"/>
          <p:nvPr/>
        </p:nvSpPr>
        <p:spPr>
          <a:xfrm>
            <a:off x="8631936" y="4315968"/>
            <a:ext cx="2331720" cy="310896"/>
          </a:xfrm>
          <a:prstGeom prst="rect">
            <a:avLst/>
          </a:prstGeom>
          <a:noFill/>
          <a:ln/>
        </p:spPr>
        <p:txBody>
          <a:bodyPr wrap="square" lIns="0" tIns="0" rIns="0" bIns="0" rtlCol="0" anchor="ctr">
            <a:normAutofit/>
          </a:bodyPr>
          <a:lstStyle/>
          <a:p>
            <a:pPr marL="0" indent="0" algn="l">
              <a:buNone/>
            </a:pPr>
            <a:r>
              <a:rPr lang="en-US" sz="1500" b="1" dirty="0">
                <a:solidFill>
                  <a:srgbClr val="15803D"/>
                </a:solidFill>
                <a:latin typeface="Arial" pitchFamily="34" charset="0"/>
                <a:ea typeface="Arial" pitchFamily="34" charset="-122"/>
                <a:cs typeface="Arial" pitchFamily="34" charset="-120"/>
              </a:rPr>
              <a:t>Dễ hơn tương đối</a:t>
            </a:r>
            <a:endParaRPr lang="en-US" sz="1500" dirty="0"/>
          </a:p>
        </p:txBody>
      </p:sp>
      <p:sp>
        <p:nvSpPr>
          <p:cNvPr id="37" name="Text 33"/>
          <p:cNvSpPr txBox="1"/>
          <p:nvPr/>
        </p:nvSpPr>
        <p:spPr>
          <a:xfrm>
            <a:off x="7936992" y="5010912"/>
            <a:ext cx="3218688" cy="384048"/>
          </a:xfrm>
          <a:prstGeom prst="rect">
            <a:avLst/>
          </a:prstGeom>
          <a:noFill/>
          <a:ln/>
        </p:spPr>
        <p:txBody>
          <a:bodyPr wrap="square" lIns="0" tIns="0" rIns="0" bIns="0" rtlCol="0" anchor="ctr">
            <a:normAutofit/>
          </a:bodyPr>
          <a:lstStyle/>
          <a:p>
            <a:pPr marL="0" indent="0" algn="ctr">
              <a:buNone/>
            </a:pPr>
            <a:r>
              <a:rPr lang="en-US" sz="2000" b="1" dirty="0">
                <a:solidFill>
                  <a:srgbClr val="0F172A"/>
                </a:solidFill>
                <a:latin typeface="Arial" pitchFamily="34" charset="0"/>
                <a:ea typeface="Arial" pitchFamily="34" charset="-122"/>
                <a:cs typeface="Arial" pitchFamily="34" charset="-120"/>
              </a:rPr>
              <a:t>neutral  •  angry</a:t>
            </a:r>
            <a:endParaRPr lang="en-US" sz="2000" dirty="0"/>
          </a:p>
        </p:txBody>
      </p:sp>
      <p:sp>
        <p:nvSpPr>
          <p:cNvPr id="38" name="Text 34"/>
          <p:cNvSpPr txBox="1"/>
          <p:nvPr/>
        </p:nvSpPr>
        <p:spPr>
          <a:xfrm>
            <a:off x="7936992" y="5541264"/>
            <a:ext cx="3218688" cy="274320"/>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Arial" pitchFamily="34" charset="0"/>
                <a:ea typeface="Arial" pitchFamily="34" charset="-122"/>
                <a:cs typeface="Arial" pitchFamily="34" charset="-120"/>
              </a:rPr>
              <a:t>“Dễ hơn” không có nghĩa là đủ tin cậy.</a:t>
            </a:r>
            <a:endParaRPr lang="en-US" sz="1000" dirty="0"/>
          </a:p>
        </p:txBody>
      </p:sp>
      <p:sp>
        <p:nvSpPr>
          <p:cNvPr id="39" name="Shape 35"/>
          <p:cNvSpPr/>
          <p:nvPr/>
        </p:nvSpPr>
        <p:spPr>
          <a:xfrm>
            <a:off x="530352" y="6382512"/>
            <a:ext cx="11128248" cy="0"/>
          </a:xfrm>
          <a:prstGeom prst="line">
            <a:avLst/>
          </a:prstGeom>
          <a:noFill/>
          <a:ln w="10160">
            <a:solidFill>
              <a:srgbClr val="E2E8F0"/>
            </a:solidFill>
            <a:prstDash val="solid"/>
          </a:ln>
        </p:spPr>
      </p:sp>
      <p:sp>
        <p:nvSpPr>
          <p:cNvPr id="40" name="Text 36"/>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bench/results/scores.json • F1 exact: 0.3097 / 0.4952 / 0.3259 / 0.4970.</a:t>
            </a:r>
            <a:endParaRPr lang="en-US" sz="850" dirty="0"/>
          </a:p>
        </p:txBody>
      </p:sp>
      <p:sp>
        <p:nvSpPr>
          <p:cNvPr id="41"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12  /  HỆ THỐNG</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Ba tầng giúp hệ thống dễ thay đổi</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UI không gọi trực tiếp Hugging Face model; mọi thứ đi qua inference và adapter.</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37360"/>
            <a:ext cx="11073384" cy="1069848"/>
          </a:xfrm>
          <a:prstGeom prst="roundRect">
            <a:avLst>
              <a:gd name="adj" fmla="val 3419"/>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566928" y="1737360"/>
            <a:ext cx="1005840" cy="1069848"/>
          </a:xfrm>
          <a:prstGeom prst="roundRect">
            <a:avLst>
              <a:gd name="adj" fmla="val 3636"/>
            </a:avLst>
          </a:prstGeom>
          <a:solidFill>
            <a:srgbClr val="1D4ED8"/>
          </a:solidFill>
          <a:ln w="12700">
            <a:solidFill>
              <a:srgbClr val="1D4ED8"/>
            </a:solidFill>
            <a:prstDash val="solid"/>
          </a:ln>
        </p:spPr>
      </p:sp>
      <p:sp>
        <p:nvSpPr>
          <p:cNvPr id="9" name="Text 7"/>
          <p:cNvSpPr txBox="1"/>
          <p:nvPr/>
        </p:nvSpPr>
        <p:spPr>
          <a:xfrm>
            <a:off x="566928" y="1737360"/>
            <a:ext cx="1005840" cy="1069848"/>
          </a:xfrm>
          <a:prstGeom prst="rect">
            <a:avLst/>
          </a:prstGeom>
          <a:noFill/>
          <a:ln/>
        </p:spPr>
        <p:txBody>
          <a:bodyPr wrap="square" lIns="0" tIns="0" rIns="0" bIns="0" rtlCol="0" anchor="ctr">
            <a:normAutofit/>
          </a:bodyPr>
          <a:lstStyle/>
          <a:p>
            <a:pPr marL="0" indent="0" algn="ctr">
              <a:buNone/>
            </a:pPr>
            <a:r>
              <a:rPr lang="en-US" sz="2300" b="1" dirty="0">
                <a:solidFill>
                  <a:srgbClr val="FFFFFF"/>
                </a:solidFill>
                <a:latin typeface="Arial" pitchFamily="34" charset="0"/>
                <a:ea typeface="Arial" pitchFamily="34" charset="-122"/>
                <a:cs typeface="Arial" pitchFamily="34" charset="-120"/>
              </a:rPr>
              <a:t>01</a:t>
            </a:r>
            <a:endParaRPr lang="en-US" sz="2300" dirty="0"/>
          </a:p>
        </p:txBody>
      </p:sp>
      <p:sp>
        <p:nvSpPr>
          <p:cNvPr id="10" name="Shape 8"/>
          <p:cNvSpPr/>
          <p:nvPr/>
        </p:nvSpPr>
        <p:spPr>
          <a:xfrm>
            <a:off x="1810512" y="2011680"/>
            <a:ext cx="512064" cy="512064"/>
          </a:xfrm>
          <a:prstGeom prst="ellipse">
            <a:avLst/>
          </a:prstGeom>
          <a:solidFill>
            <a:srgbClr val="DBEAFE"/>
          </a:solidFill>
          <a:ln w="12700">
            <a:solidFill>
              <a:srgbClr val="DBEAFE"/>
            </a:solidFill>
            <a:prstDash val="solid"/>
          </a:ln>
        </p:spPr>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8528" y="2139696"/>
            <a:ext cx="256032" cy="256032"/>
          </a:xfrm>
          <a:prstGeom prst="rect">
            <a:avLst/>
          </a:prstGeom>
        </p:spPr>
      </p:pic>
      <p:sp>
        <p:nvSpPr>
          <p:cNvPr id="12" name="Text 9"/>
          <p:cNvSpPr txBox="1"/>
          <p:nvPr/>
        </p:nvSpPr>
        <p:spPr>
          <a:xfrm>
            <a:off x="2523744" y="1901952"/>
            <a:ext cx="2084832" cy="310896"/>
          </a:xfrm>
          <a:prstGeom prst="rect">
            <a:avLst/>
          </a:prstGeom>
          <a:noFill/>
          <a:ln/>
        </p:spPr>
        <p:txBody>
          <a:bodyPr wrap="square" lIns="0" tIns="0" rIns="0" bIns="0" rtlCol="0" anchor="ctr">
            <a:normAutofit/>
          </a:bodyPr>
          <a:lstStyle/>
          <a:p>
            <a:pPr marL="0" indent="0" algn="l">
              <a:buNone/>
            </a:pPr>
            <a:r>
              <a:rPr lang="en-US" sz="1400" b="1" dirty="0">
                <a:solidFill>
                  <a:srgbClr val="1D4ED8"/>
                </a:solidFill>
                <a:latin typeface="Arial" pitchFamily="34" charset="0"/>
                <a:ea typeface="Arial" pitchFamily="34" charset="-122"/>
                <a:cs typeface="Arial" pitchFamily="34" charset="-120"/>
              </a:rPr>
              <a:t>PRESENTATION</a:t>
            </a:r>
            <a:endParaRPr lang="en-US" sz="1400" dirty="0"/>
          </a:p>
        </p:txBody>
      </p:sp>
      <p:sp>
        <p:nvSpPr>
          <p:cNvPr id="13" name="Text 10"/>
          <p:cNvSpPr txBox="1"/>
          <p:nvPr/>
        </p:nvSpPr>
        <p:spPr>
          <a:xfrm>
            <a:off x="4700016" y="1901952"/>
            <a:ext cx="2395728" cy="310896"/>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app.py  •  Gradio</a:t>
            </a:r>
            <a:endParaRPr lang="en-US" sz="1300" dirty="0"/>
          </a:p>
        </p:txBody>
      </p:sp>
      <p:sp>
        <p:nvSpPr>
          <p:cNvPr id="14" name="Text 11"/>
          <p:cNvSpPr txBox="1"/>
          <p:nvPr/>
        </p:nvSpPr>
        <p:spPr>
          <a:xfrm>
            <a:off x="7168896" y="1883664"/>
            <a:ext cx="4041648" cy="566928"/>
          </a:xfrm>
          <a:prstGeom prst="rect">
            <a:avLst/>
          </a:prstGeom>
          <a:noFill/>
          <a:ln/>
        </p:spPr>
        <p:txBody>
          <a:bodyPr wrap="square" lIns="0" tIns="0" rIns="0" bIns="0" rtlCol="0" anchor="t">
            <a:normAutofit/>
          </a:bodyPr>
          <a:lstStyle/>
          <a:p>
            <a:pPr marL="0" indent="0" algn="l">
              <a:buNone/>
            </a:pPr>
            <a:r>
              <a:rPr lang="en-US" sz="1070" dirty="0">
                <a:solidFill>
                  <a:srgbClr val="334155"/>
                </a:solidFill>
                <a:latin typeface="Arial" pitchFamily="34" charset="0"/>
                <a:ea typeface="Arial" pitchFamily="34" charset="-122"/>
                <a:cs typeface="Arial" pitchFamily="34" charset="-120"/>
              </a:rPr>
              <a:t>Upload / Microphone / Samples  •  label + confidence + bar plot</a:t>
            </a:r>
            <a:endParaRPr lang="en-US" sz="1070" dirty="0"/>
          </a:p>
        </p:txBody>
      </p:sp>
      <p:sp>
        <p:nvSpPr>
          <p:cNvPr id="15" name="Shape 12"/>
          <p:cNvSpPr/>
          <p:nvPr/>
        </p:nvSpPr>
        <p:spPr>
          <a:xfrm>
            <a:off x="6108192" y="2807208"/>
            <a:ext cx="0" cy="256032"/>
          </a:xfrm>
          <a:prstGeom prst="line">
            <a:avLst/>
          </a:prstGeom>
          <a:noFill/>
          <a:ln w="19050">
            <a:solidFill>
              <a:srgbClr val="334155"/>
            </a:solidFill>
            <a:prstDash val="solid"/>
            <a:tailEnd type="triangle"/>
          </a:ln>
        </p:spPr>
      </p:sp>
      <p:sp>
        <p:nvSpPr>
          <p:cNvPr id="16" name="Shape 13"/>
          <p:cNvSpPr/>
          <p:nvPr/>
        </p:nvSpPr>
        <p:spPr>
          <a:xfrm>
            <a:off x="566928" y="3063240"/>
            <a:ext cx="11073384" cy="1069848"/>
          </a:xfrm>
          <a:prstGeom prst="roundRect">
            <a:avLst>
              <a:gd name="adj" fmla="val 3419"/>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7" name="Shape 14"/>
          <p:cNvSpPr/>
          <p:nvPr/>
        </p:nvSpPr>
        <p:spPr>
          <a:xfrm>
            <a:off x="566928" y="3063240"/>
            <a:ext cx="1005840" cy="1069848"/>
          </a:xfrm>
          <a:prstGeom prst="roundRect">
            <a:avLst>
              <a:gd name="adj" fmla="val 3636"/>
            </a:avLst>
          </a:prstGeom>
          <a:solidFill>
            <a:srgbClr val="0F766E"/>
          </a:solidFill>
          <a:ln w="12700">
            <a:solidFill>
              <a:srgbClr val="0F766E"/>
            </a:solidFill>
            <a:prstDash val="solid"/>
          </a:ln>
        </p:spPr>
      </p:sp>
      <p:sp>
        <p:nvSpPr>
          <p:cNvPr id="18" name="Text 15"/>
          <p:cNvSpPr txBox="1"/>
          <p:nvPr/>
        </p:nvSpPr>
        <p:spPr>
          <a:xfrm>
            <a:off x="566928" y="3063240"/>
            <a:ext cx="1005840" cy="1069848"/>
          </a:xfrm>
          <a:prstGeom prst="rect">
            <a:avLst/>
          </a:prstGeom>
          <a:noFill/>
          <a:ln/>
        </p:spPr>
        <p:txBody>
          <a:bodyPr wrap="square" lIns="0" tIns="0" rIns="0" bIns="0" rtlCol="0" anchor="ctr">
            <a:normAutofit/>
          </a:bodyPr>
          <a:lstStyle/>
          <a:p>
            <a:pPr marL="0" indent="0" algn="ctr">
              <a:buNone/>
            </a:pPr>
            <a:r>
              <a:rPr lang="en-US" sz="2300" b="1" dirty="0">
                <a:solidFill>
                  <a:srgbClr val="FFFFFF"/>
                </a:solidFill>
                <a:latin typeface="Arial" pitchFamily="34" charset="0"/>
                <a:ea typeface="Arial" pitchFamily="34" charset="-122"/>
                <a:cs typeface="Arial" pitchFamily="34" charset="-120"/>
              </a:rPr>
              <a:t>02</a:t>
            </a:r>
            <a:endParaRPr lang="en-US" sz="2300" dirty="0"/>
          </a:p>
        </p:txBody>
      </p:sp>
      <p:sp>
        <p:nvSpPr>
          <p:cNvPr id="19" name="Shape 16"/>
          <p:cNvSpPr/>
          <p:nvPr/>
        </p:nvSpPr>
        <p:spPr>
          <a:xfrm>
            <a:off x="1810512" y="3337560"/>
            <a:ext cx="512064" cy="512064"/>
          </a:xfrm>
          <a:prstGeom prst="ellipse">
            <a:avLst/>
          </a:prstGeom>
          <a:solidFill>
            <a:srgbClr val="CCFBF1"/>
          </a:solidFill>
          <a:ln w="12700">
            <a:solidFill>
              <a:srgbClr val="CCFBF1"/>
            </a:solidFill>
            <a:prstDash val="solid"/>
          </a:ln>
        </p:spPr>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38528" y="3465576"/>
            <a:ext cx="256032" cy="256032"/>
          </a:xfrm>
          <a:prstGeom prst="rect">
            <a:avLst/>
          </a:prstGeom>
        </p:spPr>
      </p:pic>
      <p:sp>
        <p:nvSpPr>
          <p:cNvPr id="21" name="Text 17"/>
          <p:cNvSpPr txBox="1"/>
          <p:nvPr/>
        </p:nvSpPr>
        <p:spPr>
          <a:xfrm>
            <a:off x="2523744" y="3227832"/>
            <a:ext cx="2084832" cy="310896"/>
          </a:xfrm>
          <a:prstGeom prst="rect">
            <a:avLst/>
          </a:prstGeom>
          <a:noFill/>
          <a:ln/>
        </p:spPr>
        <p:txBody>
          <a:bodyPr wrap="square" lIns="0" tIns="0" rIns="0" bIns="0" rtlCol="0" anchor="ctr">
            <a:normAutofit/>
          </a:bodyPr>
          <a:lstStyle/>
          <a:p>
            <a:pPr marL="0" indent="0" algn="l">
              <a:buNone/>
            </a:pPr>
            <a:r>
              <a:rPr lang="en-US" sz="1400" b="1" dirty="0">
                <a:solidFill>
                  <a:srgbClr val="0F766E"/>
                </a:solidFill>
                <a:latin typeface="Arial" pitchFamily="34" charset="0"/>
                <a:ea typeface="Arial" pitchFamily="34" charset="-122"/>
                <a:cs typeface="Arial" pitchFamily="34" charset="-120"/>
              </a:rPr>
              <a:t>INFERENCE</a:t>
            </a:r>
            <a:endParaRPr lang="en-US" sz="1400" dirty="0"/>
          </a:p>
        </p:txBody>
      </p:sp>
      <p:sp>
        <p:nvSpPr>
          <p:cNvPr id="22" name="Text 18"/>
          <p:cNvSpPr txBox="1"/>
          <p:nvPr/>
        </p:nvSpPr>
        <p:spPr>
          <a:xfrm>
            <a:off x="4700016" y="3227832"/>
            <a:ext cx="2395728" cy="310896"/>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src/inference.py  +  adapter</a:t>
            </a:r>
            <a:endParaRPr lang="en-US" sz="1300" dirty="0"/>
          </a:p>
        </p:txBody>
      </p:sp>
      <p:sp>
        <p:nvSpPr>
          <p:cNvPr id="23" name="Text 19"/>
          <p:cNvSpPr txBox="1"/>
          <p:nvPr/>
        </p:nvSpPr>
        <p:spPr>
          <a:xfrm>
            <a:off x="7168896" y="3209544"/>
            <a:ext cx="4041648" cy="566928"/>
          </a:xfrm>
          <a:prstGeom prst="rect">
            <a:avLst/>
          </a:prstGeom>
          <a:noFill/>
          <a:ln/>
        </p:spPr>
        <p:txBody>
          <a:bodyPr wrap="square" lIns="0" tIns="0" rIns="0" bIns="0" rtlCol="0" anchor="t">
            <a:normAutofit/>
          </a:bodyPr>
          <a:lstStyle/>
          <a:p>
            <a:pPr marL="0" indent="0" algn="l">
              <a:buNone/>
            </a:pPr>
            <a:r>
              <a:rPr lang="en-US" sz="1070" dirty="0">
                <a:solidFill>
                  <a:srgbClr val="334155"/>
                </a:solidFill>
                <a:latin typeface="Arial" pitchFamily="34" charset="0"/>
                <a:ea typeface="Arial" pitchFamily="34" charset="-122"/>
                <a:cs typeface="Arial" pitchFamily="34" charset="-120"/>
              </a:rPr>
              <a:t>singleton  •  audio loading  •  predict  •  result formatting</a:t>
            </a:r>
            <a:endParaRPr lang="en-US" sz="1070" dirty="0"/>
          </a:p>
        </p:txBody>
      </p:sp>
      <p:sp>
        <p:nvSpPr>
          <p:cNvPr id="24" name="Shape 20"/>
          <p:cNvSpPr/>
          <p:nvPr/>
        </p:nvSpPr>
        <p:spPr>
          <a:xfrm>
            <a:off x="6108192" y="4133088"/>
            <a:ext cx="0" cy="256032"/>
          </a:xfrm>
          <a:prstGeom prst="line">
            <a:avLst/>
          </a:prstGeom>
          <a:noFill/>
          <a:ln w="19050">
            <a:solidFill>
              <a:srgbClr val="334155"/>
            </a:solidFill>
            <a:prstDash val="solid"/>
            <a:tailEnd type="triangle"/>
          </a:ln>
        </p:spPr>
      </p:sp>
      <p:sp>
        <p:nvSpPr>
          <p:cNvPr id="25" name="Shape 21"/>
          <p:cNvSpPr/>
          <p:nvPr/>
        </p:nvSpPr>
        <p:spPr>
          <a:xfrm>
            <a:off x="566928" y="4389120"/>
            <a:ext cx="11073384" cy="1069848"/>
          </a:xfrm>
          <a:prstGeom prst="roundRect">
            <a:avLst>
              <a:gd name="adj" fmla="val 3419"/>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6" name="Shape 22"/>
          <p:cNvSpPr/>
          <p:nvPr/>
        </p:nvSpPr>
        <p:spPr>
          <a:xfrm>
            <a:off x="566928" y="4389120"/>
            <a:ext cx="1005840" cy="1069848"/>
          </a:xfrm>
          <a:prstGeom prst="roundRect">
            <a:avLst>
              <a:gd name="adj" fmla="val 3636"/>
            </a:avLst>
          </a:prstGeom>
          <a:solidFill>
            <a:srgbClr val="15803D"/>
          </a:solidFill>
          <a:ln w="12700">
            <a:solidFill>
              <a:srgbClr val="15803D"/>
            </a:solidFill>
            <a:prstDash val="solid"/>
          </a:ln>
        </p:spPr>
      </p:sp>
      <p:sp>
        <p:nvSpPr>
          <p:cNvPr id="27" name="Text 23"/>
          <p:cNvSpPr txBox="1"/>
          <p:nvPr/>
        </p:nvSpPr>
        <p:spPr>
          <a:xfrm>
            <a:off x="566928" y="4389120"/>
            <a:ext cx="1005840" cy="1069848"/>
          </a:xfrm>
          <a:prstGeom prst="rect">
            <a:avLst/>
          </a:prstGeom>
          <a:noFill/>
          <a:ln/>
        </p:spPr>
        <p:txBody>
          <a:bodyPr wrap="square" lIns="0" tIns="0" rIns="0" bIns="0" rtlCol="0" anchor="ctr">
            <a:normAutofit/>
          </a:bodyPr>
          <a:lstStyle/>
          <a:p>
            <a:pPr marL="0" indent="0" algn="ctr">
              <a:buNone/>
            </a:pPr>
            <a:r>
              <a:rPr lang="en-US" sz="2300" b="1" dirty="0">
                <a:solidFill>
                  <a:srgbClr val="FFFFFF"/>
                </a:solidFill>
                <a:latin typeface="Arial" pitchFamily="34" charset="0"/>
                <a:ea typeface="Arial" pitchFamily="34" charset="-122"/>
                <a:cs typeface="Arial" pitchFamily="34" charset="-120"/>
              </a:rPr>
              <a:t>03</a:t>
            </a:r>
            <a:endParaRPr lang="en-US" sz="2300" dirty="0"/>
          </a:p>
        </p:txBody>
      </p:sp>
      <p:sp>
        <p:nvSpPr>
          <p:cNvPr id="28" name="Shape 24"/>
          <p:cNvSpPr/>
          <p:nvPr/>
        </p:nvSpPr>
        <p:spPr>
          <a:xfrm>
            <a:off x="1810512" y="4663440"/>
            <a:ext cx="512064" cy="512064"/>
          </a:xfrm>
          <a:prstGeom prst="ellipse">
            <a:avLst/>
          </a:prstGeom>
          <a:solidFill>
            <a:srgbClr val="DCFCE7"/>
          </a:solidFill>
          <a:ln w="12700">
            <a:solidFill>
              <a:srgbClr val="DCFCE7"/>
            </a:solidFill>
            <a:prstDash val="solid"/>
          </a:ln>
        </p:spPr>
      </p:sp>
      <p:pic>
        <p:nvPicPr>
          <p:cNvPr id="2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38528" y="4791456"/>
            <a:ext cx="256032" cy="256032"/>
          </a:xfrm>
          <a:prstGeom prst="rect">
            <a:avLst/>
          </a:prstGeom>
        </p:spPr>
      </p:pic>
      <p:sp>
        <p:nvSpPr>
          <p:cNvPr id="30" name="Text 25"/>
          <p:cNvSpPr txBox="1"/>
          <p:nvPr/>
        </p:nvSpPr>
        <p:spPr>
          <a:xfrm>
            <a:off x="2523744" y="4553712"/>
            <a:ext cx="2084832" cy="310896"/>
          </a:xfrm>
          <a:prstGeom prst="rect">
            <a:avLst/>
          </a:prstGeom>
          <a:noFill/>
          <a:ln/>
        </p:spPr>
        <p:txBody>
          <a:bodyPr wrap="square" lIns="0" tIns="0" rIns="0" bIns="0" rtlCol="0" anchor="ctr">
            <a:normAutofit/>
          </a:bodyPr>
          <a:lstStyle/>
          <a:p>
            <a:pPr marL="0" indent="0" algn="l">
              <a:buNone/>
            </a:pPr>
            <a:r>
              <a:rPr lang="en-US" sz="1400" b="1" dirty="0">
                <a:solidFill>
                  <a:srgbClr val="15803D"/>
                </a:solidFill>
                <a:latin typeface="Arial" pitchFamily="34" charset="0"/>
                <a:ea typeface="Arial" pitchFamily="34" charset="-122"/>
                <a:cs typeface="Arial" pitchFamily="34" charset="-120"/>
              </a:rPr>
              <a:t>MODEL</a:t>
            </a:r>
            <a:endParaRPr lang="en-US" sz="1400" dirty="0"/>
          </a:p>
        </p:txBody>
      </p:sp>
      <p:sp>
        <p:nvSpPr>
          <p:cNvPr id="31" name="Text 26"/>
          <p:cNvSpPr txBox="1"/>
          <p:nvPr/>
        </p:nvSpPr>
        <p:spPr>
          <a:xfrm>
            <a:off x="4700016" y="4553712"/>
            <a:ext cx="2395728" cy="310896"/>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Hugging Face Transformers</a:t>
            </a:r>
            <a:endParaRPr lang="en-US" sz="1300" dirty="0"/>
          </a:p>
        </p:txBody>
      </p:sp>
      <p:sp>
        <p:nvSpPr>
          <p:cNvPr id="32" name="Text 27"/>
          <p:cNvSpPr txBox="1"/>
          <p:nvPr/>
        </p:nvSpPr>
        <p:spPr>
          <a:xfrm>
            <a:off x="7168896" y="4535424"/>
            <a:ext cx="4041648" cy="566928"/>
          </a:xfrm>
          <a:prstGeom prst="rect">
            <a:avLst/>
          </a:prstGeom>
          <a:noFill/>
          <a:ln/>
        </p:spPr>
        <p:txBody>
          <a:bodyPr wrap="square" lIns="0" tIns="0" rIns="0" bIns="0" rtlCol="0" anchor="t">
            <a:normAutofit/>
          </a:bodyPr>
          <a:lstStyle/>
          <a:p>
            <a:pPr marL="0" indent="0" algn="l">
              <a:buNone/>
            </a:pPr>
            <a:r>
              <a:rPr lang="en-US" sz="1070" dirty="0">
                <a:solidFill>
                  <a:srgbClr val="334155"/>
                </a:solidFill>
                <a:latin typeface="Arial" pitchFamily="34" charset="0"/>
                <a:ea typeface="Arial" pitchFamily="34" charset="-122"/>
                <a:cs typeface="Arial" pitchFamily="34" charset="-120"/>
              </a:rPr>
              <a:t>MERaLiON-SER-v1  •  7 raw logits  •  real softmax</a:t>
            </a:r>
            <a:endParaRPr lang="en-US" sz="1070" dirty="0"/>
          </a:p>
        </p:txBody>
      </p:sp>
      <p:sp>
        <p:nvSpPr>
          <p:cNvPr id="33" name="Shape 28"/>
          <p:cNvSpPr/>
          <p:nvPr/>
        </p:nvSpPr>
        <p:spPr>
          <a:xfrm>
            <a:off x="566928" y="5742432"/>
            <a:ext cx="11073384" cy="384048"/>
          </a:xfrm>
          <a:prstGeom prst="roundRect">
            <a:avLst>
              <a:gd name="adj" fmla="val 7143"/>
            </a:avLst>
          </a:prstGeom>
          <a:solidFill>
            <a:srgbClr val="0F172A"/>
          </a:solidFill>
          <a:ln w="12700">
            <a:solidFill>
              <a:srgbClr val="0F172A"/>
            </a:solidFill>
            <a:prstDash val="solid"/>
          </a:ln>
        </p:spPr>
      </p:sp>
      <p:sp>
        <p:nvSpPr>
          <p:cNvPr id="34" name="Text 29"/>
          <p:cNvSpPr txBox="1"/>
          <p:nvPr/>
        </p:nvSpPr>
        <p:spPr>
          <a:xfrm>
            <a:off x="822960" y="5742432"/>
            <a:ext cx="10570464" cy="38404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2 giao diện nhỏ:  UI → inference.predict(path)   •   inference → adapter.predict(waveform, sample_rate)</a:t>
            </a:r>
            <a:endParaRPr lang="en-US" sz="1100" dirty="0"/>
          </a:p>
        </p:txBody>
      </p:sp>
      <p:sp>
        <p:nvSpPr>
          <p:cNvPr id="35" name="Shape 30"/>
          <p:cNvSpPr/>
          <p:nvPr/>
        </p:nvSpPr>
        <p:spPr>
          <a:xfrm>
            <a:off x="530352" y="6382512"/>
            <a:ext cx="11128248" cy="0"/>
          </a:xfrm>
          <a:prstGeom prst="line">
            <a:avLst/>
          </a:prstGeom>
          <a:noFill/>
          <a:ln w="10160">
            <a:solidFill>
              <a:srgbClr val="E2E8F0"/>
            </a:solidFill>
            <a:prstDash val="solid"/>
          </a:ln>
        </p:spPr>
      </p:sp>
      <p:sp>
        <p:nvSpPr>
          <p:cNvPr id="36" name="Text 31"/>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ưu tiên kiến trúc: docs/ARCHITECTURE.md.</a:t>
            </a:r>
            <a:endParaRPr lang="en-US" sz="850" dirty="0"/>
          </a:p>
        </p:txBody>
      </p:sp>
      <p:sp>
        <p:nvSpPr>
          <p:cNvPr id="37"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13  /  THIẾT KẾ</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Adapter tách UI khỏi model cụ thể</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Một contract ổn định giúp thay model mà không viết lại giao diện.</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938528"/>
            <a:ext cx="2907792" cy="3474720"/>
          </a:xfrm>
          <a:prstGeom prst="roundRect">
            <a:avLst>
              <a:gd name="adj" fmla="val 1572"/>
            </a:avLst>
          </a:prstGeom>
          <a:solidFill>
            <a:srgbClr val="0F172A"/>
          </a:solidFill>
          <a:ln w="12700">
            <a:solidFill>
              <a:srgbClr val="0F172A"/>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2322576"/>
            <a:ext cx="530352" cy="530352"/>
          </a:xfrm>
          <a:prstGeom prst="rect">
            <a:avLst/>
          </a:prstGeom>
        </p:spPr>
      </p:pic>
      <p:sp>
        <p:nvSpPr>
          <p:cNvPr id="9" name="Text 6"/>
          <p:cNvSpPr txBox="1"/>
          <p:nvPr/>
        </p:nvSpPr>
        <p:spPr>
          <a:xfrm>
            <a:off x="932688" y="3054096"/>
            <a:ext cx="2121408" cy="384048"/>
          </a:xfrm>
          <a:prstGeom prst="rect">
            <a:avLst/>
          </a:prstGeom>
          <a:noFill/>
          <a:ln/>
        </p:spPr>
        <p:txBody>
          <a:bodyPr wrap="square" lIns="0" tIns="0" rIns="0" bIns="0" rtlCol="0" anchor="ctr">
            <a:normAutofit/>
          </a:bodyPr>
          <a:lstStyle/>
          <a:p>
            <a:pPr marL="0" indent="0" algn="l">
              <a:buNone/>
            </a:pPr>
            <a:r>
              <a:rPr lang="en-US" sz="2100" b="1" dirty="0">
                <a:solidFill>
                  <a:srgbClr val="FFFFFF"/>
                </a:solidFill>
                <a:latin typeface="Arial" pitchFamily="34" charset="0"/>
                <a:ea typeface="Arial" pitchFamily="34" charset="-122"/>
                <a:cs typeface="Arial" pitchFamily="34" charset="-120"/>
              </a:rPr>
              <a:t>Gradio UI</a:t>
            </a:r>
            <a:endParaRPr lang="en-US" sz="2100" dirty="0"/>
          </a:p>
        </p:txBody>
      </p:sp>
      <p:sp>
        <p:nvSpPr>
          <p:cNvPr id="10" name="Text 7"/>
          <p:cNvSpPr txBox="1"/>
          <p:nvPr/>
        </p:nvSpPr>
        <p:spPr>
          <a:xfrm>
            <a:off x="932688" y="3493008"/>
            <a:ext cx="2121408" cy="256032"/>
          </a:xfrm>
          <a:prstGeom prst="rect">
            <a:avLst/>
          </a:prstGeom>
          <a:noFill/>
          <a:ln/>
        </p:spPr>
        <p:txBody>
          <a:bodyPr wrap="square" lIns="0" tIns="0" rIns="0" bIns="0" rtlCol="0" anchor="ctr">
            <a:normAutofit/>
          </a:bodyPr>
          <a:lstStyle/>
          <a:p>
            <a:pPr marL="0" indent="0" algn="l">
              <a:buNone/>
            </a:pPr>
            <a:r>
              <a:rPr lang="en-US" sz="1100" dirty="0">
                <a:solidFill>
                  <a:srgbClr val="BAE6FD"/>
                </a:solidFill>
                <a:latin typeface="Arial" pitchFamily="34" charset="0"/>
                <a:ea typeface="Arial" pitchFamily="34" charset="-122"/>
                <a:cs typeface="Arial" pitchFamily="34" charset="-120"/>
              </a:rPr>
              <a:t>Chỉ biết contract</a:t>
            </a:r>
            <a:endParaRPr lang="en-US" sz="1100" dirty="0"/>
          </a:p>
        </p:txBody>
      </p:sp>
      <p:sp>
        <p:nvSpPr>
          <p:cNvPr id="11" name="Shape 8"/>
          <p:cNvSpPr/>
          <p:nvPr/>
        </p:nvSpPr>
        <p:spPr>
          <a:xfrm>
            <a:off x="932688" y="3968496"/>
            <a:ext cx="2048256" cy="0"/>
          </a:xfrm>
          <a:prstGeom prst="line">
            <a:avLst/>
          </a:prstGeom>
          <a:noFill/>
          <a:ln w="12700">
            <a:solidFill>
              <a:srgbClr val="334155"/>
            </a:solidFill>
            <a:prstDash val="solid"/>
          </a:ln>
        </p:spPr>
      </p:sp>
      <p:sp>
        <p:nvSpPr>
          <p:cNvPr id="12" name="Text 9"/>
          <p:cNvSpPr txBox="1"/>
          <p:nvPr/>
        </p:nvSpPr>
        <p:spPr>
          <a:xfrm>
            <a:off x="932688" y="4206240"/>
            <a:ext cx="2121408" cy="676656"/>
          </a:xfrm>
          <a:prstGeom prst="rect">
            <a:avLst/>
          </a:prstGeom>
          <a:noFill/>
          <a:ln/>
        </p:spPr>
        <p:txBody>
          <a:bodyPr wrap="square" lIns="0" tIns="0" rIns="0" bIns="0" rtlCol="0" anchor="t">
            <a:normAutofit/>
          </a:bodyPr>
          <a:lstStyle/>
          <a:p>
            <a:pPr marL="0" indent="0" algn="l">
              <a:buNone/>
            </a:pPr>
            <a:r>
              <a:rPr lang="en-US" sz="1300" b="1" dirty="0">
                <a:solidFill>
                  <a:srgbClr val="CBD5E1"/>
                </a:solidFill>
                <a:latin typeface="Arial" pitchFamily="34" charset="0"/>
                <a:ea typeface="Arial" pitchFamily="34" charset="-122"/>
                <a:cs typeface="Arial" pitchFamily="34" charset="-120"/>
              </a:rPr>
              <a:t>predict(path)</a:t>
            </a:r>
            <a:endParaRPr lang="en-US" sz="1300" dirty="0"/>
          </a:p>
          <a:p>
            <a:pPr marL="0" indent="0" algn="l">
              <a:buNone/>
            </a:pPr>
            <a:r>
              <a:rPr lang="en-US" sz="1300" b="1" dirty="0">
                <a:solidFill>
                  <a:srgbClr val="CBD5E1"/>
                </a:solidFill>
                <a:latin typeface="Arial" pitchFamily="34" charset="0"/>
                <a:ea typeface="Arial" pitchFamily="34" charset="-122"/>
                <a:cs typeface="Arial" pitchFamily="34" charset="-120"/>
              </a:rPr>
              <a:t>warmup()</a:t>
            </a:r>
            <a:endParaRPr lang="en-US" sz="1300" dirty="0"/>
          </a:p>
        </p:txBody>
      </p:sp>
      <p:sp>
        <p:nvSpPr>
          <p:cNvPr id="13" name="Shape 10"/>
          <p:cNvSpPr/>
          <p:nvPr/>
        </p:nvSpPr>
        <p:spPr>
          <a:xfrm>
            <a:off x="3529584" y="3675888"/>
            <a:ext cx="914400" cy="0"/>
          </a:xfrm>
          <a:prstGeom prst="line">
            <a:avLst/>
          </a:prstGeom>
          <a:noFill/>
          <a:ln w="25400">
            <a:solidFill>
              <a:srgbClr val="1D4ED8"/>
            </a:solidFill>
            <a:prstDash val="solid"/>
            <a:tailEnd type="triangle"/>
          </a:ln>
        </p:spPr>
      </p:sp>
      <p:sp>
        <p:nvSpPr>
          <p:cNvPr id="14" name="Shape 11"/>
          <p:cNvSpPr/>
          <p:nvPr/>
        </p:nvSpPr>
        <p:spPr>
          <a:xfrm>
            <a:off x="4517136" y="1755648"/>
            <a:ext cx="2971800" cy="3877056"/>
          </a:xfrm>
          <a:prstGeom prst="roundRect">
            <a:avLst>
              <a:gd name="adj" fmla="val 1231"/>
            </a:avLst>
          </a:prstGeom>
          <a:solidFill>
            <a:srgbClr val="FFFFFF"/>
          </a:solidFill>
          <a:ln w="25400">
            <a:solidFill>
              <a:srgbClr val="1D4ED8"/>
            </a:solidFill>
            <a:prstDash val="solid"/>
          </a:ln>
          <a:effectLst>
            <a:outerShdw blurRad="12700" dist="50800" dir="2700000" algn="bl" rotWithShape="0">
              <a:srgbClr val="94A3B8">
                <a:alpha val="14000"/>
              </a:srgbClr>
            </a:outerShdw>
          </a:effectLst>
        </p:spPr>
      </p:sp>
      <p:sp>
        <p:nvSpPr>
          <p:cNvPr id="15" name="Shape 12"/>
          <p:cNvSpPr/>
          <p:nvPr/>
        </p:nvSpPr>
        <p:spPr>
          <a:xfrm>
            <a:off x="5065776" y="1993392"/>
            <a:ext cx="1865376" cy="310896"/>
          </a:xfrm>
          <a:prstGeom prst="roundRect">
            <a:avLst>
              <a:gd name="adj" fmla="val 11765"/>
            </a:avLst>
          </a:prstGeom>
          <a:solidFill>
            <a:srgbClr val="DBEAFE"/>
          </a:solidFill>
          <a:ln w="12700">
            <a:solidFill>
              <a:srgbClr val="DBEAFE"/>
            </a:solidFill>
            <a:prstDash val="solid"/>
          </a:ln>
        </p:spPr>
      </p:sp>
      <p:sp>
        <p:nvSpPr>
          <p:cNvPr id="16" name="Text 13"/>
          <p:cNvSpPr txBox="1"/>
          <p:nvPr/>
        </p:nvSpPr>
        <p:spPr>
          <a:xfrm>
            <a:off x="5138928" y="1993392"/>
            <a:ext cx="1719072" cy="310896"/>
          </a:xfrm>
          <a:prstGeom prst="rect">
            <a:avLst/>
          </a:prstGeom>
          <a:noFill/>
          <a:ln/>
        </p:spPr>
        <p:txBody>
          <a:bodyPr wrap="square" lIns="0" tIns="0" rIns="0" bIns="0" rtlCol="0" anchor="ctr">
            <a:normAutofit/>
          </a:bodyPr>
          <a:lstStyle/>
          <a:p>
            <a:pPr marL="0" indent="0" algn="ctr">
              <a:buNone/>
            </a:pPr>
            <a:r>
              <a:rPr lang="en-US" sz="950" b="1" dirty="0">
                <a:solidFill>
                  <a:srgbClr val="1D4ED8"/>
                </a:solidFill>
                <a:latin typeface="Arial" pitchFamily="34" charset="0"/>
                <a:ea typeface="Arial" pitchFamily="34" charset="-122"/>
                <a:cs typeface="Arial" pitchFamily="34" charset="-120"/>
              </a:rPr>
              <a:t>&lt;&lt; interface &gt;&gt;</a:t>
            </a:r>
            <a:endParaRPr lang="en-US" sz="950" dirty="0"/>
          </a:p>
        </p:txBody>
      </p:sp>
      <p:sp>
        <p:nvSpPr>
          <p:cNvPr id="17" name="Text 14"/>
          <p:cNvSpPr txBox="1"/>
          <p:nvPr/>
        </p:nvSpPr>
        <p:spPr>
          <a:xfrm>
            <a:off x="4882896" y="2468880"/>
            <a:ext cx="2231136" cy="384048"/>
          </a:xfrm>
          <a:prstGeom prst="rect">
            <a:avLst/>
          </a:prstGeom>
          <a:noFill/>
          <a:ln/>
        </p:spPr>
        <p:txBody>
          <a:bodyPr wrap="square" lIns="0" tIns="0" rIns="0" bIns="0" rtlCol="0" anchor="ctr">
            <a:normAutofit/>
          </a:bodyPr>
          <a:lstStyle/>
          <a:p>
            <a:pPr marL="0" indent="0" algn="ctr">
              <a:buNone/>
            </a:pPr>
            <a:r>
              <a:rPr lang="en-US" sz="2000" b="1" dirty="0">
                <a:solidFill>
                  <a:srgbClr val="0F172A"/>
                </a:solidFill>
                <a:latin typeface="Arial" pitchFamily="34" charset="0"/>
                <a:ea typeface="Arial" pitchFamily="34" charset="-122"/>
                <a:cs typeface="Arial" pitchFamily="34" charset="-120"/>
              </a:rPr>
              <a:t>BaseAdapter</a:t>
            </a:r>
            <a:endParaRPr lang="en-US" sz="2000" dirty="0"/>
          </a:p>
        </p:txBody>
      </p:sp>
      <p:sp>
        <p:nvSpPr>
          <p:cNvPr id="18" name="Shape 15"/>
          <p:cNvSpPr/>
          <p:nvPr/>
        </p:nvSpPr>
        <p:spPr>
          <a:xfrm>
            <a:off x="4901184" y="3017520"/>
            <a:ext cx="2212848" cy="0"/>
          </a:xfrm>
          <a:prstGeom prst="line">
            <a:avLst/>
          </a:prstGeom>
          <a:noFill/>
          <a:ln w="12700">
            <a:solidFill>
              <a:srgbClr val="E2E8F0"/>
            </a:solidFill>
            <a:prstDash val="solid"/>
          </a:ln>
        </p:spPr>
      </p:sp>
      <p:sp>
        <p:nvSpPr>
          <p:cNvPr id="19" name="Text 16"/>
          <p:cNvSpPr txBox="1"/>
          <p:nvPr/>
        </p:nvSpPr>
        <p:spPr>
          <a:xfrm>
            <a:off x="4919472" y="3246120"/>
            <a:ext cx="2176272" cy="274320"/>
          </a:xfrm>
          <a:prstGeom prst="rect">
            <a:avLst/>
          </a:prstGeom>
          <a:noFill/>
          <a:ln/>
        </p:spPr>
        <p:txBody>
          <a:bodyPr wrap="square" lIns="0" tIns="0" rIns="0" bIns="0" rtlCol="0" anchor="ctr">
            <a:normAutofit/>
          </a:bodyPr>
          <a:lstStyle/>
          <a:p>
            <a:pPr marL="0" indent="0" algn="l">
              <a:buNone/>
            </a:pPr>
            <a:r>
              <a:rPr lang="en-US" sz="1200" dirty="0">
                <a:solidFill>
                  <a:srgbClr val="334155"/>
                </a:solidFill>
                <a:latin typeface="Arial" pitchFamily="34" charset="0"/>
                <a:ea typeface="Arial" pitchFamily="34" charset="-122"/>
                <a:cs typeface="Arial" pitchFamily="34" charset="-120"/>
              </a:rPr>
              <a:t>load()</a:t>
            </a:r>
            <a:endParaRPr lang="en-US" sz="1200" dirty="0"/>
          </a:p>
        </p:txBody>
      </p:sp>
      <p:sp>
        <p:nvSpPr>
          <p:cNvPr id="20" name="Text 17"/>
          <p:cNvSpPr txBox="1"/>
          <p:nvPr/>
        </p:nvSpPr>
        <p:spPr>
          <a:xfrm>
            <a:off x="4919472" y="3694176"/>
            <a:ext cx="2176272" cy="274320"/>
          </a:xfrm>
          <a:prstGeom prst="rect">
            <a:avLst/>
          </a:prstGeom>
          <a:noFill/>
          <a:ln/>
        </p:spPr>
        <p:txBody>
          <a:bodyPr wrap="square" lIns="0" tIns="0" rIns="0" bIns="0" rtlCol="0" anchor="ctr">
            <a:normAutofit/>
          </a:bodyPr>
          <a:lstStyle/>
          <a:p>
            <a:pPr marL="0" indent="0" algn="l">
              <a:buNone/>
            </a:pPr>
            <a:r>
              <a:rPr lang="en-US" sz="1200" dirty="0">
                <a:solidFill>
                  <a:srgbClr val="334155"/>
                </a:solidFill>
                <a:latin typeface="Arial" pitchFamily="34" charset="0"/>
                <a:ea typeface="Arial" pitchFamily="34" charset="-122"/>
                <a:cs typeface="Arial" pitchFamily="34" charset="-120"/>
              </a:rPr>
              <a:t>unload()</a:t>
            </a:r>
            <a:endParaRPr lang="en-US" sz="1200" dirty="0"/>
          </a:p>
        </p:txBody>
      </p:sp>
      <p:sp>
        <p:nvSpPr>
          <p:cNvPr id="21" name="Text 18"/>
          <p:cNvSpPr txBox="1"/>
          <p:nvPr/>
        </p:nvSpPr>
        <p:spPr>
          <a:xfrm>
            <a:off x="4919472" y="4142232"/>
            <a:ext cx="2176272" cy="274320"/>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predict(waveform, sr)</a:t>
            </a:r>
            <a:endParaRPr lang="en-US" sz="1200" dirty="0"/>
          </a:p>
        </p:txBody>
      </p:sp>
      <p:sp>
        <p:nvSpPr>
          <p:cNvPr id="22" name="Text 19"/>
          <p:cNvSpPr txBox="1"/>
          <p:nvPr/>
        </p:nvSpPr>
        <p:spPr>
          <a:xfrm>
            <a:off x="4919472" y="4590288"/>
            <a:ext cx="2176272" cy="274320"/>
          </a:xfrm>
          <a:prstGeom prst="rect">
            <a:avLst/>
          </a:prstGeom>
          <a:noFill/>
          <a:ln/>
        </p:spPr>
        <p:txBody>
          <a:bodyPr wrap="square" lIns="0" tIns="0" rIns="0" bIns="0" rtlCol="0" anchor="ctr">
            <a:normAutofit/>
          </a:bodyPr>
          <a:lstStyle/>
          <a:p>
            <a:pPr marL="0" indent="0" algn="l">
              <a:buNone/>
            </a:pPr>
            <a:r>
              <a:rPr lang="en-US" sz="1200" dirty="0">
                <a:solidFill>
                  <a:srgbClr val="334155"/>
                </a:solidFill>
                <a:latin typeface="Arial" pitchFamily="34" charset="0"/>
                <a:ea typeface="Arial" pitchFamily="34" charset="-122"/>
                <a:cs typeface="Arial" pitchFamily="34" charset="-120"/>
              </a:rPr>
              <a:t>get_model_info()</a:t>
            </a:r>
            <a:endParaRPr lang="en-US" sz="1200" dirty="0"/>
          </a:p>
        </p:txBody>
      </p:sp>
      <p:sp>
        <p:nvSpPr>
          <p:cNvPr id="23" name="Shape 20"/>
          <p:cNvSpPr/>
          <p:nvPr/>
        </p:nvSpPr>
        <p:spPr>
          <a:xfrm>
            <a:off x="7516368" y="3675888"/>
            <a:ext cx="914400" cy="0"/>
          </a:xfrm>
          <a:prstGeom prst="line">
            <a:avLst/>
          </a:prstGeom>
          <a:noFill/>
          <a:ln w="25400">
            <a:solidFill>
              <a:srgbClr val="15803D"/>
            </a:solidFill>
            <a:prstDash val="solid"/>
            <a:tailEnd type="triangle"/>
          </a:ln>
        </p:spPr>
      </p:sp>
      <p:sp>
        <p:nvSpPr>
          <p:cNvPr id="24" name="Shape 21"/>
          <p:cNvSpPr/>
          <p:nvPr/>
        </p:nvSpPr>
        <p:spPr>
          <a:xfrm>
            <a:off x="8503920" y="1938528"/>
            <a:ext cx="3136392" cy="3474720"/>
          </a:xfrm>
          <a:prstGeom prst="roundRect">
            <a:avLst>
              <a:gd name="adj" fmla="val 1458"/>
            </a:avLst>
          </a:prstGeom>
          <a:solidFill>
            <a:srgbClr val="DCFCE7"/>
          </a:solidFill>
          <a:ln w="12700">
            <a:solidFill>
              <a:srgbClr val="15803D"/>
            </a:solidFill>
            <a:prstDash val="solid"/>
          </a:ln>
        </p:spPr>
      </p:sp>
      <p:pic>
        <p:nvPicPr>
          <p:cNvPr id="2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51392" y="2322576"/>
            <a:ext cx="530352" cy="530352"/>
          </a:xfrm>
          <a:prstGeom prst="rect">
            <a:avLst/>
          </a:prstGeom>
        </p:spPr>
      </p:pic>
      <p:sp>
        <p:nvSpPr>
          <p:cNvPr id="26" name="Text 22"/>
          <p:cNvSpPr txBox="1"/>
          <p:nvPr/>
        </p:nvSpPr>
        <p:spPr>
          <a:xfrm>
            <a:off x="8851392" y="3054096"/>
            <a:ext cx="2322576" cy="384048"/>
          </a:xfrm>
          <a:prstGeom prst="rect">
            <a:avLst/>
          </a:prstGeom>
          <a:noFill/>
          <a:ln/>
        </p:spPr>
        <p:txBody>
          <a:bodyPr wrap="square" lIns="0" tIns="0" rIns="0" bIns="0" rtlCol="0" anchor="ctr">
            <a:normAutofit/>
          </a:bodyPr>
          <a:lstStyle/>
          <a:p>
            <a:pPr marL="0" indent="0" algn="l">
              <a:buNone/>
            </a:pPr>
            <a:r>
              <a:rPr lang="en-US" sz="1900" b="1" dirty="0">
                <a:solidFill>
                  <a:srgbClr val="0F172A"/>
                </a:solidFill>
                <a:latin typeface="Arial" pitchFamily="34" charset="0"/>
                <a:ea typeface="Arial" pitchFamily="34" charset="-122"/>
                <a:cs typeface="Arial" pitchFamily="34" charset="-120"/>
              </a:rPr>
              <a:t>MeralionAdapter</a:t>
            </a:r>
            <a:endParaRPr lang="en-US" sz="1900" dirty="0"/>
          </a:p>
        </p:txBody>
      </p:sp>
      <p:sp>
        <p:nvSpPr>
          <p:cNvPr id="27" name="Text 23"/>
          <p:cNvSpPr txBox="1"/>
          <p:nvPr/>
        </p:nvSpPr>
        <p:spPr>
          <a:xfrm>
            <a:off x="8851392" y="3493008"/>
            <a:ext cx="2322576" cy="256032"/>
          </a:xfrm>
          <a:prstGeom prst="rect">
            <a:avLst/>
          </a:prstGeom>
          <a:noFill/>
          <a:ln/>
        </p:spPr>
        <p:txBody>
          <a:bodyPr wrap="square" lIns="0" tIns="0" rIns="0" bIns="0" rtlCol="0" anchor="ctr">
            <a:normAutofit/>
          </a:bodyPr>
          <a:lstStyle/>
          <a:p>
            <a:pPr marL="0" indent="0" algn="l">
              <a:buNone/>
            </a:pPr>
            <a:r>
              <a:rPr lang="en-US" sz="1100" dirty="0">
                <a:solidFill>
                  <a:srgbClr val="15803D"/>
                </a:solidFill>
                <a:latin typeface="Arial" pitchFamily="34" charset="0"/>
                <a:ea typeface="Arial" pitchFamily="34" charset="-122"/>
                <a:cs typeface="Arial" pitchFamily="34" charset="-120"/>
              </a:rPr>
              <a:t>Implementation cụ thể</a:t>
            </a:r>
            <a:endParaRPr lang="en-US" sz="1100" dirty="0"/>
          </a:p>
        </p:txBody>
      </p:sp>
      <p:sp>
        <p:nvSpPr>
          <p:cNvPr id="28" name="Shape 24"/>
          <p:cNvSpPr/>
          <p:nvPr/>
        </p:nvSpPr>
        <p:spPr>
          <a:xfrm>
            <a:off x="8851392" y="3968496"/>
            <a:ext cx="2048256" cy="0"/>
          </a:xfrm>
          <a:prstGeom prst="line">
            <a:avLst/>
          </a:prstGeom>
          <a:noFill/>
          <a:ln w="12700">
            <a:solidFill>
              <a:srgbClr val="A7F3D0"/>
            </a:solidFill>
            <a:prstDash val="solid"/>
          </a:ln>
        </p:spPr>
      </p:sp>
      <p:sp>
        <p:nvSpPr>
          <p:cNvPr id="29" name="Text 25"/>
          <p:cNvSpPr txBox="1"/>
          <p:nvPr/>
        </p:nvSpPr>
        <p:spPr>
          <a:xfrm>
            <a:off x="8851392" y="4206240"/>
            <a:ext cx="2286000" cy="676656"/>
          </a:xfrm>
          <a:prstGeom prst="rect">
            <a:avLst/>
          </a:prstGeom>
          <a:noFill/>
          <a:ln/>
        </p:spPr>
        <p:txBody>
          <a:bodyPr wrap="square" lIns="0" tIns="0" rIns="0" bIns="0" rtlCol="0" anchor="t">
            <a:normAutofit/>
          </a:bodyPr>
          <a:lstStyle/>
          <a:p>
            <a:pPr marL="0" indent="0" algn="l">
              <a:buNone/>
            </a:pPr>
            <a:r>
              <a:rPr lang="en-US" sz="1300" b="1" dirty="0">
                <a:solidFill>
                  <a:srgbClr val="334155"/>
                </a:solidFill>
                <a:latin typeface="Arial" pitchFamily="34" charset="0"/>
                <a:ea typeface="Arial" pitchFamily="34" charset="-122"/>
                <a:cs typeface="Arial" pitchFamily="34" charset="-120"/>
              </a:rPr>
              <a:t>Hugging Face loader</a:t>
            </a:r>
            <a:endParaRPr lang="en-US" sz="1300" dirty="0"/>
          </a:p>
          <a:p>
            <a:pPr marL="0" indent="0" algn="l">
              <a:buNone/>
            </a:pPr>
            <a:r>
              <a:rPr lang="en-US" sz="1300" b="1" dirty="0">
                <a:solidFill>
                  <a:srgbClr val="334155"/>
                </a:solidFill>
                <a:latin typeface="Arial" pitchFamily="34" charset="0"/>
                <a:ea typeface="Arial" pitchFamily="34" charset="-122"/>
                <a:cs typeface="Arial" pitchFamily="34" charset="-120"/>
              </a:rPr>
              <a:t>7-class softmax</a:t>
            </a:r>
            <a:endParaRPr lang="en-US" sz="1300" dirty="0"/>
          </a:p>
        </p:txBody>
      </p:sp>
      <p:sp>
        <p:nvSpPr>
          <p:cNvPr id="30" name="Shape 26"/>
          <p:cNvSpPr/>
          <p:nvPr/>
        </p:nvSpPr>
        <p:spPr>
          <a:xfrm>
            <a:off x="4517136" y="5852160"/>
            <a:ext cx="7123176" cy="329184"/>
          </a:xfrm>
          <a:prstGeom prst="roundRect">
            <a:avLst>
              <a:gd name="adj" fmla="val 11111"/>
            </a:avLst>
          </a:prstGeom>
          <a:solidFill>
            <a:srgbClr val="DBEAFE"/>
          </a:solidFill>
          <a:ln w="12700">
            <a:solidFill>
              <a:srgbClr val="DBEAFE"/>
            </a:solidFill>
            <a:prstDash val="solid"/>
          </a:ln>
        </p:spPr>
      </p:sp>
      <p:sp>
        <p:nvSpPr>
          <p:cNvPr id="31" name="Text 27"/>
          <p:cNvSpPr txBox="1"/>
          <p:nvPr/>
        </p:nvSpPr>
        <p:spPr>
          <a:xfrm>
            <a:off x="4590288" y="5852160"/>
            <a:ext cx="6976872" cy="329184"/>
          </a:xfrm>
          <a:prstGeom prst="rect">
            <a:avLst/>
          </a:prstGeom>
          <a:noFill/>
          <a:ln/>
        </p:spPr>
        <p:txBody>
          <a:bodyPr wrap="square" lIns="0" tIns="0" rIns="0" bIns="0" rtlCol="0" anchor="ctr">
            <a:normAutofit/>
          </a:bodyPr>
          <a:lstStyle/>
          <a:p>
            <a:pPr marL="0" indent="0" algn="ctr">
              <a:buNone/>
            </a:pPr>
            <a:r>
              <a:rPr lang="en-US" sz="1100" b="1" dirty="0">
                <a:solidFill>
                  <a:srgbClr val="1D4ED8"/>
                </a:solidFill>
                <a:latin typeface="Arial" pitchFamily="34" charset="0"/>
                <a:ea typeface="Arial" pitchFamily="34" charset="-122"/>
                <a:cs typeface="Arial" pitchFamily="34" charset="-120"/>
              </a:rPr>
              <a:t>Model swap không làm đổi UI</a:t>
            </a:r>
            <a:endParaRPr lang="en-US" sz="1100" dirty="0"/>
          </a:p>
        </p:txBody>
      </p:sp>
      <p:sp>
        <p:nvSpPr>
          <p:cNvPr id="32" name="Shape 28"/>
          <p:cNvSpPr/>
          <p:nvPr/>
        </p:nvSpPr>
        <p:spPr>
          <a:xfrm>
            <a:off x="530352" y="6382512"/>
            <a:ext cx="11128248" cy="0"/>
          </a:xfrm>
          <a:prstGeom prst="line">
            <a:avLst/>
          </a:prstGeom>
          <a:noFill/>
          <a:ln w="10160">
            <a:solidFill>
              <a:srgbClr val="E2E8F0"/>
            </a:solidFill>
            <a:prstDash val="solid"/>
          </a:ln>
        </p:spPr>
      </p:sp>
      <p:sp>
        <p:nvSpPr>
          <p:cNvPr id="33" name="Text 29"/>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docs/ARCHITECTURE.md • src/adapters/base.py • src/adapters/meralion.py.</a:t>
            </a:r>
            <a:endParaRPr lang="en-US" sz="850" dirty="0"/>
          </a:p>
        </p:txBody>
      </p:sp>
      <p:sp>
        <p:nvSpPr>
          <p:cNvPr id="34"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14  /  THIẾT KẾ</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Inference đi qua sáu bước kiểm soát</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Từ audio path đến label, scores, latency và device.</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841248" y="1755648"/>
            <a:ext cx="438912" cy="438912"/>
          </a:xfrm>
          <a:prstGeom prst="ellipse">
            <a:avLst/>
          </a:prstGeom>
          <a:solidFill>
            <a:srgbClr val="DBEAFE"/>
          </a:solidFill>
          <a:ln w="12700">
            <a:solidFill>
              <a:srgbClr val="DBEAFE"/>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1865376"/>
            <a:ext cx="219456" cy="219456"/>
          </a:xfrm>
          <a:prstGeom prst="rect">
            <a:avLst/>
          </a:prstGeom>
        </p:spPr>
      </p:pic>
      <p:sp>
        <p:nvSpPr>
          <p:cNvPr id="9" name="Text 6"/>
          <p:cNvSpPr txBox="1"/>
          <p:nvPr/>
        </p:nvSpPr>
        <p:spPr>
          <a:xfrm>
            <a:off x="676656" y="2249424"/>
            <a:ext cx="768096" cy="25603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rial" pitchFamily="34" charset="0"/>
                <a:ea typeface="Arial" pitchFamily="34" charset="-122"/>
                <a:cs typeface="Arial" pitchFamily="34" charset="-120"/>
              </a:rPr>
              <a:t>User</a:t>
            </a:r>
            <a:endParaRPr lang="en-US" sz="1050" dirty="0"/>
          </a:p>
        </p:txBody>
      </p:sp>
      <p:sp>
        <p:nvSpPr>
          <p:cNvPr id="10" name="Shape 7"/>
          <p:cNvSpPr/>
          <p:nvPr/>
        </p:nvSpPr>
        <p:spPr>
          <a:xfrm>
            <a:off x="1060704" y="2560320"/>
            <a:ext cx="0" cy="3172968"/>
          </a:xfrm>
          <a:prstGeom prst="line">
            <a:avLst/>
          </a:prstGeom>
          <a:noFill/>
          <a:ln w="12700">
            <a:solidFill>
              <a:srgbClr val="E2E8F0"/>
            </a:solidFill>
            <a:prstDash val="dash"/>
          </a:ln>
        </p:spPr>
      </p:sp>
      <p:sp>
        <p:nvSpPr>
          <p:cNvPr id="11" name="Shape 8"/>
          <p:cNvSpPr/>
          <p:nvPr/>
        </p:nvSpPr>
        <p:spPr>
          <a:xfrm>
            <a:off x="2907792" y="1755648"/>
            <a:ext cx="438912" cy="438912"/>
          </a:xfrm>
          <a:prstGeom prst="ellipse">
            <a:avLst/>
          </a:prstGeom>
          <a:solidFill>
            <a:srgbClr val="DBEAFE"/>
          </a:solidFill>
          <a:ln w="12700">
            <a:solidFill>
              <a:srgbClr val="DBEAFE"/>
            </a:solidFill>
            <a:prstDash val="solid"/>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17520" y="1865376"/>
            <a:ext cx="219456" cy="219456"/>
          </a:xfrm>
          <a:prstGeom prst="rect">
            <a:avLst/>
          </a:prstGeom>
        </p:spPr>
      </p:pic>
      <p:sp>
        <p:nvSpPr>
          <p:cNvPr id="13" name="Text 9"/>
          <p:cNvSpPr txBox="1"/>
          <p:nvPr/>
        </p:nvSpPr>
        <p:spPr>
          <a:xfrm>
            <a:off x="2743200" y="2249424"/>
            <a:ext cx="768096" cy="25603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rial" pitchFamily="34" charset="0"/>
                <a:ea typeface="Arial" pitchFamily="34" charset="-122"/>
                <a:cs typeface="Arial" pitchFamily="34" charset="-120"/>
              </a:rPr>
              <a:t>Gradio</a:t>
            </a:r>
            <a:endParaRPr lang="en-US" sz="1050" dirty="0"/>
          </a:p>
        </p:txBody>
      </p:sp>
      <p:sp>
        <p:nvSpPr>
          <p:cNvPr id="14" name="Shape 10"/>
          <p:cNvSpPr/>
          <p:nvPr/>
        </p:nvSpPr>
        <p:spPr>
          <a:xfrm>
            <a:off x="3127248" y="2560320"/>
            <a:ext cx="0" cy="3172968"/>
          </a:xfrm>
          <a:prstGeom prst="line">
            <a:avLst/>
          </a:prstGeom>
          <a:noFill/>
          <a:ln w="12700">
            <a:solidFill>
              <a:srgbClr val="E2E8F0"/>
            </a:solidFill>
            <a:prstDash val="dash"/>
          </a:ln>
        </p:spPr>
      </p:sp>
      <p:sp>
        <p:nvSpPr>
          <p:cNvPr id="15" name="Shape 11"/>
          <p:cNvSpPr/>
          <p:nvPr/>
        </p:nvSpPr>
        <p:spPr>
          <a:xfrm>
            <a:off x="5120640" y="1755648"/>
            <a:ext cx="438912" cy="438912"/>
          </a:xfrm>
          <a:prstGeom prst="ellipse">
            <a:avLst/>
          </a:prstGeom>
          <a:solidFill>
            <a:srgbClr val="DBEAFE"/>
          </a:solidFill>
          <a:ln w="12700">
            <a:solidFill>
              <a:srgbClr val="DBEAFE"/>
            </a:solidFill>
            <a:prstDash val="solid"/>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0368" y="1865376"/>
            <a:ext cx="219456" cy="219456"/>
          </a:xfrm>
          <a:prstGeom prst="rect">
            <a:avLst/>
          </a:prstGeom>
        </p:spPr>
      </p:pic>
      <p:sp>
        <p:nvSpPr>
          <p:cNvPr id="17" name="Text 12"/>
          <p:cNvSpPr txBox="1"/>
          <p:nvPr/>
        </p:nvSpPr>
        <p:spPr>
          <a:xfrm>
            <a:off x="4956048" y="2249424"/>
            <a:ext cx="768096" cy="25603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rial" pitchFamily="34" charset="0"/>
                <a:ea typeface="Arial" pitchFamily="34" charset="-122"/>
                <a:cs typeface="Arial" pitchFamily="34" charset="-120"/>
              </a:rPr>
              <a:t>Inference</a:t>
            </a:r>
            <a:endParaRPr lang="en-US" sz="1050" dirty="0"/>
          </a:p>
        </p:txBody>
      </p:sp>
      <p:sp>
        <p:nvSpPr>
          <p:cNvPr id="18" name="Shape 13"/>
          <p:cNvSpPr/>
          <p:nvPr/>
        </p:nvSpPr>
        <p:spPr>
          <a:xfrm>
            <a:off x="5340096" y="2560320"/>
            <a:ext cx="0" cy="3172968"/>
          </a:xfrm>
          <a:prstGeom prst="line">
            <a:avLst/>
          </a:prstGeom>
          <a:noFill/>
          <a:ln w="12700">
            <a:solidFill>
              <a:srgbClr val="E2E8F0"/>
            </a:solidFill>
            <a:prstDash val="dash"/>
          </a:ln>
        </p:spPr>
      </p:sp>
      <p:sp>
        <p:nvSpPr>
          <p:cNvPr id="19" name="Shape 14"/>
          <p:cNvSpPr/>
          <p:nvPr/>
        </p:nvSpPr>
        <p:spPr>
          <a:xfrm>
            <a:off x="7351776" y="1755648"/>
            <a:ext cx="438912" cy="438912"/>
          </a:xfrm>
          <a:prstGeom prst="ellipse">
            <a:avLst/>
          </a:prstGeom>
          <a:solidFill>
            <a:srgbClr val="DBEAFE"/>
          </a:solidFill>
          <a:ln w="12700">
            <a:solidFill>
              <a:srgbClr val="DBEAFE"/>
            </a:solidFill>
            <a:prstDash val="solid"/>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61504" y="1865376"/>
            <a:ext cx="219456" cy="219456"/>
          </a:xfrm>
          <a:prstGeom prst="rect">
            <a:avLst/>
          </a:prstGeom>
        </p:spPr>
      </p:pic>
      <p:sp>
        <p:nvSpPr>
          <p:cNvPr id="21" name="Text 15"/>
          <p:cNvSpPr txBox="1"/>
          <p:nvPr/>
        </p:nvSpPr>
        <p:spPr>
          <a:xfrm>
            <a:off x="7187184" y="2249424"/>
            <a:ext cx="768096" cy="25603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rial" pitchFamily="34" charset="0"/>
                <a:ea typeface="Arial" pitchFamily="34" charset="-122"/>
                <a:cs typeface="Arial" pitchFamily="34" charset="-120"/>
              </a:rPr>
              <a:t>Adapter</a:t>
            </a:r>
            <a:endParaRPr lang="en-US" sz="1050" dirty="0"/>
          </a:p>
        </p:txBody>
      </p:sp>
      <p:sp>
        <p:nvSpPr>
          <p:cNvPr id="22" name="Shape 16"/>
          <p:cNvSpPr/>
          <p:nvPr/>
        </p:nvSpPr>
        <p:spPr>
          <a:xfrm>
            <a:off x="7571232" y="2560320"/>
            <a:ext cx="0" cy="3172968"/>
          </a:xfrm>
          <a:prstGeom prst="line">
            <a:avLst/>
          </a:prstGeom>
          <a:noFill/>
          <a:ln w="12700">
            <a:solidFill>
              <a:srgbClr val="E2E8F0"/>
            </a:solidFill>
            <a:prstDash val="dash"/>
          </a:ln>
        </p:spPr>
      </p:sp>
      <p:sp>
        <p:nvSpPr>
          <p:cNvPr id="23" name="Shape 17"/>
          <p:cNvSpPr/>
          <p:nvPr/>
        </p:nvSpPr>
        <p:spPr>
          <a:xfrm>
            <a:off x="9582912" y="1755648"/>
            <a:ext cx="438912" cy="438912"/>
          </a:xfrm>
          <a:prstGeom prst="ellipse">
            <a:avLst/>
          </a:prstGeom>
          <a:solidFill>
            <a:srgbClr val="DCFCE7"/>
          </a:solidFill>
          <a:ln w="12700">
            <a:solidFill>
              <a:srgbClr val="DCFCE7"/>
            </a:solidFill>
            <a:prstDash val="solid"/>
          </a:ln>
        </p:spPr>
      </p:sp>
      <p:pic>
        <p:nvPicPr>
          <p:cNvPr id="2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92640" y="1865376"/>
            <a:ext cx="219456" cy="219456"/>
          </a:xfrm>
          <a:prstGeom prst="rect">
            <a:avLst/>
          </a:prstGeom>
        </p:spPr>
      </p:pic>
      <p:sp>
        <p:nvSpPr>
          <p:cNvPr id="25" name="Text 18"/>
          <p:cNvSpPr txBox="1"/>
          <p:nvPr/>
        </p:nvSpPr>
        <p:spPr>
          <a:xfrm>
            <a:off x="9418320" y="2249424"/>
            <a:ext cx="768096" cy="256032"/>
          </a:xfrm>
          <a:prstGeom prst="rect">
            <a:avLst/>
          </a:prstGeom>
          <a:noFill/>
          <a:ln/>
        </p:spPr>
        <p:txBody>
          <a:bodyPr wrap="square" lIns="0" tIns="0" rIns="0" bIns="0" rtlCol="0" anchor="ctr">
            <a:normAutofit/>
          </a:bodyPr>
          <a:lstStyle/>
          <a:p>
            <a:pPr marL="0" indent="0" algn="ctr">
              <a:buNone/>
            </a:pPr>
            <a:r>
              <a:rPr lang="en-US" sz="1050" b="1" dirty="0">
                <a:solidFill>
                  <a:srgbClr val="0F172A"/>
                </a:solidFill>
                <a:latin typeface="Arial" pitchFamily="34" charset="0"/>
                <a:ea typeface="Arial" pitchFamily="34" charset="-122"/>
                <a:cs typeface="Arial" pitchFamily="34" charset="-120"/>
              </a:rPr>
              <a:t>Model</a:t>
            </a:r>
            <a:endParaRPr lang="en-US" sz="1050" dirty="0"/>
          </a:p>
        </p:txBody>
      </p:sp>
      <p:sp>
        <p:nvSpPr>
          <p:cNvPr id="26" name="Shape 19"/>
          <p:cNvSpPr/>
          <p:nvPr/>
        </p:nvSpPr>
        <p:spPr>
          <a:xfrm>
            <a:off x="9802368" y="2560320"/>
            <a:ext cx="0" cy="3172968"/>
          </a:xfrm>
          <a:prstGeom prst="line">
            <a:avLst/>
          </a:prstGeom>
          <a:noFill/>
          <a:ln w="12700">
            <a:solidFill>
              <a:srgbClr val="E2E8F0"/>
            </a:solidFill>
            <a:prstDash val="dash"/>
          </a:ln>
        </p:spPr>
      </p:sp>
      <p:sp>
        <p:nvSpPr>
          <p:cNvPr id="27" name="Shape 20"/>
          <p:cNvSpPr/>
          <p:nvPr/>
        </p:nvSpPr>
        <p:spPr>
          <a:xfrm>
            <a:off x="1060704" y="2779776"/>
            <a:ext cx="2066544" cy="0"/>
          </a:xfrm>
          <a:prstGeom prst="line">
            <a:avLst/>
          </a:prstGeom>
          <a:noFill/>
          <a:ln w="20320">
            <a:solidFill>
              <a:srgbClr val="1D4ED8"/>
            </a:solidFill>
            <a:prstDash val="solid"/>
            <a:tailEnd type="triangle"/>
          </a:ln>
        </p:spPr>
      </p:sp>
      <p:sp>
        <p:nvSpPr>
          <p:cNvPr id="28" name="Text 21"/>
          <p:cNvSpPr txBox="1"/>
          <p:nvPr/>
        </p:nvSpPr>
        <p:spPr>
          <a:xfrm>
            <a:off x="1133856" y="2514600"/>
            <a:ext cx="1920240" cy="219456"/>
          </a:xfrm>
          <a:prstGeom prst="rect">
            <a:avLst/>
          </a:prstGeom>
          <a:noFill/>
          <a:ln/>
        </p:spPr>
        <p:txBody>
          <a:bodyPr wrap="square" lIns="0" tIns="0" rIns="0" bIns="0" rtlCol="0" anchor="ctr">
            <a:normAutofit/>
          </a:bodyPr>
          <a:lstStyle/>
          <a:p>
            <a:pPr marL="0" indent="0" algn="ctr">
              <a:buNone/>
            </a:pPr>
            <a:r>
              <a:rPr lang="en-US" sz="950" b="1" dirty="0">
                <a:solidFill>
                  <a:srgbClr val="1D4ED8"/>
                </a:solidFill>
                <a:latin typeface="Arial" pitchFamily="34" charset="0"/>
                <a:ea typeface="Arial" pitchFamily="34" charset="-122"/>
                <a:cs typeface="Arial" pitchFamily="34" charset="-120"/>
              </a:rPr>
              <a:t>1  Upload / record audio</a:t>
            </a:r>
            <a:endParaRPr lang="en-US" sz="950" dirty="0"/>
          </a:p>
        </p:txBody>
      </p:sp>
      <p:sp>
        <p:nvSpPr>
          <p:cNvPr id="29" name="Shape 22"/>
          <p:cNvSpPr/>
          <p:nvPr/>
        </p:nvSpPr>
        <p:spPr>
          <a:xfrm>
            <a:off x="3127248" y="3182112"/>
            <a:ext cx="2212848" cy="0"/>
          </a:xfrm>
          <a:prstGeom prst="line">
            <a:avLst/>
          </a:prstGeom>
          <a:noFill/>
          <a:ln w="20320">
            <a:solidFill>
              <a:srgbClr val="1D4ED8"/>
            </a:solidFill>
            <a:prstDash val="solid"/>
            <a:tailEnd type="triangle"/>
          </a:ln>
        </p:spPr>
      </p:sp>
      <p:sp>
        <p:nvSpPr>
          <p:cNvPr id="30" name="Text 23"/>
          <p:cNvSpPr txBox="1"/>
          <p:nvPr/>
        </p:nvSpPr>
        <p:spPr>
          <a:xfrm>
            <a:off x="3200400" y="2916936"/>
            <a:ext cx="2066544" cy="219456"/>
          </a:xfrm>
          <a:prstGeom prst="rect">
            <a:avLst/>
          </a:prstGeom>
          <a:noFill/>
          <a:ln/>
        </p:spPr>
        <p:txBody>
          <a:bodyPr wrap="square" lIns="0" tIns="0" rIns="0" bIns="0" rtlCol="0" anchor="ctr">
            <a:normAutofit/>
          </a:bodyPr>
          <a:lstStyle/>
          <a:p>
            <a:pPr marL="0" indent="0" algn="ctr">
              <a:buNone/>
            </a:pPr>
            <a:r>
              <a:rPr lang="en-US" sz="950" b="1" dirty="0">
                <a:solidFill>
                  <a:srgbClr val="1D4ED8"/>
                </a:solidFill>
                <a:latin typeface="Arial" pitchFamily="34" charset="0"/>
                <a:ea typeface="Arial" pitchFamily="34" charset="-122"/>
                <a:cs typeface="Arial" pitchFamily="34" charset="-120"/>
              </a:rPr>
              <a:t>2  inference.predict(path)</a:t>
            </a:r>
            <a:endParaRPr lang="en-US" sz="950" dirty="0"/>
          </a:p>
        </p:txBody>
      </p:sp>
      <p:sp>
        <p:nvSpPr>
          <p:cNvPr id="31" name="Shape 24"/>
          <p:cNvSpPr/>
          <p:nvPr/>
        </p:nvSpPr>
        <p:spPr>
          <a:xfrm>
            <a:off x="5504688" y="3529584"/>
            <a:ext cx="1847088" cy="310896"/>
          </a:xfrm>
          <a:prstGeom prst="roundRect">
            <a:avLst>
              <a:gd name="adj" fmla="val 8824"/>
            </a:avLst>
          </a:prstGeom>
          <a:solidFill>
            <a:srgbClr val="CCFBF1"/>
          </a:solidFill>
          <a:ln w="12700">
            <a:solidFill>
              <a:srgbClr val="CCFBF1"/>
            </a:solidFill>
            <a:prstDash val="solid"/>
          </a:ln>
        </p:spPr>
      </p:sp>
      <p:sp>
        <p:nvSpPr>
          <p:cNvPr id="32" name="Text 25"/>
          <p:cNvSpPr txBox="1"/>
          <p:nvPr/>
        </p:nvSpPr>
        <p:spPr>
          <a:xfrm>
            <a:off x="5596128" y="3529584"/>
            <a:ext cx="1664208" cy="310896"/>
          </a:xfrm>
          <a:prstGeom prst="rect">
            <a:avLst/>
          </a:prstGeom>
          <a:noFill/>
          <a:ln/>
        </p:spPr>
        <p:txBody>
          <a:bodyPr wrap="square" lIns="0" tIns="0" rIns="0" bIns="0" rtlCol="0" anchor="ctr">
            <a:normAutofit/>
          </a:bodyPr>
          <a:lstStyle/>
          <a:p>
            <a:pPr marL="0" indent="0" algn="ctr">
              <a:buNone/>
            </a:pPr>
            <a:r>
              <a:rPr lang="en-US" sz="950" b="1" dirty="0">
                <a:solidFill>
                  <a:srgbClr val="0F766E"/>
                </a:solidFill>
                <a:latin typeface="Arial" pitchFamily="34" charset="0"/>
                <a:ea typeface="Arial" pitchFamily="34" charset="-122"/>
                <a:cs typeface="Arial" pitchFamily="34" charset="-120"/>
              </a:rPr>
              <a:t>3  Load + resample 16 kHz</a:t>
            </a:r>
            <a:endParaRPr lang="en-US" sz="950" dirty="0"/>
          </a:p>
        </p:txBody>
      </p:sp>
      <p:sp>
        <p:nvSpPr>
          <p:cNvPr id="33" name="Shape 26"/>
          <p:cNvSpPr/>
          <p:nvPr/>
        </p:nvSpPr>
        <p:spPr>
          <a:xfrm>
            <a:off x="5340096" y="3986784"/>
            <a:ext cx="2231136" cy="0"/>
          </a:xfrm>
          <a:prstGeom prst="line">
            <a:avLst/>
          </a:prstGeom>
          <a:noFill/>
          <a:ln w="20320">
            <a:solidFill>
              <a:srgbClr val="0F766E"/>
            </a:solidFill>
            <a:prstDash val="solid"/>
            <a:tailEnd type="triangle"/>
          </a:ln>
        </p:spPr>
      </p:sp>
      <p:sp>
        <p:nvSpPr>
          <p:cNvPr id="34" name="Text 27"/>
          <p:cNvSpPr txBox="1"/>
          <p:nvPr/>
        </p:nvSpPr>
        <p:spPr>
          <a:xfrm>
            <a:off x="5413248" y="3721608"/>
            <a:ext cx="2084832" cy="219456"/>
          </a:xfrm>
          <a:prstGeom prst="rect">
            <a:avLst/>
          </a:prstGeom>
          <a:noFill/>
          <a:ln/>
        </p:spPr>
        <p:txBody>
          <a:bodyPr wrap="square" lIns="0" tIns="0" rIns="0" bIns="0" rtlCol="0" anchor="ctr">
            <a:normAutofit/>
          </a:bodyPr>
          <a:lstStyle/>
          <a:p>
            <a:pPr marL="0" indent="0" algn="ctr">
              <a:buNone/>
            </a:pPr>
            <a:r>
              <a:rPr lang="en-US" sz="950" b="1" dirty="0">
                <a:solidFill>
                  <a:srgbClr val="0F766E"/>
                </a:solidFill>
                <a:latin typeface="Arial" pitchFamily="34" charset="0"/>
                <a:ea typeface="Arial" pitchFamily="34" charset="-122"/>
                <a:cs typeface="Arial" pitchFamily="34" charset="-120"/>
              </a:rPr>
              <a:t>4  adapter.predict(waveform, sr)</a:t>
            </a:r>
            <a:endParaRPr lang="en-US" sz="950" dirty="0"/>
          </a:p>
        </p:txBody>
      </p:sp>
      <p:sp>
        <p:nvSpPr>
          <p:cNvPr id="35" name="Shape 28"/>
          <p:cNvSpPr/>
          <p:nvPr/>
        </p:nvSpPr>
        <p:spPr>
          <a:xfrm>
            <a:off x="7571232" y="4389120"/>
            <a:ext cx="2231136" cy="0"/>
          </a:xfrm>
          <a:prstGeom prst="line">
            <a:avLst/>
          </a:prstGeom>
          <a:noFill/>
          <a:ln w="20320">
            <a:solidFill>
              <a:srgbClr val="15803D"/>
            </a:solidFill>
            <a:prstDash val="solid"/>
            <a:tailEnd type="triangle"/>
          </a:ln>
        </p:spPr>
      </p:sp>
      <p:sp>
        <p:nvSpPr>
          <p:cNvPr id="36" name="Text 29"/>
          <p:cNvSpPr txBox="1"/>
          <p:nvPr/>
        </p:nvSpPr>
        <p:spPr>
          <a:xfrm>
            <a:off x="7644384" y="4123944"/>
            <a:ext cx="2084832" cy="219456"/>
          </a:xfrm>
          <a:prstGeom prst="rect">
            <a:avLst/>
          </a:prstGeom>
          <a:noFill/>
          <a:ln/>
        </p:spPr>
        <p:txBody>
          <a:bodyPr wrap="square" lIns="0" tIns="0" rIns="0" bIns="0" rtlCol="0" anchor="ctr">
            <a:normAutofit/>
          </a:bodyPr>
          <a:lstStyle/>
          <a:p>
            <a:pPr marL="0" indent="0" algn="ctr">
              <a:buNone/>
            </a:pPr>
            <a:r>
              <a:rPr lang="en-US" sz="950" b="1" dirty="0">
                <a:solidFill>
                  <a:srgbClr val="15803D"/>
                </a:solidFill>
                <a:latin typeface="Arial" pitchFamily="34" charset="0"/>
                <a:ea typeface="Arial" pitchFamily="34" charset="-122"/>
                <a:cs typeface="Arial" pitchFamily="34" charset="-120"/>
              </a:rPr>
              <a:t>5  logits → real softmax</a:t>
            </a:r>
            <a:endParaRPr lang="en-US" sz="950" dirty="0"/>
          </a:p>
        </p:txBody>
      </p:sp>
      <p:sp>
        <p:nvSpPr>
          <p:cNvPr id="37" name="Shape 30"/>
          <p:cNvSpPr/>
          <p:nvPr/>
        </p:nvSpPr>
        <p:spPr>
          <a:xfrm>
            <a:off x="9802368" y="4937760"/>
            <a:ext cx="0" cy="0"/>
          </a:xfrm>
          <a:prstGeom prst="line">
            <a:avLst/>
          </a:prstGeom>
          <a:noFill/>
          <a:ln w="20320">
            <a:solidFill>
              <a:srgbClr val="15803D"/>
            </a:solidFill>
            <a:prstDash val="solid"/>
            <a:tailEnd type="triangle"/>
          </a:ln>
        </p:spPr>
      </p:sp>
      <p:sp>
        <p:nvSpPr>
          <p:cNvPr id="38" name="Text 31"/>
          <p:cNvSpPr txBox="1"/>
          <p:nvPr/>
        </p:nvSpPr>
        <p:spPr>
          <a:xfrm>
            <a:off x="1133856" y="4672584"/>
            <a:ext cx="8595360" cy="219456"/>
          </a:xfrm>
          <a:prstGeom prst="rect">
            <a:avLst/>
          </a:prstGeom>
          <a:noFill/>
          <a:ln/>
        </p:spPr>
        <p:txBody>
          <a:bodyPr wrap="square" lIns="0" tIns="0" rIns="0" bIns="0" rtlCol="0" anchor="ctr">
            <a:normAutofit/>
          </a:bodyPr>
          <a:lstStyle/>
          <a:p>
            <a:pPr marL="0" indent="0" algn="ctr">
              <a:buNone/>
            </a:pPr>
            <a:r>
              <a:rPr lang="en-US" sz="950" b="1" dirty="0">
                <a:solidFill>
                  <a:srgbClr val="15803D"/>
                </a:solidFill>
                <a:latin typeface="Arial" pitchFamily="34" charset="0"/>
                <a:ea typeface="Arial" pitchFamily="34" charset="-122"/>
                <a:cs typeface="Arial" pitchFamily="34" charset="-120"/>
              </a:rPr>
              <a:t>6  label + 7 scores + latency/device</a:t>
            </a:r>
            <a:endParaRPr lang="en-US" sz="950" dirty="0"/>
          </a:p>
        </p:txBody>
      </p:sp>
      <p:sp>
        <p:nvSpPr>
          <p:cNvPr id="39" name="Shape 32"/>
          <p:cNvSpPr/>
          <p:nvPr/>
        </p:nvSpPr>
        <p:spPr>
          <a:xfrm>
            <a:off x="566928" y="5833872"/>
            <a:ext cx="11073384" cy="292608"/>
          </a:xfrm>
          <a:prstGeom prst="roundRect">
            <a:avLst>
              <a:gd name="adj" fmla="val 9375"/>
            </a:avLst>
          </a:prstGeom>
          <a:solidFill>
            <a:srgbClr val="0F172A"/>
          </a:solidFill>
          <a:ln w="12700">
            <a:solidFill>
              <a:srgbClr val="0F172A"/>
            </a:solidFill>
            <a:prstDash val="solid"/>
          </a:ln>
        </p:spPr>
      </p:sp>
      <p:sp>
        <p:nvSpPr>
          <p:cNvPr id="40" name="Text 33"/>
          <p:cNvSpPr txBox="1"/>
          <p:nvPr/>
        </p:nvSpPr>
        <p:spPr>
          <a:xfrm>
            <a:off x="749808" y="5833872"/>
            <a:ext cx="10698480" cy="292608"/>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rial" pitchFamily="34" charset="0"/>
                <a:ea typeface="Arial" pitchFamily="34" charset="-122"/>
                <a:cs typeface="Arial" pitchFamily="34" charset="-120"/>
              </a:rPr>
              <a:t>Không dựng confidence giả: class_scores phải là softmax thật, tổng bằng 1.</a:t>
            </a:r>
            <a:endParaRPr lang="en-US" sz="1050" dirty="0"/>
          </a:p>
        </p:txBody>
      </p:sp>
      <p:sp>
        <p:nvSpPr>
          <p:cNvPr id="41" name="Shape 34"/>
          <p:cNvSpPr/>
          <p:nvPr/>
        </p:nvSpPr>
        <p:spPr>
          <a:xfrm>
            <a:off x="530352" y="6382512"/>
            <a:ext cx="11128248" cy="0"/>
          </a:xfrm>
          <a:prstGeom prst="line">
            <a:avLst/>
          </a:prstGeom>
          <a:noFill/>
          <a:ln w="10160">
            <a:solidFill>
              <a:srgbClr val="E2E8F0"/>
            </a:solidFill>
            <a:prstDash val="solid"/>
          </a:ln>
        </p:spPr>
      </p:sp>
      <p:sp>
        <p:nvSpPr>
          <p:cNvPr id="42" name="Text 35"/>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docs/ARCHITECTURE.md • tests/test_no_fabrication.py.</a:t>
            </a:r>
            <a:endParaRPr lang="en-US" sz="850" dirty="0"/>
          </a:p>
        </p:txBody>
      </p:sp>
      <p:sp>
        <p:nvSpPr>
          <p:cNvPr id="43"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15  /  GIAO DIỆN</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UI gom input và output trong một màn</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Ba đường vào; một kết quả có thể đọc nhanh nhưng vẫn giữ raw scores.</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658368" y="1682496"/>
            <a:ext cx="10881360" cy="4535424"/>
          </a:xfrm>
          <a:prstGeom prst="roundRect">
            <a:avLst>
              <a:gd name="adj" fmla="val 1008"/>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658368" y="1682496"/>
            <a:ext cx="10881360" cy="402336"/>
          </a:xfrm>
          <a:prstGeom prst="roundRect">
            <a:avLst>
              <a:gd name="adj" fmla="val 11364"/>
            </a:avLst>
          </a:prstGeom>
          <a:solidFill>
            <a:srgbClr val="0F172A"/>
          </a:solidFill>
          <a:ln w="12700">
            <a:solidFill>
              <a:srgbClr val="0F172A"/>
            </a:solidFill>
            <a:prstDash val="solid"/>
          </a:ln>
        </p:spPr>
      </p:sp>
      <p:sp>
        <p:nvSpPr>
          <p:cNvPr id="9" name="Shape 7"/>
          <p:cNvSpPr/>
          <p:nvPr/>
        </p:nvSpPr>
        <p:spPr>
          <a:xfrm>
            <a:off x="859536" y="1828800"/>
            <a:ext cx="91440" cy="91440"/>
          </a:xfrm>
          <a:prstGeom prst="ellipse">
            <a:avLst/>
          </a:prstGeom>
          <a:solidFill>
            <a:srgbClr val="B91C1C"/>
          </a:solidFill>
          <a:ln w="12700">
            <a:solidFill>
              <a:srgbClr val="B91C1C"/>
            </a:solidFill>
            <a:prstDash val="solid"/>
          </a:ln>
        </p:spPr>
      </p:sp>
      <p:sp>
        <p:nvSpPr>
          <p:cNvPr id="10" name="Shape 8"/>
          <p:cNvSpPr/>
          <p:nvPr/>
        </p:nvSpPr>
        <p:spPr>
          <a:xfrm>
            <a:off x="1024128" y="1828800"/>
            <a:ext cx="91440" cy="91440"/>
          </a:xfrm>
          <a:prstGeom prst="ellipse">
            <a:avLst/>
          </a:prstGeom>
          <a:solidFill>
            <a:srgbClr val="FBBF24"/>
          </a:solidFill>
          <a:ln w="12700">
            <a:solidFill>
              <a:srgbClr val="FBBF24"/>
            </a:solidFill>
            <a:prstDash val="solid"/>
          </a:ln>
        </p:spPr>
      </p:sp>
      <p:sp>
        <p:nvSpPr>
          <p:cNvPr id="11" name="Shape 9"/>
          <p:cNvSpPr/>
          <p:nvPr/>
        </p:nvSpPr>
        <p:spPr>
          <a:xfrm>
            <a:off x="1188720" y="1828800"/>
            <a:ext cx="91440" cy="91440"/>
          </a:xfrm>
          <a:prstGeom prst="ellipse">
            <a:avLst/>
          </a:prstGeom>
          <a:solidFill>
            <a:srgbClr val="22C55E"/>
          </a:solidFill>
          <a:ln w="12700">
            <a:solidFill>
              <a:srgbClr val="22C55E"/>
            </a:solidFill>
            <a:prstDash val="solid"/>
          </a:ln>
        </p:spPr>
      </p:sp>
      <p:sp>
        <p:nvSpPr>
          <p:cNvPr id="12" name="Text 10"/>
          <p:cNvSpPr txBox="1"/>
          <p:nvPr/>
        </p:nvSpPr>
        <p:spPr>
          <a:xfrm>
            <a:off x="1572768" y="1746504"/>
            <a:ext cx="4663440" cy="219456"/>
          </a:xfrm>
          <a:prstGeom prst="rect">
            <a:avLst/>
          </a:prstGeom>
          <a:noFill/>
          <a:ln/>
        </p:spPr>
        <p:txBody>
          <a:bodyPr wrap="square" lIns="0" tIns="0" rIns="0" bIns="0" rtlCol="0" anchor="ctr">
            <a:normAutofit/>
          </a:bodyPr>
          <a:lstStyle/>
          <a:p>
            <a:pPr marL="0" indent="0" algn="l">
              <a:buNone/>
            </a:pPr>
            <a:r>
              <a:rPr lang="en-US" sz="1050" b="1" dirty="0">
                <a:solidFill>
                  <a:srgbClr val="FFFFFF"/>
                </a:solidFill>
                <a:latin typeface="Arial" pitchFamily="34" charset="0"/>
                <a:ea typeface="Arial" pitchFamily="34" charset="-122"/>
                <a:cs typeface="Arial" pitchFamily="34" charset="-120"/>
              </a:rPr>
              <a:t>Vietnamese Speech Emotion Recognition</a:t>
            </a:r>
            <a:endParaRPr lang="en-US" sz="1050" dirty="0"/>
          </a:p>
        </p:txBody>
      </p:sp>
      <p:sp>
        <p:nvSpPr>
          <p:cNvPr id="13" name="Text 11"/>
          <p:cNvSpPr txBox="1"/>
          <p:nvPr/>
        </p:nvSpPr>
        <p:spPr>
          <a:xfrm>
            <a:off x="932688" y="2377440"/>
            <a:ext cx="914400" cy="256032"/>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INPUT</a:t>
            </a:r>
            <a:endParaRPr lang="en-US" sz="1050" dirty="0"/>
          </a:p>
        </p:txBody>
      </p:sp>
      <p:sp>
        <p:nvSpPr>
          <p:cNvPr id="14" name="Shape 12"/>
          <p:cNvSpPr/>
          <p:nvPr/>
        </p:nvSpPr>
        <p:spPr>
          <a:xfrm>
            <a:off x="932688" y="2724912"/>
            <a:ext cx="1097280" cy="402336"/>
          </a:xfrm>
          <a:prstGeom prst="roundRect">
            <a:avLst>
              <a:gd name="adj" fmla="val 6818"/>
            </a:avLst>
          </a:prstGeom>
          <a:solidFill>
            <a:srgbClr val="1D4ED8"/>
          </a:solidFill>
          <a:ln w="12700">
            <a:solidFill>
              <a:srgbClr val="1D4ED8"/>
            </a:solidFill>
            <a:prstDash val="solid"/>
          </a:ln>
        </p:spPr>
      </p:sp>
      <p:pic>
        <p:nvPicPr>
          <p:cNvPr id="1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2416" y="2825496"/>
            <a:ext cx="182880" cy="182880"/>
          </a:xfrm>
          <a:prstGeom prst="rect">
            <a:avLst/>
          </a:prstGeom>
        </p:spPr>
      </p:pic>
      <p:sp>
        <p:nvSpPr>
          <p:cNvPr id="16" name="Text 13"/>
          <p:cNvSpPr txBox="1"/>
          <p:nvPr/>
        </p:nvSpPr>
        <p:spPr>
          <a:xfrm>
            <a:off x="1280160" y="2724912"/>
            <a:ext cx="640080" cy="402336"/>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Arial" pitchFamily="34" charset="0"/>
                <a:ea typeface="Arial" pitchFamily="34" charset="-122"/>
                <a:cs typeface="Arial" pitchFamily="34" charset="-120"/>
              </a:rPr>
              <a:t>Upload</a:t>
            </a:r>
            <a:endParaRPr lang="en-US" sz="920" dirty="0"/>
          </a:p>
        </p:txBody>
      </p:sp>
      <p:sp>
        <p:nvSpPr>
          <p:cNvPr id="17" name="Shape 14"/>
          <p:cNvSpPr/>
          <p:nvPr/>
        </p:nvSpPr>
        <p:spPr>
          <a:xfrm>
            <a:off x="2176272" y="2724912"/>
            <a:ext cx="1097280" cy="402336"/>
          </a:xfrm>
          <a:prstGeom prst="roundRect">
            <a:avLst>
              <a:gd name="adj" fmla="val 6818"/>
            </a:avLst>
          </a:prstGeom>
          <a:solidFill>
            <a:srgbClr val="F1F5F9"/>
          </a:solidFill>
          <a:ln w="12700">
            <a:solidFill>
              <a:srgbClr val="E2E8F0"/>
            </a:solidFill>
            <a:prstDash val="solid"/>
          </a:ln>
        </p:spPr>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000" y="2825496"/>
            <a:ext cx="182880" cy="182880"/>
          </a:xfrm>
          <a:prstGeom prst="rect">
            <a:avLst/>
          </a:prstGeom>
        </p:spPr>
      </p:pic>
      <p:sp>
        <p:nvSpPr>
          <p:cNvPr id="19" name="Text 15"/>
          <p:cNvSpPr txBox="1"/>
          <p:nvPr/>
        </p:nvSpPr>
        <p:spPr>
          <a:xfrm>
            <a:off x="2523744" y="2724912"/>
            <a:ext cx="640080" cy="402336"/>
          </a:xfrm>
          <a:prstGeom prst="rect">
            <a:avLst/>
          </a:prstGeom>
          <a:noFill/>
          <a:ln/>
        </p:spPr>
        <p:txBody>
          <a:bodyPr wrap="square" lIns="0" tIns="0" rIns="0" bIns="0" rtlCol="0" anchor="ctr">
            <a:normAutofit/>
          </a:bodyPr>
          <a:lstStyle/>
          <a:p>
            <a:pPr marL="0" indent="0" algn="ctr">
              <a:buNone/>
            </a:pPr>
            <a:r>
              <a:rPr lang="en-US" sz="920" b="1" dirty="0">
                <a:solidFill>
                  <a:srgbClr val="334155"/>
                </a:solidFill>
                <a:latin typeface="Arial" pitchFamily="34" charset="0"/>
                <a:ea typeface="Arial" pitchFamily="34" charset="-122"/>
                <a:cs typeface="Arial" pitchFamily="34" charset="-120"/>
              </a:rPr>
              <a:t>Microphone</a:t>
            </a:r>
            <a:endParaRPr lang="en-US" sz="920" dirty="0"/>
          </a:p>
        </p:txBody>
      </p:sp>
      <p:sp>
        <p:nvSpPr>
          <p:cNvPr id="20" name="Shape 16"/>
          <p:cNvSpPr/>
          <p:nvPr/>
        </p:nvSpPr>
        <p:spPr>
          <a:xfrm>
            <a:off x="3419856" y="2724912"/>
            <a:ext cx="1097280" cy="402336"/>
          </a:xfrm>
          <a:prstGeom prst="roundRect">
            <a:avLst>
              <a:gd name="adj" fmla="val 6818"/>
            </a:avLst>
          </a:prstGeom>
          <a:solidFill>
            <a:srgbClr val="F1F5F9"/>
          </a:solidFill>
          <a:ln w="12700">
            <a:solidFill>
              <a:srgbClr val="E2E8F0"/>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29584" y="2825496"/>
            <a:ext cx="182880" cy="182880"/>
          </a:xfrm>
          <a:prstGeom prst="rect">
            <a:avLst/>
          </a:prstGeom>
        </p:spPr>
      </p:pic>
      <p:sp>
        <p:nvSpPr>
          <p:cNvPr id="22" name="Text 17"/>
          <p:cNvSpPr txBox="1"/>
          <p:nvPr/>
        </p:nvSpPr>
        <p:spPr>
          <a:xfrm>
            <a:off x="3767328" y="2724912"/>
            <a:ext cx="640080" cy="402336"/>
          </a:xfrm>
          <a:prstGeom prst="rect">
            <a:avLst/>
          </a:prstGeom>
          <a:noFill/>
          <a:ln/>
        </p:spPr>
        <p:txBody>
          <a:bodyPr wrap="square" lIns="0" tIns="0" rIns="0" bIns="0" rtlCol="0" anchor="ctr">
            <a:normAutofit/>
          </a:bodyPr>
          <a:lstStyle/>
          <a:p>
            <a:pPr marL="0" indent="0" algn="ctr">
              <a:buNone/>
            </a:pPr>
            <a:r>
              <a:rPr lang="en-US" sz="920" b="1" dirty="0">
                <a:solidFill>
                  <a:srgbClr val="334155"/>
                </a:solidFill>
                <a:latin typeface="Arial" pitchFamily="34" charset="0"/>
                <a:ea typeface="Arial" pitchFamily="34" charset="-122"/>
                <a:cs typeface="Arial" pitchFamily="34" charset="-120"/>
              </a:rPr>
              <a:t>Samples</a:t>
            </a:r>
            <a:endParaRPr lang="en-US" sz="920" dirty="0"/>
          </a:p>
        </p:txBody>
      </p:sp>
      <p:sp>
        <p:nvSpPr>
          <p:cNvPr id="23" name="Shape 18"/>
          <p:cNvSpPr/>
          <p:nvPr/>
        </p:nvSpPr>
        <p:spPr>
          <a:xfrm>
            <a:off x="932688" y="3346704"/>
            <a:ext cx="3730752" cy="1408176"/>
          </a:xfrm>
          <a:prstGeom prst="roundRect">
            <a:avLst>
              <a:gd name="adj" fmla="val 2597"/>
            </a:avLst>
          </a:prstGeom>
          <a:solidFill>
            <a:srgbClr val="F1F5F9"/>
          </a:solidFill>
          <a:ln w="12700">
            <a:solidFill>
              <a:srgbClr val="E2E8F0"/>
            </a:solidFill>
            <a:prstDash val="solid"/>
          </a:ln>
        </p:spPr>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07008" y="3730752"/>
            <a:ext cx="493776" cy="493776"/>
          </a:xfrm>
          <a:prstGeom prst="rect">
            <a:avLst/>
          </a:prstGeom>
        </p:spPr>
      </p:pic>
      <p:sp>
        <p:nvSpPr>
          <p:cNvPr id="25" name="Shape 19"/>
          <p:cNvSpPr/>
          <p:nvPr/>
        </p:nvSpPr>
        <p:spPr>
          <a:xfrm>
            <a:off x="1883664" y="3941064"/>
            <a:ext cx="41092" cy="36576"/>
          </a:xfrm>
          <a:prstGeom prst="roundRect">
            <a:avLst>
              <a:gd name="adj" fmla="val 50000"/>
            </a:avLst>
          </a:prstGeom>
          <a:solidFill>
            <a:srgbClr val="1D4ED8">
              <a:alpha val="92000"/>
            </a:srgbClr>
          </a:solidFill>
          <a:ln w="12700">
            <a:solidFill>
              <a:srgbClr val="1D4ED8">
                <a:alpha val="0"/>
              </a:srgbClr>
            </a:solidFill>
            <a:prstDash val="solid"/>
          </a:ln>
        </p:spPr>
      </p:sp>
      <p:sp>
        <p:nvSpPr>
          <p:cNvPr id="26" name="Shape 20"/>
          <p:cNvSpPr/>
          <p:nvPr/>
        </p:nvSpPr>
        <p:spPr>
          <a:xfrm>
            <a:off x="1972994" y="3878444"/>
            <a:ext cx="41092" cy="161817"/>
          </a:xfrm>
          <a:prstGeom prst="roundRect">
            <a:avLst>
              <a:gd name="adj" fmla="val 44505"/>
            </a:avLst>
          </a:prstGeom>
          <a:solidFill>
            <a:srgbClr val="1D4ED8">
              <a:alpha val="92000"/>
            </a:srgbClr>
          </a:solidFill>
          <a:ln w="12700">
            <a:solidFill>
              <a:srgbClr val="1D4ED8">
                <a:alpha val="0"/>
              </a:srgbClr>
            </a:solidFill>
            <a:prstDash val="solid"/>
          </a:ln>
        </p:spPr>
      </p:sp>
      <p:sp>
        <p:nvSpPr>
          <p:cNvPr id="27" name="Shape 21"/>
          <p:cNvSpPr/>
          <p:nvPr/>
        </p:nvSpPr>
        <p:spPr>
          <a:xfrm>
            <a:off x="2062324" y="3923333"/>
            <a:ext cx="41092" cy="72038"/>
          </a:xfrm>
          <a:prstGeom prst="roundRect">
            <a:avLst>
              <a:gd name="adj" fmla="val 44505"/>
            </a:avLst>
          </a:prstGeom>
          <a:solidFill>
            <a:srgbClr val="1D4ED8">
              <a:alpha val="92000"/>
            </a:srgbClr>
          </a:solidFill>
          <a:ln w="12700">
            <a:solidFill>
              <a:srgbClr val="1D4ED8">
                <a:alpha val="0"/>
              </a:srgbClr>
            </a:solidFill>
            <a:prstDash val="solid"/>
          </a:ln>
        </p:spPr>
      </p:sp>
      <p:sp>
        <p:nvSpPr>
          <p:cNvPr id="28" name="Shape 22"/>
          <p:cNvSpPr/>
          <p:nvPr/>
        </p:nvSpPr>
        <p:spPr>
          <a:xfrm>
            <a:off x="2151654" y="3920415"/>
            <a:ext cx="41092" cy="77875"/>
          </a:xfrm>
          <a:prstGeom prst="roundRect">
            <a:avLst>
              <a:gd name="adj" fmla="val 44505"/>
            </a:avLst>
          </a:prstGeom>
          <a:solidFill>
            <a:srgbClr val="1D4ED8">
              <a:alpha val="92000"/>
            </a:srgbClr>
          </a:solidFill>
          <a:ln w="12700">
            <a:solidFill>
              <a:srgbClr val="1D4ED8">
                <a:alpha val="0"/>
              </a:srgbClr>
            </a:solidFill>
            <a:prstDash val="solid"/>
          </a:ln>
        </p:spPr>
      </p:sp>
      <p:sp>
        <p:nvSpPr>
          <p:cNvPr id="29" name="Shape 23"/>
          <p:cNvSpPr/>
          <p:nvPr/>
        </p:nvSpPr>
        <p:spPr>
          <a:xfrm>
            <a:off x="2240983" y="3908046"/>
            <a:ext cx="41092" cy="102613"/>
          </a:xfrm>
          <a:prstGeom prst="roundRect">
            <a:avLst>
              <a:gd name="adj" fmla="val 44505"/>
            </a:avLst>
          </a:prstGeom>
          <a:solidFill>
            <a:srgbClr val="1D4ED8">
              <a:alpha val="92000"/>
            </a:srgbClr>
          </a:solidFill>
          <a:ln w="12700">
            <a:solidFill>
              <a:srgbClr val="1D4ED8">
                <a:alpha val="0"/>
              </a:srgbClr>
            </a:solidFill>
            <a:prstDash val="solid"/>
          </a:ln>
        </p:spPr>
      </p:sp>
      <p:sp>
        <p:nvSpPr>
          <p:cNvPr id="30" name="Shape 24"/>
          <p:cNvSpPr/>
          <p:nvPr/>
        </p:nvSpPr>
        <p:spPr>
          <a:xfrm>
            <a:off x="2330313" y="3850142"/>
            <a:ext cx="41092" cy="218421"/>
          </a:xfrm>
          <a:prstGeom prst="roundRect">
            <a:avLst>
              <a:gd name="adj" fmla="val 44505"/>
            </a:avLst>
          </a:prstGeom>
          <a:solidFill>
            <a:srgbClr val="1D4ED8">
              <a:alpha val="92000"/>
            </a:srgbClr>
          </a:solidFill>
          <a:ln w="12700">
            <a:solidFill>
              <a:srgbClr val="1D4ED8">
                <a:alpha val="0"/>
              </a:srgbClr>
            </a:solidFill>
            <a:prstDash val="solid"/>
          </a:ln>
        </p:spPr>
      </p:sp>
      <p:sp>
        <p:nvSpPr>
          <p:cNvPr id="31" name="Shape 25"/>
          <p:cNvSpPr/>
          <p:nvPr/>
        </p:nvSpPr>
        <p:spPr>
          <a:xfrm>
            <a:off x="2419643" y="3786584"/>
            <a:ext cx="41092" cy="345536"/>
          </a:xfrm>
          <a:prstGeom prst="roundRect">
            <a:avLst>
              <a:gd name="adj" fmla="val 44505"/>
            </a:avLst>
          </a:prstGeom>
          <a:solidFill>
            <a:srgbClr val="1D4ED8">
              <a:alpha val="92000"/>
            </a:srgbClr>
          </a:solidFill>
          <a:ln w="12700">
            <a:solidFill>
              <a:srgbClr val="1D4ED8">
                <a:alpha val="0"/>
              </a:srgbClr>
            </a:solidFill>
            <a:prstDash val="solid"/>
          </a:ln>
        </p:spPr>
      </p:sp>
      <p:sp>
        <p:nvSpPr>
          <p:cNvPr id="32" name="Shape 26"/>
          <p:cNvSpPr/>
          <p:nvPr/>
        </p:nvSpPr>
        <p:spPr>
          <a:xfrm>
            <a:off x="2508973" y="3838226"/>
            <a:ext cx="41092" cy="242252"/>
          </a:xfrm>
          <a:prstGeom prst="roundRect">
            <a:avLst>
              <a:gd name="adj" fmla="val 44505"/>
            </a:avLst>
          </a:prstGeom>
          <a:solidFill>
            <a:srgbClr val="1D4ED8">
              <a:alpha val="92000"/>
            </a:srgbClr>
          </a:solidFill>
          <a:ln w="12700">
            <a:solidFill>
              <a:srgbClr val="1D4ED8">
                <a:alpha val="0"/>
              </a:srgbClr>
            </a:solidFill>
            <a:prstDash val="solid"/>
          </a:ln>
        </p:spPr>
      </p:sp>
      <p:sp>
        <p:nvSpPr>
          <p:cNvPr id="33" name="Shape 27"/>
          <p:cNvSpPr/>
          <p:nvPr/>
        </p:nvSpPr>
        <p:spPr>
          <a:xfrm>
            <a:off x="2598303" y="3757071"/>
            <a:ext cx="41092" cy="404561"/>
          </a:xfrm>
          <a:prstGeom prst="roundRect">
            <a:avLst>
              <a:gd name="adj" fmla="val 44505"/>
            </a:avLst>
          </a:prstGeom>
          <a:solidFill>
            <a:srgbClr val="1D4ED8">
              <a:alpha val="92000"/>
            </a:srgbClr>
          </a:solidFill>
          <a:ln w="12700">
            <a:solidFill>
              <a:srgbClr val="1D4ED8">
                <a:alpha val="0"/>
              </a:srgbClr>
            </a:solidFill>
            <a:prstDash val="solid"/>
          </a:ln>
        </p:spPr>
      </p:sp>
      <p:sp>
        <p:nvSpPr>
          <p:cNvPr id="34" name="Shape 28"/>
          <p:cNvSpPr/>
          <p:nvPr/>
        </p:nvSpPr>
        <p:spPr>
          <a:xfrm>
            <a:off x="2687633" y="3905758"/>
            <a:ext cx="41092" cy="107188"/>
          </a:xfrm>
          <a:prstGeom prst="roundRect">
            <a:avLst>
              <a:gd name="adj" fmla="val 44505"/>
            </a:avLst>
          </a:prstGeom>
          <a:solidFill>
            <a:srgbClr val="1D4ED8">
              <a:alpha val="92000"/>
            </a:srgbClr>
          </a:solidFill>
          <a:ln w="12700">
            <a:solidFill>
              <a:srgbClr val="1D4ED8">
                <a:alpha val="0"/>
              </a:srgbClr>
            </a:solidFill>
            <a:prstDash val="solid"/>
          </a:ln>
        </p:spPr>
      </p:sp>
      <p:sp>
        <p:nvSpPr>
          <p:cNvPr id="35" name="Shape 29"/>
          <p:cNvSpPr/>
          <p:nvPr/>
        </p:nvSpPr>
        <p:spPr>
          <a:xfrm>
            <a:off x="2776962" y="3915585"/>
            <a:ext cx="41092" cy="87534"/>
          </a:xfrm>
          <a:prstGeom prst="roundRect">
            <a:avLst>
              <a:gd name="adj" fmla="val 44505"/>
            </a:avLst>
          </a:prstGeom>
          <a:solidFill>
            <a:srgbClr val="1D4ED8">
              <a:alpha val="92000"/>
            </a:srgbClr>
          </a:solidFill>
          <a:ln w="12700">
            <a:solidFill>
              <a:srgbClr val="1D4ED8">
                <a:alpha val="0"/>
              </a:srgbClr>
            </a:solidFill>
            <a:prstDash val="solid"/>
          </a:ln>
        </p:spPr>
      </p:sp>
      <p:sp>
        <p:nvSpPr>
          <p:cNvPr id="36" name="Shape 30"/>
          <p:cNvSpPr/>
          <p:nvPr/>
        </p:nvSpPr>
        <p:spPr>
          <a:xfrm>
            <a:off x="2866292" y="3898579"/>
            <a:ext cx="41092" cy="121545"/>
          </a:xfrm>
          <a:prstGeom prst="roundRect">
            <a:avLst>
              <a:gd name="adj" fmla="val 44505"/>
            </a:avLst>
          </a:prstGeom>
          <a:solidFill>
            <a:srgbClr val="1D4ED8">
              <a:alpha val="92000"/>
            </a:srgbClr>
          </a:solidFill>
          <a:ln w="12700">
            <a:solidFill>
              <a:srgbClr val="1D4ED8">
                <a:alpha val="0"/>
              </a:srgbClr>
            </a:solidFill>
            <a:prstDash val="solid"/>
          </a:ln>
        </p:spPr>
      </p:sp>
      <p:sp>
        <p:nvSpPr>
          <p:cNvPr id="37" name="Shape 31"/>
          <p:cNvSpPr/>
          <p:nvPr/>
        </p:nvSpPr>
        <p:spPr>
          <a:xfrm>
            <a:off x="2955622" y="3735391"/>
            <a:ext cx="41092" cy="447922"/>
          </a:xfrm>
          <a:prstGeom prst="roundRect">
            <a:avLst>
              <a:gd name="adj" fmla="val 44505"/>
            </a:avLst>
          </a:prstGeom>
          <a:solidFill>
            <a:srgbClr val="1D4ED8">
              <a:alpha val="92000"/>
            </a:srgbClr>
          </a:solidFill>
          <a:ln w="12700">
            <a:solidFill>
              <a:srgbClr val="1D4ED8">
                <a:alpha val="0"/>
              </a:srgbClr>
            </a:solidFill>
            <a:prstDash val="solid"/>
          </a:ln>
        </p:spPr>
      </p:sp>
      <p:sp>
        <p:nvSpPr>
          <p:cNvPr id="38" name="Shape 32"/>
          <p:cNvSpPr/>
          <p:nvPr/>
        </p:nvSpPr>
        <p:spPr>
          <a:xfrm>
            <a:off x="3044952" y="3803525"/>
            <a:ext cx="41092" cy="311654"/>
          </a:xfrm>
          <a:prstGeom prst="roundRect">
            <a:avLst>
              <a:gd name="adj" fmla="val 44505"/>
            </a:avLst>
          </a:prstGeom>
          <a:solidFill>
            <a:srgbClr val="1D4ED8">
              <a:alpha val="92000"/>
            </a:srgbClr>
          </a:solidFill>
          <a:ln w="12700">
            <a:solidFill>
              <a:srgbClr val="1D4ED8">
                <a:alpha val="0"/>
              </a:srgbClr>
            </a:solidFill>
            <a:prstDash val="solid"/>
          </a:ln>
        </p:spPr>
      </p:sp>
      <p:sp>
        <p:nvSpPr>
          <p:cNvPr id="39" name="Shape 33"/>
          <p:cNvSpPr/>
          <p:nvPr/>
        </p:nvSpPr>
        <p:spPr>
          <a:xfrm>
            <a:off x="3134282" y="3737643"/>
            <a:ext cx="41092" cy="443418"/>
          </a:xfrm>
          <a:prstGeom prst="roundRect">
            <a:avLst>
              <a:gd name="adj" fmla="val 44505"/>
            </a:avLst>
          </a:prstGeom>
          <a:solidFill>
            <a:srgbClr val="1D4ED8">
              <a:alpha val="92000"/>
            </a:srgbClr>
          </a:solidFill>
          <a:ln w="12700">
            <a:solidFill>
              <a:srgbClr val="1D4ED8">
                <a:alpha val="0"/>
              </a:srgbClr>
            </a:solidFill>
            <a:prstDash val="solid"/>
          </a:ln>
        </p:spPr>
      </p:sp>
      <p:sp>
        <p:nvSpPr>
          <p:cNvPr id="40" name="Shape 34"/>
          <p:cNvSpPr/>
          <p:nvPr/>
        </p:nvSpPr>
        <p:spPr>
          <a:xfrm>
            <a:off x="3223612" y="3796750"/>
            <a:ext cx="41092" cy="325204"/>
          </a:xfrm>
          <a:prstGeom prst="roundRect">
            <a:avLst>
              <a:gd name="adj" fmla="val 44505"/>
            </a:avLst>
          </a:prstGeom>
          <a:solidFill>
            <a:srgbClr val="1D4ED8">
              <a:alpha val="92000"/>
            </a:srgbClr>
          </a:solidFill>
          <a:ln w="12700">
            <a:solidFill>
              <a:srgbClr val="1D4ED8">
                <a:alpha val="0"/>
              </a:srgbClr>
            </a:solidFill>
            <a:prstDash val="solid"/>
          </a:ln>
        </p:spPr>
      </p:sp>
      <p:sp>
        <p:nvSpPr>
          <p:cNvPr id="41" name="Shape 35"/>
          <p:cNvSpPr/>
          <p:nvPr/>
        </p:nvSpPr>
        <p:spPr>
          <a:xfrm>
            <a:off x="3312942" y="3879045"/>
            <a:ext cx="41092" cy="160614"/>
          </a:xfrm>
          <a:prstGeom prst="roundRect">
            <a:avLst>
              <a:gd name="adj" fmla="val 44505"/>
            </a:avLst>
          </a:prstGeom>
          <a:solidFill>
            <a:srgbClr val="1D4ED8">
              <a:alpha val="92000"/>
            </a:srgbClr>
          </a:solidFill>
          <a:ln w="12700">
            <a:solidFill>
              <a:srgbClr val="1D4ED8">
                <a:alpha val="0"/>
              </a:srgbClr>
            </a:solidFill>
            <a:prstDash val="solid"/>
          </a:ln>
        </p:spPr>
      </p:sp>
      <p:sp>
        <p:nvSpPr>
          <p:cNvPr id="42" name="Shape 36"/>
          <p:cNvSpPr/>
          <p:nvPr/>
        </p:nvSpPr>
        <p:spPr>
          <a:xfrm>
            <a:off x="3402271" y="3895965"/>
            <a:ext cx="41092" cy="126773"/>
          </a:xfrm>
          <a:prstGeom prst="roundRect">
            <a:avLst>
              <a:gd name="adj" fmla="val 44505"/>
            </a:avLst>
          </a:prstGeom>
          <a:solidFill>
            <a:srgbClr val="1D4ED8">
              <a:alpha val="92000"/>
            </a:srgbClr>
          </a:solidFill>
          <a:ln w="12700">
            <a:solidFill>
              <a:srgbClr val="1D4ED8">
                <a:alpha val="0"/>
              </a:srgbClr>
            </a:solidFill>
            <a:prstDash val="solid"/>
          </a:ln>
        </p:spPr>
      </p:sp>
      <p:sp>
        <p:nvSpPr>
          <p:cNvPr id="43" name="Shape 37"/>
          <p:cNvSpPr/>
          <p:nvPr/>
        </p:nvSpPr>
        <p:spPr>
          <a:xfrm>
            <a:off x="3491601" y="3893746"/>
            <a:ext cx="41092" cy="131212"/>
          </a:xfrm>
          <a:prstGeom prst="roundRect">
            <a:avLst>
              <a:gd name="adj" fmla="val 44505"/>
            </a:avLst>
          </a:prstGeom>
          <a:solidFill>
            <a:srgbClr val="1D4ED8">
              <a:alpha val="92000"/>
            </a:srgbClr>
          </a:solidFill>
          <a:ln w="12700">
            <a:solidFill>
              <a:srgbClr val="1D4ED8">
                <a:alpha val="0"/>
              </a:srgbClr>
            </a:solidFill>
            <a:prstDash val="solid"/>
          </a:ln>
        </p:spPr>
      </p:sp>
      <p:sp>
        <p:nvSpPr>
          <p:cNvPr id="44" name="Shape 38"/>
          <p:cNvSpPr/>
          <p:nvPr/>
        </p:nvSpPr>
        <p:spPr>
          <a:xfrm>
            <a:off x="3580931" y="3768509"/>
            <a:ext cx="41092" cy="381687"/>
          </a:xfrm>
          <a:prstGeom prst="roundRect">
            <a:avLst>
              <a:gd name="adj" fmla="val 44505"/>
            </a:avLst>
          </a:prstGeom>
          <a:solidFill>
            <a:srgbClr val="1D4ED8">
              <a:alpha val="92000"/>
            </a:srgbClr>
          </a:solidFill>
          <a:ln w="12700">
            <a:solidFill>
              <a:srgbClr val="1D4ED8">
                <a:alpha val="0"/>
              </a:srgbClr>
            </a:solidFill>
            <a:prstDash val="solid"/>
          </a:ln>
        </p:spPr>
      </p:sp>
      <p:sp>
        <p:nvSpPr>
          <p:cNvPr id="45" name="Shape 39"/>
          <p:cNvSpPr/>
          <p:nvPr/>
        </p:nvSpPr>
        <p:spPr>
          <a:xfrm>
            <a:off x="3670261" y="3923563"/>
            <a:ext cx="41092" cy="71577"/>
          </a:xfrm>
          <a:prstGeom prst="roundRect">
            <a:avLst>
              <a:gd name="adj" fmla="val 44505"/>
            </a:avLst>
          </a:prstGeom>
          <a:solidFill>
            <a:srgbClr val="1D4ED8">
              <a:alpha val="92000"/>
            </a:srgbClr>
          </a:solidFill>
          <a:ln w="12700">
            <a:solidFill>
              <a:srgbClr val="1D4ED8">
                <a:alpha val="0"/>
              </a:srgbClr>
            </a:solidFill>
            <a:prstDash val="solid"/>
          </a:ln>
        </p:spPr>
      </p:sp>
      <p:sp>
        <p:nvSpPr>
          <p:cNvPr id="46" name="Shape 40"/>
          <p:cNvSpPr/>
          <p:nvPr/>
        </p:nvSpPr>
        <p:spPr>
          <a:xfrm>
            <a:off x="3759591" y="3807093"/>
            <a:ext cx="41092" cy="304518"/>
          </a:xfrm>
          <a:prstGeom prst="roundRect">
            <a:avLst>
              <a:gd name="adj" fmla="val 44505"/>
            </a:avLst>
          </a:prstGeom>
          <a:solidFill>
            <a:srgbClr val="1D4ED8">
              <a:alpha val="92000"/>
            </a:srgbClr>
          </a:solidFill>
          <a:ln w="12700">
            <a:solidFill>
              <a:srgbClr val="1D4ED8">
                <a:alpha val="0"/>
              </a:srgbClr>
            </a:solidFill>
            <a:prstDash val="solid"/>
          </a:ln>
        </p:spPr>
      </p:sp>
      <p:sp>
        <p:nvSpPr>
          <p:cNvPr id="47" name="Shape 41"/>
          <p:cNvSpPr/>
          <p:nvPr/>
        </p:nvSpPr>
        <p:spPr>
          <a:xfrm>
            <a:off x="3848921" y="3911486"/>
            <a:ext cx="41092" cy="95732"/>
          </a:xfrm>
          <a:prstGeom prst="roundRect">
            <a:avLst>
              <a:gd name="adj" fmla="val 44505"/>
            </a:avLst>
          </a:prstGeom>
          <a:solidFill>
            <a:srgbClr val="1D4ED8">
              <a:alpha val="92000"/>
            </a:srgbClr>
          </a:solidFill>
          <a:ln w="12700">
            <a:solidFill>
              <a:srgbClr val="1D4ED8">
                <a:alpha val="0"/>
              </a:srgbClr>
            </a:solidFill>
            <a:prstDash val="solid"/>
          </a:ln>
        </p:spPr>
      </p:sp>
      <p:sp>
        <p:nvSpPr>
          <p:cNvPr id="48" name="Shape 42"/>
          <p:cNvSpPr/>
          <p:nvPr/>
        </p:nvSpPr>
        <p:spPr>
          <a:xfrm>
            <a:off x="3938250" y="3925779"/>
            <a:ext cx="41092" cy="67146"/>
          </a:xfrm>
          <a:prstGeom prst="roundRect">
            <a:avLst>
              <a:gd name="adj" fmla="val 44505"/>
            </a:avLst>
          </a:prstGeom>
          <a:solidFill>
            <a:srgbClr val="1D4ED8">
              <a:alpha val="92000"/>
            </a:srgbClr>
          </a:solidFill>
          <a:ln w="12700">
            <a:solidFill>
              <a:srgbClr val="1D4ED8">
                <a:alpha val="0"/>
              </a:srgbClr>
            </a:solidFill>
            <a:prstDash val="solid"/>
          </a:ln>
        </p:spPr>
      </p:sp>
      <p:sp>
        <p:nvSpPr>
          <p:cNvPr id="49" name="Shape 43"/>
          <p:cNvSpPr/>
          <p:nvPr/>
        </p:nvSpPr>
        <p:spPr>
          <a:xfrm>
            <a:off x="4027580" y="3932344"/>
            <a:ext cx="41092" cy="54016"/>
          </a:xfrm>
          <a:prstGeom prst="roundRect">
            <a:avLst>
              <a:gd name="adj" fmla="val 44505"/>
            </a:avLst>
          </a:prstGeom>
          <a:solidFill>
            <a:srgbClr val="1D4ED8">
              <a:alpha val="92000"/>
            </a:srgbClr>
          </a:solidFill>
          <a:ln w="12700">
            <a:solidFill>
              <a:srgbClr val="1D4ED8">
                <a:alpha val="0"/>
              </a:srgbClr>
            </a:solidFill>
            <a:prstDash val="solid"/>
          </a:ln>
        </p:spPr>
      </p:sp>
      <p:sp>
        <p:nvSpPr>
          <p:cNvPr id="50" name="Shape 44"/>
          <p:cNvSpPr/>
          <p:nvPr/>
        </p:nvSpPr>
        <p:spPr>
          <a:xfrm>
            <a:off x="4116910" y="3925726"/>
            <a:ext cx="41092" cy="67252"/>
          </a:xfrm>
          <a:prstGeom prst="roundRect">
            <a:avLst>
              <a:gd name="adj" fmla="val 44505"/>
            </a:avLst>
          </a:prstGeom>
          <a:solidFill>
            <a:srgbClr val="1D4ED8">
              <a:alpha val="92000"/>
            </a:srgbClr>
          </a:solidFill>
          <a:ln w="12700">
            <a:solidFill>
              <a:srgbClr val="1D4ED8">
                <a:alpha val="0"/>
              </a:srgbClr>
            </a:solidFill>
            <a:prstDash val="solid"/>
          </a:ln>
        </p:spPr>
      </p:sp>
      <p:sp>
        <p:nvSpPr>
          <p:cNvPr id="51" name="Text 45"/>
          <p:cNvSpPr txBox="1"/>
          <p:nvPr/>
        </p:nvSpPr>
        <p:spPr>
          <a:xfrm>
            <a:off x="1207008" y="4352544"/>
            <a:ext cx="3182112" cy="228600"/>
          </a:xfrm>
          <a:prstGeom prst="rect">
            <a:avLst/>
          </a:prstGeom>
          <a:noFill/>
          <a:ln/>
        </p:spPr>
        <p:txBody>
          <a:bodyPr wrap="square" lIns="0" tIns="0" rIns="0" bIns="0" rtlCol="0" anchor="ctr">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Audio được resample về 16 kHz mono</a:t>
            </a:r>
            <a:endParaRPr lang="en-US" sz="950" dirty="0"/>
          </a:p>
        </p:txBody>
      </p:sp>
      <p:sp>
        <p:nvSpPr>
          <p:cNvPr id="52" name="Shape 46"/>
          <p:cNvSpPr/>
          <p:nvPr/>
        </p:nvSpPr>
        <p:spPr>
          <a:xfrm>
            <a:off x="932688" y="4992624"/>
            <a:ext cx="3730752" cy="475488"/>
          </a:xfrm>
          <a:prstGeom prst="roundRect">
            <a:avLst>
              <a:gd name="adj" fmla="val 5769"/>
            </a:avLst>
          </a:prstGeom>
          <a:solidFill>
            <a:srgbClr val="1D4ED8"/>
          </a:solidFill>
          <a:ln w="12700">
            <a:solidFill>
              <a:srgbClr val="1D4ED8"/>
            </a:solidFill>
            <a:prstDash val="solid"/>
          </a:ln>
        </p:spPr>
      </p:sp>
      <p:pic>
        <p:nvPicPr>
          <p:cNvPr id="5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28800" y="5120640"/>
            <a:ext cx="201168" cy="201168"/>
          </a:xfrm>
          <a:prstGeom prst="rect">
            <a:avLst/>
          </a:prstGeom>
        </p:spPr>
      </p:pic>
      <p:sp>
        <p:nvSpPr>
          <p:cNvPr id="54" name="Text 47"/>
          <p:cNvSpPr txBox="1"/>
          <p:nvPr/>
        </p:nvSpPr>
        <p:spPr>
          <a:xfrm>
            <a:off x="2103120" y="4992624"/>
            <a:ext cx="1353312" cy="47548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ANALYZE</a:t>
            </a:r>
            <a:endParaRPr lang="en-US" sz="1100" dirty="0"/>
          </a:p>
        </p:txBody>
      </p:sp>
      <p:sp>
        <p:nvSpPr>
          <p:cNvPr id="55" name="Shape 48"/>
          <p:cNvSpPr/>
          <p:nvPr/>
        </p:nvSpPr>
        <p:spPr>
          <a:xfrm>
            <a:off x="5010912" y="2414016"/>
            <a:ext cx="0" cy="3364992"/>
          </a:xfrm>
          <a:prstGeom prst="line">
            <a:avLst/>
          </a:prstGeom>
          <a:noFill/>
          <a:ln w="12700">
            <a:solidFill>
              <a:srgbClr val="E2E8F0"/>
            </a:solidFill>
            <a:prstDash val="solid"/>
          </a:ln>
        </p:spPr>
      </p:sp>
      <p:sp>
        <p:nvSpPr>
          <p:cNvPr id="56" name="Text 49"/>
          <p:cNvSpPr txBox="1"/>
          <p:nvPr/>
        </p:nvSpPr>
        <p:spPr>
          <a:xfrm>
            <a:off x="5340096" y="2377440"/>
            <a:ext cx="914400" cy="256032"/>
          </a:xfrm>
          <a:prstGeom prst="rect">
            <a:avLst/>
          </a:prstGeom>
          <a:noFill/>
          <a:ln/>
        </p:spPr>
        <p:txBody>
          <a:bodyPr wrap="square" lIns="0" tIns="0" rIns="0" bIns="0" rtlCol="0" anchor="ctr">
            <a:normAutofit/>
          </a:bodyPr>
          <a:lstStyle/>
          <a:p>
            <a:pPr marL="0" indent="0" algn="l">
              <a:buNone/>
            </a:pPr>
            <a:r>
              <a:rPr lang="en-US" sz="1050" b="1" dirty="0">
                <a:solidFill>
                  <a:srgbClr val="15803D"/>
                </a:solidFill>
                <a:latin typeface="Arial" pitchFamily="34" charset="0"/>
                <a:ea typeface="Arial" pitchFamily="34" charset="-122"/>
                <a:cs typeface="Arial" pitchFamily="34" charset="-120"/>
              </a:rPr>
              <a:t>OUTPUT</a:t>
            </a:r>
            <a:endParaRPr lang="en-US" sz="1050" dirty="0"/>
          </a:p>
        </p:txBody>
      </p:sp>
      <p:sp>
        <p:nvSpPr>
          <p:cNvPr id="57" name="Shape 50"/>
          <p:cNvSpPr/>
          <p:nvPr/>
        </p:nvSpPr>
        <p:spPr>
          <a:xfrm>
            <a:off x="5340096" y="2724912"/>
            <a:ext cx="2267712" cy="1463040"/>
          </a:xfrm>
          <a:prstGeom prst="roundRect">
            <a:avLst>
              <a:gd name="adj" fmla="val 2500"/>
            </a:avLst>
          </a:prstGeom>
          <a:solidFill>
            <a:srgbClr val="DCFCE7"/>
          </a:solidFill>
          <a:ln w="12700">
            <a:solidFill>
              <a:srgbClr val="DCFCE7"/>
            </a:solidFill>
            <a:prstDash val="solid"/>
          </a:ln>
        </p:spPr>
      </p:sp>
      <p:sp>
        <p:nvSpPr>
          <p:cNvPr id="58" name="Text 51"/>
          <p:cNvSpPr txBox="1"/>
          <p:nvPr/>
        </p:nvSpPr>
        <p:spPr>
          <a:xfrm>
            <a:off x="5559552" y="2907792"/>
            <a:ext cx="1828800" cy="237744"/>
          </a:xfrm>
          <a:prstGeom prst="rect">
            <a:avLst/>
          </a:prstGeom>
          <a:noFill/>
          <a:ln/>
        </p:spPr>
        <p:txBody>
          <a:bodyPr wrap="square" lIns="0" tIns="0" rIns="0" bIns="0" rtlCol="0" anchor="ctr">
            <a:normAutofit/>
          </a:bodyPr>
          <a:lstStyle/>
          <a:p>
            <a:pPr marL="0" indent="0" algn="ctr">
              <a:buNone/>
            </a:pPr>
            <a:r>
              <a:rPr lang="en-US" sz="950" b="1" dirty="0">
                <a:solidFill>
                  <a:srgbClr val="15803D"/>
                </a:solidFill>
                <a:latin typeface="Arial" pitchFamily="34" charset="0"/>
                <a:ea typeface="Arial" pitchFamily="34" charset="-122"/>
                <a:cs typeface="Arial" pitchFamily="34" charset="-120"/>
              </a:rPr>
              <a:t>EMOTION LABEL</a:t>
            </a:r>
            <a:endParaRPr lang="en-US" sz="950" dirty="0"/>
          </a:p>
        </p:txBody>
      </p:sp>
      <p:sp>
        <p:nvSpPr>
          <p:cNvPr id="59" name="Text 52"/>
          <p:cNvSpPr txBox="1"/>
          <p:nvPr/>
        </p:nvSpPr>
        <p:spPr>
          <a:xfrm>
            <a:off x="5559552" y="3310128"/>
            <a:ext cx="1828800" cy="347472"/>
          </a:xfrm>
          <a:prstGeom prst="rect">
            <a:avLst/>
          </a:prstGeom>
          <a:noFill/>
          <a:ln/>
        </p:spPr>
        <p:txBody>
          <a:bodyPr wrap="square" lIns="0" tIns="0" rIns="0" bIns="0" rtlCol="0" anchor="ctr">
            <a:normAutofit/>
          </a:bodyPr>
          <a:lstStyle/>
          <a:p>
            <a:pPr marL="0" indent="0" algn="ctr">
              <a:buNone/>
            </a:pPr>
            <a:r>
              <a:rPr lang="en-US" sz="1700" b="1" dirty="0">
                <a:solidFill>
                  <a:srgbClr val="0F172A"/>
                </a:solidFill>
                <a:latin typeface="Arial" pitchFamily="34" charset="0"/>
                <a:ea typeface="Arial" pitchFamily="34" charset="-122"/>
                <a:cs typeface="Arial" pitchFamily="34" charset="-120"/>
              </a:rPr>
              <a:t>Top-1 raw label</a:t>
            </a:r>
            <a:endParaRPr lang="en-US" sz="1700" dirty="0"/>
          </a:p>
        </p:txBody>
      </p:sp>
      <p:sp>
        <p:nvSpPr>
          <p:cNvPr id="60" name="Text 53"/>
          <p:cNvSpPr txBox="1"/>
          <p:nvPr/>
        </p:nvSpPr>
        <p:spPr>
          <a:xfrm>
            <a:off x="5522976" y="3803904"/>
            <a:ext cx="1901952" cy="219456"/>
          </a:xfrm>
          <a:prstGeom prst="rect">
            <a:avLst/>
          </a:prstGeom>
          <a:noFill/>
          <a:ln/>
        </p:spPr>
        <p:txBody>
          <a:bodyPr wrap="square" lIns="0" tIns="0" rIns="0" bIns="0" rtlCol="0" anchor="ctr">
            <a:normAutofit/>
          </a:bodyPr>
          <a:lstStyle/>
          <a:p>
            <a:pPr marL="0" indent="0" algn="ctr">
              <a:buNone/>
            </a:pPr>
            <a:r>
              <a:rPr lang="en-US" sz="850" dirty="0">
                <a:solidFill>
                  <a:srgbClr val="64748B"/>
                </a:solidFill>
                <a:latin typeface="Arial" pitchFamily="34" charset="0"/>
                <a:ea typeface="Arial" pitchFamily="34" charset="-122"/>
                <a:cs typeface="Arial" pitchFamily="34" charset="-120"/>
              </a:rPr>
              <a:t>confidence • latency • device</a:t>
            </a:r>
            <a:endParaRPr lang="en-US" sz="850" dirty="0"/>
          </a:p>
        </p:txBody>
      </p:sp>
      <p:sp>
        <p:nvSpPr>
          <p:cNvPr id="61" name="Shape 54"/>
          <p:cNvSpPr/>
          <p:nvPr/>
        </p:nvSpPr>
        <p:spPr>
          <a:xfrm>
            <a:off x="7882128" y="2724912"/>
            <a:ext cx="3182112" cy="2724912"/>
          </a:xfrm>
          <a:prstGeom prst="roundRect">
            <a:avLst>
              <a:gd name="adj" fmla="val 1342"/>
            </a:avLst>
          </a:prstGeom>
          <a:solidFill>
            <a:srgbClr val="FFFFFF"/>
          </a:solidFill>
          <a:ln w="12700">
            <a:solidFill>
              <a:srgbClr val="E2E8F0"/>
            </a:solidFill>
            <a:prstDash val="solid"/>
          </a:ln>
        </p:spPr>
      </p:sp>
      <p:sp>
        <p:nvSpPr>
          <p:cNvPr id="62" name="Text 55"/>
          <p:cNvSpPr txBox="1"/>
          <p:nvPr/>
        </p:nvSpPr>
        <p:spPr>
          <a:xfrm>
            <a:off x="8119872" y="2907792"/>
            <a:ext cx="2706624" cy="274320"/>
          </a:xfrm>
          <a:prstGeom prst="rect">
            <a:avLst/>
          </a:prstGeom>
          <a:noFill/>
          <a:ln/>
        </p:spPr>
        <p:txBody>
          <a:bodyPr wrap="square" lIns="0" tIns="0" rIns="0" bIns="0" rtlCol="0" anchor="ctr">
            <a:normAutofit/>
          </a:bodyPr>
          <a:lstStyle/>
          <a:p>
            <a:pPr marL="0" indent="0" algn="l">
              <a:buNone/>
            </a:pPr>
            <a:r>
              <a:rPr lang="en-US" sz="1200" b="1" dirty="0">
                <a:solidFill>
                  <a:srgbClr val="0F172A"/>
                </a:solidFill>
                <a:latin typeface="Arial" pitchFamily="34" charset="0"/>
                <a:ea typeface="Arial" pitchFamily="34" charset="-122"/>
                <a:cs typeface="Arial" pitchFamily="34" charset="-120"/>
              </a:rPr>
              <a:t>7-class softmax</a:t>
            </a:r>
            <a:endParaRPr lang="en-US" sz="1200" dirty="0"/>
          </a:p>
        </p:txBody>
      </p:sp>
      <p:sp>
        <p:nvSpPr>
          <p:cNvPr id="63" name="Text 56"/>
          <p:cNvSpPr txBox="1"/>
          <p:nvPr/>
        </p:nvSpPr>
        <p:spPr>
          <a:xfrm>
            <a:off x="8119872" y="3346704"/>
            <a:ext cx="768096" cy="182880"/>
          </a:xfrm>
          <a:prstGeom prst="rect">
            <a:avLst/>
          </a:prstGeom>
          <a:noFill/>
          <a:ln/>
        </p:spPr>
        <p:txBody>
          <a:bodyPr wrap="square" lIns="0" tIns="0" rIns="0" bIns="0" rtlCol="0" anchor="ctr">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neutral</a:t>
            </a:r>
            <a:endParaRPr lang="en-US" sz="850" dirty="0"/>
          </a:p>
        </p:txBody>
      </p:sp>
      <p:sp>
        <p:nvSpPr>
          <p:cNvPr id="64" name="Shape 57"/>
          <p:cNvSpPr/>
          <p:nvPr/>
        </p:nvSpPr>
        <p:spPr>
          <a:xfrm>
            <a:off x="8979408" y="3392424"/>
            <a:ext cx="1682496" cy="73152"/>
          </a:xfrm>
          <a:prstGeom prst="roundRect">
            <a:avLst>
              <a:gd name="adj" fmla="val 25000"/>
            </a:avLst>
          </a:prstGeom>
          <a:solidFill>
            <a:srgbClr val="F1F5F9"/>
          </a:solidFill>
          <a:ln w="12700">
            <a:solidFill>
              <a:srgbClr val="F1F5F9"/>
            </a:solidFill>
            <a:prstDash val="solid"/>
          </a:ln>
        </p:spPr>
      </p:sp>
      <p:sp>
        <p:nvSpPr>
          <p:cNvPr id="65" name="Text 58"/>
          <p:cNvSpPr txBox="1"/>
          <p:nvPr/>
        </p:nvSpPr>
        <p:spPr>
          <a:xfrm>
            <a:off x="8119872" y="3611880"/>
            <a:ext cx="768096" cy="182880"/>
          </a:xfrm>
          <a:prstGeom prst="rect">
            <a:avLst/>
          </a:prstGeom>
          <a:noFill/>
          <a:ln/>
        </p:spPr>
        <p:txBody>
          <a:bodyPr wrap="square" lIns="0" tIns="0" rIns="0" bIns="0" rtlCol="0" anchor="ctr">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happy</a:t>
            </a:r>
            <a:endParaRPr lang="en-US" sz="850" dirty="0"/>
          </a:p>
        </p:txBody>
      </p:sp>
      <p:sp>
        <p:nvSpPr>
          <p:cNvPr id="66" name="Shape 59"/>
          <p:cNvSpPr/>
          <p:nvPr/>
        </p:nvSpPr>
        <p:spPr>
          <a:xfrm>
            <a:off x="8979408" y="3657600"/>
            <a:ext cx="1682496" cy="73152"/>
          </a:xfrm>
          <a:prstGeom prst="roundRect">
            <a:avLst>
              <a:gd name="adj" fmla="val 25000"/>
            </a:avLst>
          </a:prstGeom>
          <a:solidFill>
            <a:srgbClr val="F1F5F9"/>
          </a:solidFill>
          <a:ln w="12700">
            <a:solidFill>
              <a:srgbClr val="F1F5F9"/>
            </a:solidFill>
            <a:prstDash val="solid"/>
          </a:ln>
        </p:spPr>
      </p:sp>
      <p:sp>
        <p:nvSpPr>
          <p:cNvPr id="67" name="Text 60"/>
          <p:cNvSpPr txBox="1"/>
          <p:nvPr/>
        </p:nvSpPr>
        <p:spPr>
          <a:xfrm>
            <a:off x="8119872" y="3877056"/>
            <a:ext cx="768096" cy="182880"/>
          </a:xfrm>
          <a:prstGeom prst="rect">
            <a:avLst/>
          </a:prstGeom>
          <a:noFill/>
          <a:ln/>
        </p:spPr>
        <p:txBody>
          <a:bodyPr wrap="square" lIns="0" tIns="0" rIns="0" bIns="0" rtlCol="0" anchor="ctr">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sad</a:t>
            </a:r>
            <a:endParaRPr lang="en-US" sz="850" dirty="0"/>
          </a:p>
        </p:txBody>
      </p:sp>
      <p:sp>
        <p:nvSpPr>
          <p:cNvPr id="68" name="Shape 61"/>
          <p:cNvSpPr/>
          <p:nvPr/>
        </p:nvSpPr>
        <p:spPr>
          <a:xfrm>
            <a:off x="8979408" y="3922776"/>
            <a:ext cx="1682496" cy="73152"/>
          </a:xfrm>
          <a:prstGeom prst="roundRect">
            <a:avLst>
              <a:gd name="adj" fmla="val 25000"/>
            </a:avLst>
          </a:prstGeom>
          <a:solidFill>
            <a:srgbClr val="F1F5F9"/>
          </a:solidFill>
          <a:ln w="12700">
            <a:solidFill>
              <a:srgbClr val="F1F5F9"/>
            </a:solidFill>
            <a:prstDash val="solid"/>
          </a:ln>
        </p:spPr>
      </p:sp>
      <p:sp>
        <p:nvSpPr>
          <p:cNvPr id="69" name="Text 62"/>
          <p:cNvSpPr txBox="1"/>
          <p:nvPr/>
        </p:nvSpPr>
        <p:spPr>
          <a:xfrm>
            <a:off x="8119872" y="4142232"/>
            <a:ext cx="768096" cy="182880"/>
          </a:xfrm>
          <a:prstGeom prst="rect">
            <a:avLst/>
          </a:prstGeom>
          <a:noFill/>
          <a:ln/>
        </p:spPr>
        <p:txBody>
          <a:bodyPr wrap="square" lIns="0" tIns="0" rIns="0" bIns="0" rtlCol="0" anchor="ctr">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angry</a:t>
            </a:r>
            <a:endParaRPr lang="en-US" sz="850" dirty="0"/>
          </a:p>
        </p:txBody>
      </p:sp>
      <p:sp>
        <p:nvSpPr>
          <p:cNvPr id="70" name="Shape 63"/>
          <p:cNvSpPr/>
          <p:nvPr/>
        </p:nvSpPr>
        <p:spPr>
          <a:xfrm>
            <a:off x="8979408" y="4187952"/>
            <a:ext cx="1682496" cy="73152"/>
          </a:xfrm>
          <a:prstGeom prst="roundRect">
            <a:avLst>
              <a:gd name="adj" fmla="val 25000"/>
            </a:avLst>
          </a:prstGeom>
          <a:solidFill>
            <a:srgbClr val="F1F5F9"/>
          </a:solidFill>
          <a:ln w="12700">
            <a:solidFill>
              <a:srgbClr val="F1F5F9"/>
            </a:solidFill>
            <a:prstDash val="solid"/>
          </a:ln>
        </p:spPr>
      </p:sp>
      <p:sp>
        <p:nvSpPr>
          <p:cNvPr id="71" name="Text 64"/>
          <p:cNvSpPr txBox="1"/>
          <p:nvPr/>
        </p:nvSpPr>
        <p:spPr>
          <a:xfrm>
            <a:off x="8119872" y="4407408"/>
            <a:ext cx="768096" cy="182880"/>
          </a:xfrm>
          <a:prstGeom prst="rect">
            <a:avLst/>
          </a:prstGeom>
          <a:noFill/>
          <a:ln/>
        </p:spPr>
        <p:txBody>
          <a:bodyPr wrap="square" lIns="0" tIns="0" rIns="0" bIns="0" rtlCol="0" anchor="ctr">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fearful</a:t>
            </a:r>
            <a:endParaRPr lang="en-US" sz="850" dirty="0"/>
          </a:p>
        </p:txBody>
      </p:sp>
      <p:sp>
        <p:nvSpPr>
          <p:cNvPr id="72" name="Shape 65"/>
          <p:cNvSpPr/>
          <p:nvPr/>
        </p:nvSpPr>
        <p:spPr>
          <a:xfrm>
            <a:off x="8979408" y="4453128"/>
            <a:ext cx="1682496" cy="73152"/>
          </a:xfrm>
          <a:prstGeom prst="roundRect">
            <a:avLst>
              <a:gd name="adj" fmla="val 25000"/>
            </a:avLst>
          </a:prstGeom>
          <a:solidFill>
            <a:srgbClr val="F1F5F9"/>
          </a:solidFill>
          <a:ln w="12700">
            <a:solidFill>
              <a:srgbClr val="F1F5F9"/>
            </a:solidFill>
            <a:prstDash val="solid"/>
          </a:ln>
        </p:spPr>
      </p:sp>
      <p:sp>
        <p:nvSpPr>
          <p:cNvPr id="73" name="Text 66"/>
          <p:cNvSpPr txBox="1"/>
          <p:nvPr/>
        </p:nvSpPr>
        <p:spPr>
          <a:xfrm>
            <a:off x="8119872" y="4672584"/>
            <a:ext cx="768096" cy="182880"/>
          </a:xfrm>
          <a:prstGeom prst="rect">
            <a:avLst/>
          </a:prstGeom>
          <a:noFill/>
          <a:ln/>
        </p:spPr>
        <p:txBody>
          <a:bodyPr wrap="square" lIns="0" tIns="0" rIns="0" bIns="0" rtlCol="0" anchor="ctr">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disgusted</a:t>
            </a:r>
            <a:endParaRPr lang="en-US" sz="850" dirty="0"/>
          </a:p>
        </p:txBody>
      </p:sp>
      <p:sp>
        <p:nvSpPr>
          <p:cNvPr id="74" name="Shape 67"/>
          <p:cNvSpPr/>
          <p:nvPr/>
        </p:nvSpPr>
        <p:spPr>
          <a:xfrm>
            <a:off x="8979408" y="4718304"/>
            <a:ext cx="1682496" cy="73152"/>
          </a:xfrm>
          <a:prstGeom prst="roundRect">
            <a:avLst>
              <a:gd name="adj" fmla="val 25000"/>
            </a:avLst>
          </a:prstGeom>
          <a:solidFill>
            <a:srgbClr val="F1F5F9"/>
          </a:solidFill>
          <a:ln w="12700">
            <a:solidFill>
              <a:srgbClr val="F1F5F9"/>
            </a:solidFill>
            <a:prstDash val="solid"/>
          </a:ln>
        </p:spPr>
      </p:sp>
      <p:sp>
        <p:nvSpPr>
          <p:cNvPr id="75" name="Text 68"/>
          <p:cNvSpPr txBox="1"/>
          <p:nvPr/>
        </p:nvSpPr>
        <p:spPr>
          <a:xfrm>
            <a:off x="8119872" y="4937760"/>
            <a:ext cx="768096" cy="182880"/>
          </a:xfrm>
          <a:prstGeom prst="rect">
            <a:avLst/>
          </a:prstGeom>
          <a:noFill/>
          <a:ln/>
        </p:spPr>
        <p:txBody>
          <a:bodyPr wrap="square" lIns="0" tIns="0" rIns="0" bIns="0" rtlCol="0" anchor="ctr">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surprised</a:t>
            </a:r>
            <a:endParaRPr lang="en-US" sz="850" dirty="0"/>
          </a:p>
        </p:txBody>
      </p:sp>
      <p:sp>
        <p:nvSpPr>
          <p:cNvPr id="76" name="Shape 69"/>
          <p:cNvSpPr/>
          <p:nvPr/>
        </p:nvSpPr>
        <p:spPr>
          <a:xfrm>
            <a:off x="8979408" y="4983480"/>
            <a:ext cx="1682496" cy="73152"/>
          </a:xfrm>
          <a:prstGeom prst="roundRect">
            <a:avLst>
              <a:gd name="adj" fmla="val 25000"/>
            </a:avLst>
          </a:prstGeom>
          <a:solidFill>
            <a:srgbClr val="F1F5F9"/>
          </a:solidFill>
          <a:ln w="12700">
            <a:solidFill>
              <a:srgbClr val="F1F5F9"/>
            </a:solidFill>
            <a:prstDash val="solid"/>
          </a:ln>
        </p:spPr>
      </p:sp>
      <p:sp>
        <p:nvSpPr>
          <p:cNvPr id="77" name="Shape 70"/>
          <p:cNvSpPr/>
          <p:nvPr/>
        </p:nvSpPr>
        <p:spPr>
          <a:xfrm>
            <a:off x="5340096" y="4773168"/>
            <a:ext cx="2267712" cy="384048"/>
          </a:xfrm>
          <a:prstGeom prst="roundRect">
            <a:avLst>
              <a:gd name="adj" fmla="val 9524"/>
            </a:avLst>
          </a:prstGeom>
          <a:solidFill>
            <a:srgbClr val="FEF3C7"/>
          </a:solidFill>
          <a:ln w="12700">
            <a:solidFill>
              <a:srgbClr val="FEF3C7"/>
            </a:solidFill>
            <a:prstDash val="solid"/>
          </a:ln>
        </p:spPr>
      </p:sp>
      <p:sp>
        <p:nvSpPr>
          <p:cNvPr id="78" name="Text 71"/>
          <p:cNvSpPr txBox="1"/>
          <p:nvPr/>
        </p:nvSpPr>
        <p:spPr>
          <a:xfrm>
            <a:off x="5413248" y="4773168"/>
            <a:ext cx="2121408" cy="384048"/>
          </a:xfrm>
          <a:prstGeom prst="rect">
            <a:avLst/>
          </a:prstGeom>
          <a:noFill/>
          <a:ln/>
        </p:spPr>
        <p:txBody>
          <a:bodyPr wrap="square" lIns="0" tIns="0" rIns="0" bIns="0" rtlCol="0" anchor="ctr">
            <a:normAutofit/>
          </a:bodyPr>
          <a:lstStyle/>
          <a:p>
            <a:pPr marL="0" indent="0" algn="ctr">
              <a:buNone/>
            </a:pPr>
            <a:r>
              <a:rPr lang="en-US" sz="900" b="1" dirty="0">
                <a:solidFill>
                  <a:srgbClr val="B45309"/>
                </a:solidFill>
                <a:latin typeface="Arial" pitchFamily="34" charset="0"/>
                <a:ea typeface="Arial" pitchFamily="34" charset="-122"/>
                <a:cs typeface="Arial" pitchFamily="34" charset="-120"/>
              </a:rPr>
              <a:t>Không merge nhãn ngoài ViSEC</a:t>
            </a:r>
            <a:endParaRPr lang="en-US" sz="900" dirty="0"/>
          </a:p>
        </p:txBody>
      </p:sp>
      <p:sp>
        <p:nvSpPr>
          <p:cNvPr id="79" name="Shape 72"/>
          <p:cNvSpPr/>
          <p:nvPr/>
        </p:nvSpPr>
        <p:spPr>
          <a:xfrm>
            <a:off x="530352" y="6382512"/>
            <a:ext cx="11128248" cy="0"/>
          </a:xfrm>
          <a:prstGeom prst="line">
            <a:avLst/>
          </a:prstGeom>
          <a:noFill/>
          <a:ln w="10160">
            <a:solidFill>
              <a:srgbClr val="E2E8F0"/>
            </a:solidFill>
            <a:prstDash val="solid"/>
          </a:ln>
        </p:spPr>
      </p:sp>
      <p:sp>
        <p:nvSpPr>
          <p:cNvPr id="80" name="Text 73"/>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Mockup tĩnh theo docs/ARCHITECTURE.md + docs/USAGE.md; không dùng score minh họa giả.</a:t>
            </a:r>
            <a:endParaRPr lang="en-US" sz="850" dirty="0"/>
          </a:p>
        </p:txBody>
      </p:sp>
      <p:sp>
        <p:nvSpPr>
          <p:cNvPr id="81"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16  /  HIỆU NĂNG</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RTX 4050 đủ chạy FP16 thời gian thực</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Tốc độ inference tốt; chất lượng model mới là giới hạn chính.</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37360"/>
            <a:ext cx="3950208" cy="4370832"/>
          </a:xfrm>
          <a:prstGeom prst="roundRect">
            <a:avLst>
              <a:gd name="adj" fmla="val 1157"/>
            </a:avLst>
          </a:prstGeom>
          <a:solidFill>
            <a:srgbClr val="0F172A"/>
          </a:solidFill>
          <a:ln w="12700">
            <a:solidFill>
              <a:srgbClr val="0F172A"/>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2103120"/>
            <a:ext cx="713232" cy="713232"/>
          </a:xfrm>
          <a:prstGeom prst="rect">
            <a:avLst/>
          </a:prstGeom>
        </p:spPr>
      </p:pic>
      <p:sp>
        <p:nvSpPr>
          <p:cNvPr id="9" name="Text 6"/>
          <p:cNvSpPr txBox="1"/>
          <p:nvPr/>
        </p:nvSpPr>
        <p:spPr>
          <a:xfrm>
            <a:off x="932688" y="2999232"/>
            <a:ext cx="2560320" cy="566928"/>
          </a:xfrm>
          <a:prstGeom prst="rect">
            <a:avLst/>
          </a:prstGeom>
          <a:noFill/>
          <a:ln/>
        </p:spPr>
        <p:txBody>
          <a:bodyPr wrap="square" lIns="0" tIns="0" rIns="0" bIns="0" rtlCol="0" anchor="ctr">
            <a:normAutofit/>
          </a:bodyPr>
          <a:lstStyle/>
          <a:p>
            <a:pPr marL="0" indent="0" algn="l">
              <a:buNone/>
            </a:pPr>
            <a:r>
              <a:rPr lang="en-US" sz="2900" b="1" dirty="0">
                <a:solidFill>
                  <a:srgbClr val="FFFFFF"/>
                </a:solidFill>
                <a:latin typeface="Arial" pitchFamily="34" charset="0"/>
                <a:ea typeface="Arial" pitchFamily="34" charset="-122"/>
                <a:cs typeface="Arial" pitchFamily="34" charset="-120"/>
              </a:rPr>
              <a:t>RTX 4050</a:t>
            </a:r>
            <a:endParaRPr lang="en-US" sz="2900" dirty="0"/>
          </a:p>
        </p:txBody>
      </p:sp>
      <p:sp>
        <p:nvSpPr>
          <p:cNvPr id="10" name="Text 7"/>
          <p:cNvSpPr txBox="1"/>
          <p:nvPr/>
        </p:nvSpPr>
        <p:spPr>
          <a:xfrm>
            <a:off x="932688" y="3602736"/>
            <a:ext cx="2670048" cy="310896"/>
          </a:xfrm>
          <a:prstGeom prst="rect">
            <a:avLst/>
          </a:prstGeom>
          <a:noFill/>
          <a:ln/>
        </p:spPr>
        <p:txBody>
          <a:bodyPr wrap="square" lIns="0" tIns="0" rIns="0" bIns="0" rtlCol="0" anchor="ctr">
            <a:normAutofit/>
          </a:bodyPr>
          <a:lstStyle/>
          <a:p>
            <a:pPr marL="0" indent="0" algn="l">
              <a:buNone/>
            </a:pPr>
            <a:r>
              <a:rPr lang="en-US" sz="1250" b="1" dirty="0">
                <a:solidFill>
                  <a:srgbClr val="BAE6FD"/>
                </a:solidFill>
                <a:latin typeface="Arial" pitchFamily="34" charset="0"/>
                <a:ea typeface="Arial" pitchFamily="34" charset="-122"/>
                <a:cs typeface="Arial" pitchFamily="34" charset="-120"/>
              </a:rPr>
              <a:t>Laptop GPU  •  6 GB VRAM</a:t>
            </a:r>
            <a:endParaRPr lang="en-US" sz="1250" dirty="0"/>
          </a:p>
        </p:txBody>
      </p:sp>
      <p:sp>
        <p:nvSpPr>
          <p:cNvPr id="11" name="Shape 8"/>
          <p:cNvSpPr/>
          <p:nvPr/>
        </p:nvSpPr>
        <p:spPr>
          <a:xfrm>
            <a:off x="932688" y="4169664"/>
            <a:ext cx="1737360" cy="347472"/>
          </a:xfrm>
          <a:prstGeom prst="roundRect">
            <a:avLst>
              <a:gd name="adj" fmla="val 10526"/>
            </a:avLst>
          </a:prstGeom>
          <a:solidFill>
            <a:srgbClr val="17375E"/>
          </a:solidFill>
          <a:ln w="12700">
            <a:solidFill>
              <a:srgbClr val="17375E"/>
            </a:solidFill>
            <a:prstDash val="solid"/>
          </a:ln>
        </p:spPr>
      </p:sp>
      <p:sp>
        <p:nvSpPr>
          <p:cNvPr id="12" name="Text 9"/>
          <p:cNvSpPr txBox="1"/>
          <p:nvPr/>
        </p:nvSpPr>
        <p:spPr>
          <a:xfrm>
            <a:off x="1005840" y="4169664"/>
            <a:ext cx="1591056" cy="347472"/>
          </a:xfrm>
          <a:prstGeom prst="rect">
            <a:avLst/>
          </a:prstGeom>
          <a:noFill/>
          <a:ln/>
        </p:spPr>
        <p:txBody>
          <a:bodyPr wrap="square" lIns="0" tIns="0" rIns="0" bIns="0" rtlCol="0" anchor="ctr">
            <a:normAutofit/>
          </a:bodyPr>
          <a:lstStyle/>
          <a:p>
            <a:pPr marL="0" indent="0" algn="ctr">
              <a:buNone/>
            </a:pPr>
            <a:r>
              <a:rPr lang="en-US" sz="1000" b="1" dirty="0">
                <a:solidFill>
                  <a:srgbClr val="BAE6FD"/>
                </a:solidFill>
                <a:latin typeface="Arial" pitchFamily="34" charset="0"/>
                <a:ea typeface="Arial" pitchFamily="34" charset="-122"/>
                <a:cs typeface="Arial" pitchFamily="34" charset="-120"/>
              </a:rPr>
              <a:t>CUDA  •  FP16</a:t>
            </a:r>
            <a:endParaRPr lang="en-US" sz="1000" dirty="0"/>
          </a:p>
        </p:txBody>
      </p:sp>
      <p:sp>
        <p:nvSpPr>
          <p:cNvPr id="13" name="Text 10"/>
          <p:cNvSpPr txBox="1"/>
          <p:nvPr/>
        </p:nvSpPr>
        <p:spPr>
          <a:xfrm>
            <a:off x="932688" y="4736592"/>
            <a:ext cx="2633472" cy="694944"/>
          </a:xfrm>
          <a:prstGeom prst="rect">
            <a:avLst/>
          </a:prstGeom>
          <a:noFill/>
          <a:ln/>
        </p:spPr>
        <p:txBody>
          <a:bodyPr wrap="square" lIns="0" tIns="0" rIns="0" bIns="0" rtlCol="0" anchor="t">
            <a:normAutofit/>
          </a:bodyPr>
          <a:lstStyle/>
          <a:p>
            <a:pPr marL="0" indent="0" algn="l">
              <a:buNone/>
            </a:pPr>
            <a:r>
              <a:rPr lang="en-US" sz="1500" b="1" dirty="0">
                <a:solidFill>
                  <a:srgbClr val="CBD5E1"/>
                </a:solidFill>
                <a:latin typeface="Arial" pitchFamily="34" charset="0"/>
                <a:ea typeface="Arial" pitchFamily="34" charset="-122"/>
                <a:cs typeface="Arial" pitchFamily="34" charset="-120"/>
              </a:rPr>
              <a:t>Benchmark 400 clips</a:t>
            </a:r>
            <a:endParaRPr lang="en-US" sz="1500" dirty="0"/>
          </a:p>
          <a:p>
            <a:pPr marL="0" indent="0" algn="l">
              <a:buNone/>
            </a:pPr>
            <a:r>
              <a:rPr lang="en-US" sz="1500" b="1" dirty="0">
                <a:solidFill>
                  <a:srgbClr val="CBD5E1"/>
                </a:solidFill>
                <a:latin typeface="Arial" pitchFamily="34" charset="0"/>
                <a:ea typeface="Arial" pitchFamily="34" charset="-122"/>
                <a:cs typeface="Arial" pitchFamily="34" charset="-120"/>
              </a:rPr>
              <a:t>0 failures</a:t>
            </a:r>
            <a:endParaRPr lang="en-US" sz="1500" dirty="0"/>
          </a:p>
        </p:txBody>
      </p:sp>
      <p:sp>
        <p:nvSpPr>
          <p:cNvPr id="14" name="Shape 11"/>
          <p:cNvSpPr/>
          <p:nvPr/>
        </p:nvSpPr>
        <p:spPr>
          <a:xfrm>
            <a:off x="4828032" y="1737360"/>
            <a:ext cx="3154680" cy="1993392"/>
          </a:xfrm>
          <a:prstGeom prst="roundRect">
            <a:avLst>
              <a:gd name="adj" fmla="val 2294"/>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5" name="Shape 12"/>
          <p:cNvSpPr/>
          <p:nvPr/>
        </p:nvSpPr>
        <p:spPr>
          <a:xfrm>
            <a:off x="5047488" y="1938528"/>
            <a:ext cx="438912" cy="438912"/>
          </a:xfrm>
          <a:prstGeom prst="ellipse">
            <a:avLst/>
          </a:prstGeom>
          <a:solidFill>
            <a:srgbClr val="DBEAFE"/>
          </a:solidFill>
          <a:ln w="12700">
            <a:solidFill>
              <a:srgbClr val="DBEAFE"/>
            </a:solidFill>
            <a:prstDash val="solid"/>
          </a:ln>
        </p:spPr>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57216" y="2048256"/>
            <a:ext cx="219456" cy="219456"/>
          </a:xfrm>
          <a:prstGeom prst="rect">
            <a:avLst/>
          </a:prstGeom>
        </p:spPr>
      </p:pic>
      <p:sp>
        <p:nvSpPr>
          <p:cNvPr id="17" name="Text 13"/>
          <p:cNvSpPr txBox="1"/>
          <p:nvPr/>
        </p:nvSpPr>
        <p:spPr>
          <a:xfrm>
            <a:off x="5029200" y="2487168"/>
            <a:ext cx="2752344" cy="576072"/>
          </a:xfrm>
          <a:prstGeom prst="rect">
            <a:avLst/>
          </a:prstGeom>
          <a:noFill/>
          <a:ln/>
        </p:spPr>
        <p:txBody>
          <a:bodyPr wrap="square" lIns="0" tIns="0" rIns="0" bIns="0" rtlCol="0" anchor="ctr">
            <a:normAutofit/>
          </a:bodyPr>
          <a:lstStyle/>
          <a:p>
            <a:pPr marL="0" indent="0" algn="l">
              <a:buNone/>
            </a:pPr>
            <a:r>
              <a:rPr lang="en-US" sz="2800" b="1" dirty="0">
                <a:solidFill>
                  <a:srgbClr val="1D4ED8"/>
                </a:solidFill>
                <a:latin typeface="Arial" pitchFamily="34" charset="0"/>
                <a:ea typeface="Arial" pitchFamily="34" charset="-122"/>
                <a:cs typeface="Arial" pitchFamily="34" charset="-120"/>
              </a:rPr>
              <a:t>69 ms</a:t>
            </a:r>
            <a:endParaRPr lang="en-US" sz="2800" dirty="0"/>
          </a:p>
        </p:txBody>
      </p:sp>
      <p:sp>
        <p:nvSpPr>
          <p:cNvPr id="18" name="Text 14"/>
          <p:cNvSpPr txBox="1"/>
          <p:nvPr/>
        </p:nvSpPr>
        <p:spPr>
          <a:xfrm>
            <a:off x="5029200" y="3072384"/>
            <a:ext cx="2752344" cy="310896"/>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Trung bình / clip</a:t>
            </a:r>
            <a:endParaRPr lang="en-US" sz="1200" dirty="0"/>
          </a:p>
        </p:txBody>
      </p:sp>
      <p:sp>
        <p:nvSpPr>
          <p:cNvPr id="19" name="Text 15"/>
          <p:cNvSpPr txBox="1"/>
          <p:nvPr/>
        </p:nvSpPr>
        <p:spPr>
          <a:xfrm>
            <a:off x="5029200" y="3383280"/>
            <a:ext cx="2752344" cy="292608"/>
          </a:xfrm>
          <a:prstGeom prst="rect">
            <a:avLst/>
          </a:prstGeom>
          <a:noFill/>
          <a:ln/>
        </p:spPr>
        <p:txBody>
          <a:bodyPr wrap="square" lIns="0" tIns="0" rIns="0" bIns="0" rtlCol="0" anchor="t">
            <a:normAutofit/>
          </a:bodyPr>
          <a:lstStyle/>
          <a:p>
            <a:pPr marL="0" indent="0" algn="l">
              <a:buNone/>
            </a:pPr>
            <a:r>
              <a:rPr lang="en-US" sz="950" dirty="0">
                <a:solidFill>
                  <a:srgbClr val="64748B"/>
                </a:solidFill>
                <a:latin typeface="Arial" pitchFamily="34" charset="0"/>
                <a:ea typeface="Arial" pitchFamily="34" charset="-122"/>
                <a:cs typeface="Arial" pitchFamily="34" charset="-120"/>
              </a:rPr>
              <a:t>mean từ 400 rows CSV</a:t>
            </a:r>
            <a:endParaRPr lang="en-US" sz="950" dirty="0"/>
          </a:p>
        </p:txBody>
      </p:sp>
      <p:sp>
        <p:nvSpPr>
          <p:cNvPr id="20" name="Shape 16"/>
          <p:cNvSpPr/>
          <p:nvPr/>
        </p:nvSpPr>
        <p:spPr>
          <a:xfrm>
            <a:off x="8284464" y="1737360"/>
            <a:ext cx="3355848" cy="1993392"/>
          </a:xfrm>
          <a:prstGeom prst="roundRect">
            <a:avLst>
              <a:gd name="adj" fmla="val 2294"/>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1" name="Shape 17"/>
          <p:cNvSpPr/>
          <p:nvPr/>
        </p:nvSpPr>
        <p:spPr>
          <a:xfrm>
            <a:off x="8503920" y="1938528"/>
            <a:ext cx="438912" cy="438912"/>
          </a:xfrm>
          <a:prstGeom prst="ellipse">
            <a:avLst/>
          </a:prstGeom>
          <a:solidFill>
            <a:srgbClr val="DCFCE7"/>
          </a:solidFill>
          <a:ln w="12700">
            <a:solidFill>
              <a:srgbClr val="DCFCE7"/>
            </a:solidFill>
            <a:prstDash val="solid"/>
          </a:ln>
        </p:spPr>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13648" y="2048256"/>
            <a:ext cx="219456" cy="219456"/>
          </a:xfrm>
          <a:prstGeom prst="rect">
            <a:avLst/>
          </a:prstGeom>
        </p:spPr>
      </p:pic>
      <p:sp>
        <p:nvSpPr>
          <p:cNvPr id="23" name="Text 18"/>
          <p:cNvSpPr txBox="1"/>
          <p:nvPr/>
        </p:nvSpPr>
        <p:spPr>
          <a:xfrm>
            <a:off x="8485632" y="2487168"/>
            <a:ext cx="2953512" cy="576072"/>
          </a:xfrm>
          <a:prstGeom prst="rect">
            <a:avLst/>
          </a:prstGeom>
          <a:noFill/>
          <a:ln/>
        </p:spPr>
        <p:txBody>
          <a:bodyPr wrap="square" lIns="0" tIns="0" rIns="0" bIns="0" rtlCol="0" anchor="ctr">
            <a:normAutofit/>
          </a:bodyPr>
          <a:lstStyle/>
          <a:p>
            <a:pPr marL="0" indent="0" algn="l">
              <a:buNone/>
            </a:pPr>
            <a:r>
              <a:rPr lang="en-US" sz="2800" b="1" dirty="0">
                <a:solidFill>
                  <a:srgbClr val="15803D"/>
                </a:solidFill>
                <a:latin typeface="Arial" pitchFamily="34" charset="0"/>
                <a:ea typeface="Arial" pitchFamily="34" charset="-122"/>
                <a:cs typeface="Arial" pitchFamily="34" charset="-120"/>
              </a:rPr>
              <a:t>≈ 1 GB</a:t>
            </a:r>
            <a:endParaRPr lang="en-US" sz="2800" dirty="0"/>
          </a:p>
        </p:txBody>
      </p:sp>
      <p:sp>
        <p:nvSpPr>
          <p:cNvPr id="24" name="Text 19"/>
          <p:cNvSpPr txBox="1"/>
          <p:nvPr/>
        </p:nvSpPr>
        <p:spPr>
          <a:xfrm>
            <a:off x="8485632" y="3072384"/>
            <a:ext cx="2953512" cy="310896"/>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Tổng VRAM budget</a:t>
            </a:r>
            <a:endParaRPr lang="en-US" sz="1200" dirty="0"/>
          </a:p>
        </p:txBody>
      </p:sp>
      <p:sp>
        <p:nvSpPr>
          <p:cNvPr id="25" name="Text 20"/>
          <p:cNvSpPr txBox="1"/>
          <p:nvPr/>
        </p:nvSpPr>
        <p:spPr>
          <a:xfrm>
            <a:off x="8485632" y="3383280"/>
            <a:ext cx="2953512" cy="292608"/>
          </a:xfrm>
          <a:prstGeom prst="rect">
            <a:avLst/>
          </a:prstGeom>
          <a:noFill/>
          <a:ln/>
        </p:spPr>
        <p:txBody>
          <a:bodyPr wrap="square" lIns="0" tIns="0" rIns="0" bIns="0" rtlCol="0" anchor="t">
            <a:normAutofit/>
          </a:bodyPr>
          <a:lstStyle/>
          <a:p>
            <a:pPr marL="0" indent="0" algn="l">
              <a:buNone/>
            </a:pPr>
            <a:r>
              <a:rPr lang="en-US" sz="950" dirty="0">
                <a:solidFill>
                  <a:srgbClr val="64748B"/>
                </a:solidFill>
                <a:latin typeface="Arial" pitchFamily="34" charset="0"/>
                <a:ea typeface="Arial" pitchFamily="34" charset="-122"/>
                <a:cs typeface="Arial" pitchFamily="34" charset="-120"/>
              </a:rPr>
              <a:t>weights + activation + buffer</a:t>
            </a:r>
            <a:endParaRPr lang="en-US" sz="950" dirty="0"/>
          </a:p>
        </p:txBody>
      </p:sp>
      <p:sp>
        <p:nvSpPr>
          <p:cNvPr id="26" name="Shape 21"/>
          <p:cNvSpPr/>
          <p:nvPr/>
        </p:nvSpPr>
        <p:spPr>
          <a:xfrm>
            <a:off x="4828032" y="4023360"/>
            <a:ext cx="6812280" cy="2084832"/>
          </a:xfrm>
          <a:prstGeom prst="roundRect">
            <a:avLst>
              <a:gd name="adj" fmla="val 2193"/>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7" name="Text 22"/>
          <p:cNvSpPr txBox="1"/>
          <p:nvPr/>
        </p:nvSpPr>
        <p:spPr>
          <a:xfrm>
            <a:off x="5138928" y="4334256"/>
            <a:ext cx="2029968" cy="274320"/>
          </a:xfrm>
          <a:prstGeom prst="rect">
            <a:avLst/>
          </a:prstGeom>
          <a:noFill/>
          <a:ln/>
        </p:spPr>
        <p:txBody>
          <a:bodyPr wrap="square" lIns="0" tIns="0" rIns="0" bIns="0" rtlCol="0" anchor="ctr">
            <a:normAutofit/>
          </a:bodyPr>
          <a:lstStyle/>
          <a:p>
            <a:pPr marL="0" indent="0" algn="l">
              <a:buNone/>
            </a:pPr>
            <a:r>
              <a:rPr lang="en-US" sz="1200" b="1" dirty="0">
                <a:solidFill>
                  <a:srgbClr val="334155"/>
                </a:solidFill>
                <a:latin typeface="Arial" pitchFamily="34" charset="0"/>
                <a:ea typeface="Arial" pitchFamily="34" charset="-122"/>
                <a:cs typeface="Arial" pitchFamily="34" charset="-120"/>
              </a:rPr>
              <a:t>Toàn bộ benchmark</a:t>
            </a:r>
            <a:endParaRPr lang="en-US" sz="1200" dirty="0"/>
          </a:p>
        </p:txBody>
      </p:sp>
      <p:sp>
        <p:nvSpPr>
          <p:cNvPr id="28" name="Text 23"/>
          <p:cNvSpPr txBox="1"/>
          <p:nvPr/>
        </p:nvSpPr>
        <p:spPr>
          <a:xfrm>
            <a:off x="5138928" y="4718304"/>
            <a:ext cx="2103120" cy="512064"/>
          </a:xfrm>
          <a:prstGeom prst="rect">
            <a:avLst/>
          </a:prstGeom>
          <a:noFill/>
          <a:ln/>
        </p:spPr>
        <p:txBody>
          <a:bodyPr wrap="square" lIns="0" tIns="0" rIns="0" bIns="0" rtlCol="0" anchor="ctr">
            <a:normAutofit/>
          </a:bodyPr>
          <a:lstStyle/>
          <a:p>
            <a:pPr marL="0" indent="0" algn="l">
              <a:buNone/>
            </a:pPr>
            <a:r>
              <a:rPr lang="en-US" sz="2700" b="1" dirty="0">
                <a:solidFill>
                  <a:srgbClr val="0F766E"/>
                </a:solidFill>
                <a:latin typeface="Arial" pitchFamily="34" charset="0"/>
                <a:ea typeface="Arial" pitchFamily="34" charset="-122"/>
                <a:cs typeface="Arial" pitchFamily="34" charset="-120"/>
              </a:rPr>
              <a:t>≈ 28 giây</a:t>
            </a:r>
            <a:endParaRPr lang="en-US" sz="2700" dirty="0"/>
          </a:p>
        </p:txBody>
      </p:sp>
      <p:sp>
        <p:nvSpPr>
          <p:cNvPr id="29" name="Shape 24"/>
          <p:cNvSpPr/>
          <p:nvPr/>
        </p:nvSpPr>
        <p:spPr>
          <a:xfrm>
            <a:off x="7552944" y="4864608"/>
            <a:ext cx="44399" cy="36576"/>
          </a:xfrm>
          <a:prstGeom prst="roundRect">
            <a:avLst>
              <a:gd name="adj" fmla="val 50000"/>
            </a:avLst>
          </a:prstGeom>
          <a:solidFill>
            <a:srgbClr val="0F766E">
              <a:alpha val="92000"/>
            </a:srgbClr>
          </a:solidFill>
          <a:ln w="12700">
            <a:solidFill>
              <a:srgbClr val="0F766E">
                <a:alpha val="0"/>
              </a:srgbClr>
            </a:solidFill>
            <a:prstDash val="solid"/>
          </a:ln>
        </p:spPr>
      </p:sp>
      <p:sp>
        <p:nvSpPr>
          <p:cNvPr id="30" name="Shape 25"/>
          <p:cNvSpPr/>
          <p:nvPr/>
        </p:nvSpPr>
        <p:spPr>
          <a:xfrm>
            <a:off x="7649464" y="4778120"/>
            <a:ext cx="44399" cy="209552"/>
          </a:xfrm>
          <a:prstGeom prst="roundRect">
            <a:avLst>
              <a:gd name="adj" fmla="val 41190"/>
            </a:avLst>
          </a:prstGeom>
          <a:solidFill>
            <a:srgbClr val="0F766E">
              <a:alpha val="92000"/>
            </a:srgbClr>
          </a:solidFill>
          <a:ln w="12700">
            <a:solidFill>
              <a:srgbClr val="0F766E">
                <a:alpha val="0"/>
              </a:srgbClr>
            </a:solidFill>
            <a:prstDash val="solid"/>
          </a:ln>
        </p:spPr>
      </p:sp>
      <p:sp>
        <p:nvSpPr>
          <p:cNvPr id="31" name="Shape 26"/>
          <p:cNvSpPr/>
          <p:nvPr/>
        </p:nvSpPr>
        <p:spPr>
          <a:xfrm>
            <a:off x="7745984" y="4838528"/>
            <a:ext cx="44399" cy="88736"/>
          </a:xfrm>
          <a:prstGeom prst="roundRect">
            <a:avLst>
              <a:gd name="adj" fmla="val 41190"/>
            </a:avLst>
          </a:prstGeom>
          <a:solidFill>
            <a:srgbClr val="0F766E">
              <a:alpha val="92000"/>
            </a:srgbClr>
          </a:solidFill>
          <a:ln w="12700">
            <a:solidFill>
              <a:srgbClr val="0F766E">
                <a:alpha val="0"/>
              </a:srgbClr>
            </a:solidFill>
            <a:prstDash val="solid"/>
          </a:ln>
        </p:spPr>
      </p:sp>
      <p:sp>
        <p:nvSpPr>
          <p:cNvPr id="32" name="Shape 27"/>
          <p:cNvSpPr/>
          <p:nvPr/>
        </p:nvSpPr>
        <p:spPr>
          <a:xfrm>
            <a:off x="7842504" y="4836308"/>
            <a:ext cx="44399" cy="93177"/>
          </a:xfrm>
          <a:prstGeom prst="roundRect">
            <a:avLst>
              <a:gd name="adj" fmla="val 41190"/>
            </a:avLst>
          </a:prstGeom>
          <a:solidFill>
            <a:srgbClr val="0F766E">
              <a:alpha val="92000"/>
            </a:srgbClr>
          </a:solidFill>
          <a:ln w="12700">
            <a:solidFill>
              <a:srgbClr val="0F766E">
                <a:alpha val="0"/>
              </a:srgbClr>
            </a:solidFill>
            <a:prstDash val="solid"/>
          </a:ln>
        </p:spPr>
      </p:sp>
      <p:sp>
        <p:nvSpPr>
          <p:cNvPr id="33" name="Shape 28"/>
          <p:cNvSpPr/>
          <p:nvPr/>
        </p:nvSpPr>
        <p:spPr>
          <a:xfrm>
            <a:off x="7939024" y="4822504"/>
            <a:ext cx="44399" cy="120783"/>
          </a:xfrm>
          <a:prstGeom prst="roundRect">
            <a:avLst>
              <a:gd name="adj" fmla="val 41190"/>
            </a:avLst>
          </a:prstGeom>
          <a:solidFill>
            <a:srgbClr val="0F766E">
              <a:alpha val="92000"/>
            </a:srgbClr>
          </a:solidFill>
          <a:ln w="12700">
            <a:solidFill>
              <a:srgbClr val="0F766E">
                <a:alpha val="0"/>
              </a:srgbClr>
            </a:solidFill>
            <a:prstDash val="solid"/>
          </a:ln>
        </p:spPr>
      </p:sp>
      <p:sp>
        <p:nvSpPr>
          <p:cNvPr id="34" name="Shape 29"/>
          <p:cNvSpPr/>
          <p:nvPr/>
        </p:nvSpPr>
        <p:spPr>
          <a:xfrm>
            <a:off x="8035544" y="4755314"/>
            <a:ext cx="44399" cy="255165"/>
          </a:xfrm>
          <a:prstGeom prst="roundRect">
            <a:avLst>
              <a:gd name="adj" fmla="val 41190"/>
            </a:avLst>
          </a:prstGeom>
          <a:solidFill>
            <a:srgbClr val="0F766E">
              <a:alpha val="92000"/>
            </a:srgbClr>
          </a:solidFill>
          <a:ln w="12700">
            <a:solidFill>
              <a:srgbClr val="0F766E">
                <a:alpha val="0"/>
              </a:srgbClr>
            </a:solidFill>
            <a:prstDash val="solid"/>
          </a:ln>
        </p:spPr>
      </p:sp>
      <p:sp>
        <p:nvSpPr>
          <p:cNvPr id="35" name="Shape 30"/>
          <p:cNvSpPr/>
          <p:nvPr/>
        </p:nvSpPr>
        <p:spPr>
          <a:xfrm>
            <a:off x="8132064" y="4681223"/>
            <a:ext cx="44399" cy="403347"/>
          </a:xfrm>
          <a:prstGeom prst="roundRect">
            <a:avLst>
              <a:gd name="adj" fmla="val 41190"/>
            </a:avLst>
          </a:prstGeom>
          <a:solidFill>
            <a:srgbClr val="0F766E">
              <a:alpha val="92000"/>
            </a:srgbClr>
          </a:solidFill>
          <a:ln w="12700">
            <a:solidFill>
              <a:srgbClr val="0F766E">
                <a:alpha val="0"/>
              </a:srgbClr>
            </a:solidFill>
            <a:prstDash val="solid"/>
          </a:ln>
        </p:spPr>
      </p:sp>
      <p:sp>
        <p:nvSpPr>
          <p:cNvPr id="36" name="Shape 31"/>
          <p:cNvSpPr/>
          <p:nvPr/>
        </p:nvSpPr>
        <p:spPr>
          <a:xfrm>
            <a:off x="8228584" y="4740821"/>
            <a:ext cx="44399" cy="284150"/>
          </a:xfrm>
          <a:prstGeom prst="roundRect">
            <a:avLst>
              <a:gd name="adj" fmla="val 41190"/>
            </a:avLst>
          </a:prstGeom>
          <a:solidFill>
            <a:srgbClr val="0F766E">
              <a:alpha val="92000"/>
            </a:srgbClr>
          </a:solidFill>
          <a:ln w="12700">
            <a:solidFill>
              <a:srgbClr val="0F766E">
                <a:alpha val="0"/>
              </a:srgbClr>
            </a:solidFill>
            <a:prstDash val="solid"/>
          </a:ln>
        </p:spPr>
      </p:sp>
      <p:sp>
        <p:nvSpPr>
          <p:cNvPr id="37" name="Shape 32"/>
          <p:cNvSpPr/>
          <p:nvPr/>
        </p:nvSpPr>
        <p:spPr>
          <a:xfrm>
            <a:off x="8325104" y="4643298"/>
            <a:ext cx="44399" cy="479197"/>
          </a:xfrm>
          <a:prstGeom prst="roundRect">
            <a:avLst>
              <a:gd name="adj" fmla="val 41190"/>
            </a:avLst>
          </a:prstGeom>
          <a:solidFill>
            <a:srgbClr val="0F766E">
              <a:alpha val="92000"/>
            </a:srgbClr>
          </a:solidFill>
          <a:ln w="12700">
            <a:solidFill>
              <a:srgbClr val="0F766E">
                <a:alpha val="0"/>
              </a:srgbClr>
            </a:solidFill>
            <a:prstDash val="solid"/>
          </a:ln>
        </p:spPr>
      </p:sp>
      <p:sp>
        <p:nvSpPr>
          <p:cNvPr id="38" name="Shape 33"/>
          <p:cNvSpPr/>
          <p:nvPr/>
        </p:nvSpPr>
        <p:spPr>
          <a:xfrm>
            <a:off x="8421624" y="4818494"/>
            <a:ext cx="44399" cy="128804"/>
          </a:xfrm>
          <a:prstGeom prst="roundRect">
            <a:avLst>
              <a:gd name="adj" fmla="val 41190"/>
            </a:avLst>
          </a:prstGeom>
          <a:solidFill>
            <a:srgbClr val="0F766E">
              <a:alpha val="92000"/>
            </a:srgbClr>
          </a:solidFill>
          <a:ln w="12700">
            <a:solidFill>
              <a:srgbClr val="0F766E">
                <a:alpha val="0"/>
              </a:srgbClr>
            </a:solidFill>
            <a:prstDash val="solid"/>
          </a:ln>
        </p:spPr>
      </p:sp>
      <p:sp>
        <p:nvSpPr>
          <p:cNvPr id="39" name="Shape 34"/>
          <p:cNvSpPr/>
          <p:nvPr/>
        </p:nvSpPr>
        <p:spPr>
          <a:xfrm>
            <a:off x="8518144" y="4829301"/>
            <a:ext cx="44399" cy="107191"/>
          </a:xfrm>
          <a:prstGeom prst="roundRect">
            <a:avLst>
              <a:gd name="adj" fmla="val 41190"/>
            </a:avLst>
          </a:prstGeom>
          <a:solidFill>
            <a:srgbClr val="0F766E">
              <a:alpha val="92000"/>
            </a:srgbClr>
          </a:solidFill>
          <a:ln w="12700">
            <a:solidFill>
              <a:srgbClr val="0F766E">
                <a:alpha val="0"/>
              </a:srgbClr>
            </a:solidFill>
            <a:prstDash val="solid"/>
          </a:ln>
        </p:spPr>
      </p:sp>
      <p:sp>
        <p:nvSpPr>
          <p:cNvPr id="40" name="Shape 35"/>
          <p:cNvSpPr/>
          <p:nvPr/>
        </p:nvSpPr>
        <p:spPr>
          <a:xfrm>
            <a:off x="8614664" y="4806716"/>
            <a:ext cx="44399" cy="152360"/>
          </a:xfrm>
          <a:prstGeom prst="roundRect">
            <a:avLst>
              <a:gd name="adj" fmla="val 41190"/>
            </a:avLst>
          </a:prstGeom>
          <a:solidFill>
            <a:srgbClr val="0F766E">
              <a:alpha val="92000"/>
            </a:srgbClr>
          </a:solidFill>
          <a:ln w="12700">
            <a:solidFill>
              <a:srgbClr val="0F766E">
                <a:alpha val="0"/>
              </a:srgbClr>
            </a:solidFill>
            <a:prstDash val="solid"/>
          </a:ln>
        </p:spPr>
      </p:sp>
      <p:sp>
        <p:nvSpPr>
          <p:cNvPr id="41" name="Shape 36"/>
          <p:cNvSpPr/>
          <p:nvPr/>
        </p:nvSpPr>
        <p:spPr>
          <a:xfrm>
            <a:off x="8711184" y="4594177"/>
            <a:ext cx="44399" cy="577438"/>
          </a:xfrm>
          <a:prstGeom prst="roundRect">
            <a:avLst>
              <a:gd name="adj" fmla="val 41190"/>
            </a:avLst>
          </a:prstGeom>
          <a:solidFill>
            <a:srgbClr val="0F766E">
              <a:alpha val="92000"/>
            </a:srgbClr>
          </a:solidFill>
          <a:ln w="12700">
            <a:solidFill>
              <a:srgbClr val="0F766E">
                <a:alpha val="0"/>
              </a:srgbClr>
            </a:solidFill>
            <a:prstDash val="solid"/>
          </a:ln>
        </p:spPr>
      </p:sp>
      <p:sp>
        <p:nvSpPr>
          <p:cNvPr id="42" name="Shape 37"/>
          <p:cNvSpPr/>
          <p:nvPr/>
        </p:nvSpPr>
        <p:spPr>
          <a:xfrm>
            <a:off x="8807704" y="4675285"/>
            <a:ext cx="44399" cy="415221"/>
          </a:xfrm>
          <a:prstGeom prst="roundRect">
            <a:avLst>
              <a:gd name="adj" fmla="val 41190"/>
            </a:avLst>
          </a:prstGeom>
          <a:solidFill>
            <a:srgbClr val="0F766E">
              <a:alpha val="92000"/>
            </a:srgbClr>
          </a:solidFill>
          <a:ln w="12700">
            <a:solidFill>
              <a:srgbClr val="0F766E">
                <a:alpha val="0"/>
              </a:srgbClr>
            </a:solidFill>
            <a:prstDash val="solid"/>
          </a:ln>
        </p:spPr>
      </p:sp>
      <p:sp>
        <p:nvSpPr>
          <p:cNvPr id="43" name="Shape 38"/>
          <p:cNvSpPr/>
          <p:nvPr/>
        </p:nvSpPr>
        <p:spPr>
          <a:xfrm>
            <a:off x="8904224" y="4575985"/>
            <a:ext cx="44399" cy="613821"/>
          </a:xfrm>
          <a:prstGeom prst="roundRect">
            <a:avLst>
              <a:gd name="adj" fmla="val 41190"/>
            </a:avLst>
          </a:prstGeom>
          <a:solidFill>
            <a:srgbClr val="0F766E">
              <a:alpha val="92000"/>
            </a:srgbClr>
          </a:solidFill>
          <a:ln w="12700">
            <a:solidFill>
              <a:srgbClr val="0F766E">
                <a:alpha val="0"/>
              </a:srgbClr>
            </a:solidFill>
            <a:prstDash val="solid"/>
          </a:ln>
        </p:spPr>
      </p:sp>
      <p:sp>
        <p:nvSpPr>
          <p:cNvPr id="44" name="Shape 39"/>
          <p:cNvSpPr/>
          <p:nvPr/>
        </p:nvSpPr>
        <p:spPr>
          <a:xfrm>
            <a:off x="9000744" y="4647638"/>
            <a:ext cx="44399" cy="470515"/>
          </a:xfrm>
          <a:prstGeom prst="roundRect">
            <a:avLst>
              <a:gd name="adj" fmla="val 41190"/>
            </a:avLst>
          </a:prstGeom>
          <a:solidFill>
            <a:srgbClr val="0F766E">
              <a:alpha val="92000"/>
            </a:srgbClr>
          </a:solidFill>
          <a:ln w="12700">
            <a:solidFill>
              <a:srgbClr val="0F766E">
                <a:alpha val="0"/>
              </a:srgbClr>
            </a:solidFill>
            <a:prstDash val="solid"/>
          </a:ln>
        </p:spPr>
      </p:sp>
      <p:sp>
        <p:nvSpPr>
          <p:cNvPr id="45" name="Shape 40"/>
          <p:cNvSpPr/>
          <p:nvPr/>
        </p:nvSpPr>
        <p:spPr>
          <a:xfrm>
            <a:off x="9097264" y="4760641"/>
            <a:ext cx="44399" cy="244511"/>
          </a:xfrm>
          <a:prstGeom prst="roundRect">
            <a:avLst>
              <a:gd name="adj" fmla="val 41190"/>
            </a:avLst>
          </a:prstGeom>
          <a:solidFill>
            <a:srgbClr val="0F766E">
              <a:alpha val="92000"/>
            </a:srgbClr>
          </a:solidFill>
          <a:ln w="12700">
            <a:solidFill>
              <a:srgbClr val="0F766E">
                <a:alpha val="0"/>
              </a:srgbClr>
            </a:solidFill>
            <a:prstDash val="solid"/>
          </a:ln>
        </p:spPr>
      </p:sp>
      <p:sp>
        <p:nvSpPr>
          <p:cNvPr id="46" name="Shape 41"/>
          <p:cNvSpPr/>
          <p:nvPr/>
        </p:nvSpPr>
        <p:spPr>
          <a:xfrm>
            <a:off x="9193784" y="4780574"/>
            <a:ext cx="44399" cy="204643"/>
          </a:xfrm>
          <a:prstGeom prst="roundRect">
            <a:avLst>
              <a:gd name="adj" fmla="val 41190"/>
            </a:avLst>
          </a:prstGeom>
          <a:solidFill>
            <a:srgbClr val="0F766E">
              <a:alpha val="92000"/>
            </a:srgbClr>
          </a:solidFill>
          <a:ln w="12700">
            <a:solidFill>
              <a:srgbClr val="0F766E">
                <a:alpha val="0"/>
              </a:srgbClr>
            </a:solidFill>
            <a:prstDash val="solid"/>
          </a:ln>
        </p:spPr>
      </p:sp>
      <p:sp>
        <p:nvSpPr>
          <p:cNvPr id="47" name="Shape 42"/>
          <p:cNvSpPr/>
          <p:nvPr/>
        </p:nvSpPr>
        <p:spPr>
          <a:xfrm>
            <a:off x="9290304" y="4769565"/>
            <a:ext cx="44399" cy="226662"/>
          </a:xfrm>
          <a:prstGeom prst="roundRect">
            <a:avLst>
              <a:gd name="adj" fmla="val 41190"/>
            </a:avLst>
          </a:prstGeom>
          <a:solidFill>
            <a:srgbClr val="0F766E">
              <a:alpha val="92000"/>
            </a:srgbClr>
          </a:solidFill>
          <a:ln w="12700">
            <a:solidFill>
              <a:srgbClr val="0F766E">
                <a:alpha val="0"/>
              </a:srgbClr>
            </a:solidFill>
            <a:prstDash val="solid"/>
          </a:ln>
        </p:spPr>
      </p:sp>
      <p:sp>
        <p:nvSpPr>
          <p:cNvPr id="48" name="Shape 43"/>
          <p:cNvSpPr/>
          <p:nvPr/>
        </p:nvSpPr>
        <p:spPr>
          <a:xfrm>
            <a:off x="9386824" y="4526157"/>
            <a:ext cx="44399" cy="713478"/>
          </a:xfrm>
          <a:prstGeom prst="roundRect">
            <a:avLst>
              <a:gd name="adj" fmla="val 41190"/>
            </a:avLst>
          </a:prstGeom>
          <a:solidFill>
            <a:srgbClr val="0F766E">
              <a:alpha val="92000"/>
            </a:srgbClr>
          </a:solidFill>
          <a:ln w="12700">
            <a:solidFill>
              <a:srgbClr val="0F766E">
                <a:alpha val="0"/>
              </a:srgbClr>
            </a:solidFill>
            <a:prstDash val="solid"/>
          </a:ln>
        </p:spPr>
      </p:sp>
      <p:sp>
        <p:nvSpPr>
          <p:cNvPr id="49" name="Shape 44"/>
          <p:cNvSpPr/>
          <p:nvPr/>
        </p:nvSpPr>
        <p:spPr>
          <a:xfrm>
            <a:off x="9483344" y="4809491"/>
            <a:ext cx="44399" cy="146810"/>
          </a:xfrm>
          <a:prstGeom prst="roundRect">
            <a:avLst>
              <a:gd name="adj" fmla="val 41190"/>
            </a:avLst>
          </a:prstGeom>
          <a:solidFill>
            <a:srgbClr val="0F766E">
              <a:alpha val="92000"/>
            </a:srgbClr>
          </a:solidFill>
          <a:ln w="12700">
            <a:solidFill>
              <a:srgbClr val="0F766E">
                <a:alpha val="0"/>
              </a:srgbClr>
            </a:solidFill>
            <a:prstDash val="solid"/>
          </a:ln>
        </p:spPr>
      </p:sp>
      <p:sp>
        <p:nvSpPr>
          <p:cNvPr id="50" name="Shape 45"/>
          <p:cNvSpPr/>
          <p:nvPr/>
        </p:nvSpPr>
        <p:spPr>
          <a:xfrm>
            <a:off x="9579864" y="4534003"/>
            <a:ext cx="44399" cy="697787"/>
          </a:xfrm>
          <a:prstGeom prst="roundRect">
            <a:avLst>
              <a:gd name="adj" fmla="val 41190"/>
            </a:avLst>
          </a:prstGeom>
          <a:solidFill>
            <a:srgbClr val="0F766E">
              <a:alpha val="92000"/>
            </a:srgbClr>
          </a:solidFill>
          <a:ln w="12700">
            <a:solidFill>
              <a:srgbClr val="0F766E">
                <a:alpha val="0"/>
              </a:srgbClr>
            </a:solidFill>
            <a:prstDash val="solid"/>
          </a:ln>
        </p:spPr>
      </p:sp>
      <p:sp>
        <p:nvSpPr>
          <p:cNvPr id="51" name="Shape 46"/>
          <p:cNvSpPr/>
          <p:nvPr/>
        </p:nvSpPr>
        <p:spPr>
          <a:xfrm>
            <a:off x="9676384" y="4757339"/>
            <a:ext cx="44399" cy="251114"/>
          </a:xfrm>
          <a:prstGeom prst="roundRect">
            <a:avLst>
              <a:gd name="adj" fmla="val 41190"/>
            </a:avLst>
          </a:prstGeom>
          <a:solidFill>
            <a:srgbClr val="0F766E">
              <a:alpha val="92000"/>
            </a:srgbClr>
          </a:solidFill>
          <a:ln w="12700">
            <a:solidFill>
              <a:srgbClr val="0F766E">
                <a:alpha val="0"/>
              </a:srgbClr>
            </a:solidFill>
            <a:prstDash val="solid"/>
          </a:ln>
        </p:spPr>
      </p:sp>
      <p:sp>
        <p:nvSpPr>
          <p:cNvPr id="52" name="Shape 47"/>
          <p:cNvSpPr/>
          <p:nvPr/>
        </p:nvSpPr>
        <p:spPr>
          <a:xfrm>
            <a:off x="9772904" y="4778510"/>
            <a:ext cx="44399" cy="208773"/>
          </a:xfrm>
          <a:prstGeom prst="roundRect">
            <a:avLst>
              <a:gd name="adj" fmla="val 41190"/>
            </a:avLst>
          </a:prstGeom>
          <a:solidFill>
            <a:srgbClr val="0F766E">
              <a:alpha val="92000"/>
            </a:srgbClr>
          </a:solidFill>
          <a:ln w="12700">
            <a:solidFill>
              <a:srgbClr val="0F766E">
                <a:alpha val="0"/>
              </a:srgbClr>
            </a:solidFill>
            <a:prstDash val="solid"/>
          </a:ln>
        </p:spPr>
      </p:sp>
      <p:sp>
        <p:nvSpPr>
          <p:cNvPr id="53" name="Shape 48"/>
          <p:cNvSpPr/>
          <p:nvPr/>
        </p:nvSpPr>
        <p:spPr>
          <a:xfrm>
            <a:off x="9869424" y="4777824"/>
            <a:ext cx="44399" cy="210145"/>
          </a:xfrm>
          <a:prstGeom prst="roundRect">
            <a:avLst>
              <a:gd name="adj" fmla="val 41190"/>
            </a:avLst>
          </a:prstGeom>
          <a:solidFill>
            <a:srgbClr val="0F766E">
              <a:alpha val="92000"/>
            </a:srgbClr>
          </a:solidFill>
          <a:ln w="12700">
            <a:solidFill>
              <a:srgbClr val="0F766E">
                <a:alpha val="0"/>
              </a:srgbClr>
            </a:solidFill>
            <a:prstDash val="solid"/>
          </a:ln>
        </p:spPr>
      </p:sp>
      <p:sp>
        <p:nvSpPr>
          <p:cNvPr id="54" name="Shape 49"/>
          <p:cNvSpPr/>
          <p:nvPr/>
        </p:nvSpPr>
        <p:spPr>
          <a:xfrm>
            <a:off x="9965944" y="4702871"/>
            <a:ext cx="44399" cy="360050"/>
          </a:xfrm>
          <a:prstGeom prst="roundRect">
            <a:avLst>
              <a:gd name="adj" fmla="val 41190"/>
            </a:avLst>
          </a:prstGeom>
          <a:solidFill>
            <a:srgbClr val="0F766E">
              <a:alpha val="92000"/>
            </a:srgbClr>
          </a:solidFill>
          <a:ln w="12700">
            <a:solidFill>
              <a:srgbClr val="0F766E">
                <a:alpha val="0"/>
              </a:srgbClr>
            </a:solidFill>
            <a:prstDash val="solid"/>
          </a:ln>
        </p:spPr>
      </p:sp>
      <p:sp>
        <p:nvSpPr>
          <p:cNvPr id="55" name="Shape 50"/>
          <p:cNvSpPr/>
          <p:nvPr/>
        </p:nvSpPr>
        <p:spPr>
          <a:xfrm>
            <a:off x="10062464" y="4623754"/>
            <a:ext cx="44399" cy="518284"/>
          </a:xfrm>
          <a:prstGeom prst="roundRect">
            <a:avLst>
              <a:gd name="adj" fmla="val 41190"/>
            </a:avLst>
          </a:prstGeom>
          <a:solidFill>
            <a:srgbClr val="0F766E">
              <a:alpha val="92000"/>
            </a:srgbClr>
          </a:solidFill>
          <a:ln w="12700">
            <a:solidFill>
              <a:srgbClr val="0F766E">
                <a:alpha val="0"/>
              </a:srgbClr>
            </a:solidFill>
            <a:prstDash val="solid"/>
          </a:ln>
        </p:spPr>
      </p:sp>
      <p:sp>
        <p:nvSpPr>
          <p:cNvPr id="56" name="Shape 51"/>
          <p:cNvSpPr/>
          <p:nvPr/>
        </p:nvSpPr>
        <p:spPr>
          <a:xfrm>
            <a:off x="10158984" y="4738576"/>
            <a:ext cx="44399" cy="288641"/>
          </a:xfrm>
          <a:prstGeom prst="roundRect">
            <a:avLst>
              <a:gd name="adj" fmla="val 41190"/>
            </a:avLst>
          </a:prstGeom>
          <a:solidFill>
            <a:srgbClr val="0F766E">
              <a:alpha val="92000"/>
            </a:srgbClr>
          </a:solidFill>
          <a:ln w="12700">
            <a:solidFill>
              <a:srgbClr val="0F766E">
                <a:alpha val="0"/>
              </a:srgbClr>
            </a:solidFill>
            <a:prstDash val="solid"/>
          </a:ln>
        </p:spPr>
      </p:sp>
      <p:sp>
        <p:nvSpPr>
          <p:cNvPr id="57" name="Shape 52"/>
          <p:cNvSpPr/>
          <p:nvPr/>
        </p:nvSpPr>
        <p:spPr>
          <a:xfrm>
            <a:off x="10255504" y="4655822"/>
            <a:ext cx="44399" cy="454147"/>
          </a:xfrm>
          <a:prstGeom prst="roundRect">
            <a:avLst>
              <a:gd name="adj" fmla="val 41190"/>
            </a:avLst>
          </a:prstGeom>
          <a:solidFill>
            <a:srgbClr val="0F766E">
              <a:alpha val="92000"/>
            </a:srgbClr>
          </a:solidFill>
          <a:ln w="12700">
            <a:solidFill>
              <a:srgbClr val="0F766E">
                <a:alpha val="0"/>
              </a:srgbClr>
            </a:solidFill>
            <a:prstDash val="solid"/>
          </a:ln>
        </p:spPr>
      </p:sp>
      <p:sp>
        <p:nvSpPr>
          <p:cNvPr id="58" name="Shape 53"/>
          <p:cNvSpPr/>
          <p:nvPr/>
        </p:nvSpPr>
        <p:spPr>
          <a:xfrm>
            <a:off x="10352024" y="4835656"/>
            <a:ext cx="44399" cy="94480"/>
          </a:xfrm>
          <a:prstGeom prst="roundRect">
            <a:avLst>
              <a:gd name="adj" fmla="val 41190"/>
            </a:avLst>
          </a:prstGeom>
          <a:solidFill>
            <a:srgbClr val="0F766E">
              <a:alpha val="92000"/>
            </a:srgbClr>
          </a:solidFill>
          <a:ln w="12700">
            <a:solidFill>
              <a:srgbClr val="0F766E">
                <a:alpha val="0"/>
              </a:srgbClr>
            </a:solidFill>
            <a:prstDash val="solid"/>
          </a:ln>
        </p:spPr>
      </p:sp>
      <p:sp>
        <p:nvSpPr>
          <p:cNvPr id="59" name="Shape 54"/>
          <p:cNvSpPr/>
          <p:nvPr/>
        </p:nvSpPr>
        <p:spPr>
          <a:xfrm>
            <a:off x="10448544" y="4842113"/>
            <a:ext cx="44399" cy="81567"/>
          </a:xfrm>
          <a:prstGeom prst="roundRect">
            <a:avLst>
              <a:gd name="adj" fmla="val 41190"/>
            </a:avLst>
          </a:prstGeom>
          <a:solidFill>
            <a:srgbClr val="0F766E">
              <a:alpha val="92000"/>
            </a:srgbClr>
          </a:solidFill>
          <a:ln w="12700">
            <a:solidFill>
              <a:srgbClr val="0F766E">
                <a:alpha val="0"/>
              </a:srgbClr>
            </a:solidFill>
            <a:prstDash val="solid"/>
          </a:ln>
        </p:spPr>
      </p:sp>
      <p:sp>
        <p:nvSpPr>
          <p:cNvPr id="60" name="Shape 55"/>
          <p:cNvSpPr/>
          <p:nvPr/>
        </p:nvSpPr>
        <p:spPr>
          <a:xfrm>
            <a:off x="10545064" y="4837410"/>
            <a:ext cx="44399" cy="90972"/>
          </a:xfrm>
          <a:prstGeom prst="roundRect">
            <a:avLst>
              <a:gd name="adj" fmla="val 41190"/>
            </a:avLst>
          </a:prstGeom>
          <a:solidFill>
            <a:srgbClr val="0F766E">
              <a:alpha val="92000"/>
            </a:srgbClr>
          </a:solidFill>
          <a:ln w="12700">
            <a:solidFill>
              <a:srgbClr val="0F766E">
                <a:alpha val="0"/>
              </a:srgbClr>
            </a:solidFill>
            <a:prstDash val="solid"/>
          </a:ln>
        </p:spPr>
      </p:sp>
      <p:sp>
        <p:nvSpPr>
          <p:cNvPr id="61" name="Shape 56"/>
          <p:cNvSpPr/>
          <p:nvPr/>
        </p:nvSpPr>
        <p:spPr>
          <a:xfrm>
            <a:off x="10641584" y="4750594"/>
            <a:ext cx="44399" cy="264605"/>
          </a:xfrm>
          <a:prstGeom prst="roundRect">
            <a:avLst>
              <a:gd name="adj" fmla="val 41190"/>
            </a:avLst>
          </a:prstGeom>
          <a:solidFill>
            <a:srgbClr val="0F766E">
              <a:alpha val="92000"/>
            </a:srgbClr>
          </a:solidFill>
          <a:ln w="12700">
            <a:solidFill>
              <a:srgbClr val="0F766E">
                <a:alpha val="0"/>
              </a:srgbClr>
            </a:solidFill>
            <a:prstDash val="solid"/>
          </a:ln>
        </p:spPr>
      </p:sp>
      <p:sp>
        <p:nvSpPr>
          <p:cNvPr id="62" name="Shape 57"/>
          <p:cNvSpPr/>
          <p:nvPr/>
        </p:nvSpPr>
        <p:spPr>
          <a:xfrm>
            <a:off x="10738104" y="4799140"/>
            <a:ext cx="44399" cy="167513"/>
          </a:xfrm>
          <a:prstGeom prst="roundRect">
            <a:avLst>
              <a:gd name="adj" fmla="val 41190"/>
            </a:avLst>
          </a:prstGeom>
          <a:solidFill>
            <a:srgbClr val="0F766E">
              <a:alpha val="92000"/>
            </a:srgbClr>
          </a:solidFill>
          <a:ln w="12700">
            <a:solidFill>
              <a:srgbClr val="0F766E">
                <a:alpha val="0"/>
              </a:srgbClr>
            </a:solidFill>
            <a:prstDash val="solid"/>
          </a:ln>
        </p:spPr>
      </p:sp>
      <p:sp>
        <p:nvSpPr>
          <p:cNvPr id="63" name="Shape 58"/>
          <p:cNvSpPr/>
          <p:nvPr/>
        </p:nvSpPr>
        <p:spPr>
          <a:xfrm>
            <a:off x="10834624" y="4792388"/>
            <a:ext cx="44399" cy="181015"/>
          </a:xfrm>
          <a:prstGeom prst="roundRect">
            <a:avLst>
              <a:gd name="adj" fmla="val 41190"/>
            </a:avLst>
          </a:prstGeom>
          <a:solidFill>
            <a:srgbClr val="0F766E">
              <a:alpha val="92000"/>
            </a:srgbClr>
          </a:solidFill>
          <a:ln w="12700">
            <a:solidFill>
              <a:srgbClr val="0F766E">
                <a:alpha val="0"/>
              </a:srgbClr>
            </a:solidFill>
            <a:prstDash val="solid"/>
          </a:ln>
        </p:spPr>
      </p:sp>
      <p:sp>
        <p:nvSpPr>
          <p:cNvPr id="64" name="Shape 59"/>
          <p:cNvSpPr/>
          <p:nvPr/>
        </p:nvSpPr>
        <p:spPr>
          <a:xfrm>
            <a:off x="10931144" y="4827601"/>
            <a:ext cx="44399" cy="110590"/>
          </a:xfrm>
          <a:prstGeom prst="roundRect">
            <a:avLst>
              <a:gd name="adj" fmla="val 41190"/>
            </a:avLst>
          </a:prstGeom>
          <a:solidFill>
            <a:srgbClr val="0F766E">
              <a:alpha val="92000"/>
            </a:srgbClr>
          </a:solidFill>
          <a:ln w="12700">
            <a:solidFill>
              <a:srgbClr val="0F766E">
                <a:alpha val="0"/>
              </a:srgbClr>
            </a:solidFill>
            <a:prstDash val="solid"/>
          </a:ln>
        </p:spPr>
      </p:sp>
      <p:sp>
        <p:nvSpPr>
          <p:cNvPr id="65" name="Text 60"/>
          <p:cNvSpPr txBox="1"/>
          <p:nvPr/>
        </p:nvSpPr>
        <p:spPr>
          <a:xfrm>
            <a:off x="7552944" y="5413248"/>
            <a:ext cx="3474720" cy="256032"/>
          </a:xfrm>
          <a:prstGeom prst="rect">
            <a:avLst/>
          </a:prstGeom>
          <a:noFill/>
          <a:ln/>
        </p:spPr>
        <p:txBody>
          <a:bodyPr wrap="square" lIns="0" tIns="0" rIns="0" bIns="0" rtlCol="0" anchor="ctr">
            <a:normAutofit/>
          </a:bodyPr>
          <a:lstStyle/>
          <a:p>
            <a:pPr marL="0" indent="0" algn="ctr">
              <a:buNone/>
            </a:pPr>
            <a:r>
              <a:rPr lang="en-US" sz="1050" dirty="0">
                <a:solidFill>
                  <a:srgbClr val="64748B"/>
                </a:solidFill>
                <a:latin typeface="Arial" pitchFamily="34" charset="0"/>
                <a:ea typeface="Arial" pitchFamily="34" charset="-122"/>
                <a:cs typeface="Arial" pitchFamily="34" charset="-120"/>
              </a:rPr>
              <a:t>400 × 69 ms ≈ 27,6 s inference</a:t>
            </a:r>
            <a:endParaRPr lang="en-US" sz="1050" dirty="0"/>
          </a:p>
        </p:txBody>
      </p:sp>
      <p:sp>
        <p:nvSpPr>
          <p:cNvPr id="66" name="Shape 61"/>
          <p:cNvSpPr/>
          <p:nvPr/>
        </p:nvSpPr>
        <p:spPr>
          <a:xfrm>
            <a:off x="8723376" y="5705856"/>
            <a:ext cx="2304288" cy="292608"/>
          </a:xfrm>
          <a:prstGeom prst="roundRect">
            <a:avLst>
              <a:gd name="adj" fmla="val 12500"/>
            </a:avLst>
          </a:prstGeom>
          <a:solidFill>
            <a:srgbClr val="FEF3C7"/>
          </a:solidFill>
          <a:ln w="12700">
            <a:solidFill>
              <a:srgbClr val="FEF3C7"/>
            </a:solidFill>
            <a:prstDash val="solid"/>
          </a:ln>
        </p:spPr>
      </p:sp>
      <p:sp>
        <p:nvSpPr>
          <p:cNvPr id="67" name="Text 62"/>
          <p:cNvSpPr txBox="1"/>
          <p:nvPr/>
        </p:nvSpPr>
        <p:spPr>
          <a:xfrm>
            <a:off x="8796528" y="5705856"/>
            <a:ext cx="2157984" cy="292608"/>
          </a:xfrm>
          <a:prstGeom prst="rect">
            <a:avLst/>
          </a:prstGeom>
          <a:noFill/>
          <a:ln/>
        </p:spPr>
        <p:txBody>
          <a:bodyPr wrap="square" lIns="0" tIns="0" rIns="0" bIns="0" rtlCol="0" anchor="ctr">
            <a:normAutofit/>
          </a:bodyPr>
          <a:lstStyle/>
          <a:p>
            <a:pPr marL="0" indent="0" algn="ctr">
              <a:buNone/>
            </a:pPr>
            <a:r>
              <a:rPr lang="en-US" sz="950" b="1" dirty="0">
                <a:solidFill>
                  <a:srgbClr val="B45309"/>
                </a:solidFill>
                <a:latin typeface="Arial" pitchFamily="34" charset="0"/>
                <a:ea typeface="Arial" pitchFamily="34" charset="-122"/>
                <a:cs typeface="Arial" pitchFamily="34" charset="-120"/>
              </a:rPr>
              <a:t>Nhanh ≠ chính xác</a:t>
            </a:r>
            <a:endParaRPr lang="en-US" sz="950" dirty="0"/>
          </a:p>
        </p:txBody>
      </p:sp>
      <p:sp>
        <p:nvSpPr>
          <p:cNvPr id="68" name="Shape 63"/>
          <p:cNvSpPr/>
          <p:nvPr/>
        </p:nvSpPr>
        <p:spPr>
          <a:xfrm>
            <a:off x="530352" y="6382512"/>
            <a:ext cx="11128248" cy="0"/>
          </a:xfrm>
          <a:prstGeom prst="line">
            <a:avLst/>
          </a:prstGeom>
          <a:noFill/>
          <a:ln w="10160">
            <a:solidFill>
              <a:srgbClr val="E2E8F0"/>
            </a:solidFill>
            <a:prstDash val="solid"/>
          </a:ln>
        </p:spPr>
      </p:sp>
      <p:sp>
        <p:nvSpPr>
          <p:cNvPr id="69" name="Text 64"/>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docs/BENCHMARK.md • scores.json • meralion_predictions.csv (mean 69.012 ms).</a:t>
            </a:r>
            <a:endParaRPr lang="en-US" sz="850" dirty="0"/>
          </a:p>
        </p:txBody>
      </p:sp>
      <p:sp>
        <p:nvSpPr>
          <p:cNvPr id="70"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17  /  TRIỂN KHAI</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HF Space biến repo thành demo công khai</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Gradio app được build trên CPU Basic; lần đầu cần tải và load model.</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658368" y="1975104"/>
            <a:ext cx="2157984" cy="1993392"/>
          </a:xfrm>
          <a:prstGeom prst="roundRect">
            <a:avLst>
              <a:gd name="adj" fmla="val 2294"/>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841248" y="2176272"/>
            <a:ext cx="493776" cy="493776"/>
          </a:xfrm>
          <a:prstGeom prst="ellipse">
            <a:avLst/>
          </a:prstGeom>
          <a:solidFill>
            <a:srgbClr val="DBEAFE"/>
          </a:solidFill>
          <a:ln w="12700">
            <a:solidFill>
              <a:srgbClr val="DBEAFE"/>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4692" y="2299716"/>
            <a:ext cx="246888" cy="246888"/>
          </a:xfrm>
          <a:prstGeom prst="rect">
            <a:avLst/>
          </a:prstGeom>
        </p:spPr>
      </p:pic>
      <p:sp>
        <p:nvSpPr>
          <p:cNvPr id="10" name="Text 7"/>
          <p:cNvSpPr txBox="1"/>
          <p:nvPr/>
        </p:nvSpPr>
        <p:spPr>
          <a:xfrm>
            <a:off x="841248" y="2761488"/>
            <a:ext cx="1792224"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Git repo</a:t>
            </a:r>
            <a:endParaRPr lang="en-US" sz="1350" dirty="0"/>
          </a:p>
        </p:txBody>
      </p:sp>
      <p:sp>
        <p:nvSpPr>
          <p:cNvPr id="11" name="Text 8"/>
          <p:cNvSpPr txBox="1"/>
          <p:nvPr/>
        </p:nvSpPr>
        <p:spPr>
          <a:xfrm>
            <a:off x="822960" y="3090672"/>
            <a:ext cx="1828800" cy="768096"/>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app.py + requirements</a:t>
            </a:r>
            <a:endParaRPr lang="en-US" sz="950" dirty="0"/>
          </a:p>
        </p:txBody>
      </p:sp>
      <p:sp>
        <p:nvSpPr>
          <p:cNvPr id="12" name="Shape 9"/>
          <p:cNvSpPr/>
          <p:nvPr/>
        </p:nvSpPr>
        <p:spPr>
          <a:xfrm>
            <a:off x="2871216" y="2980944"/>
            <a:ext cx="530352" cy="0"/>
          </a:xfrm>
          <a:prstGeom prst="line">
            <a:avLst/>
          </a:prstGeom>
          <a:noFill/>
          <a:ln w="22860">
            <a:solidFill>
              <a:srgbClr val="1D4ED8"/>
            </a:solidFill>
            <a:prstDash val="solid"/>
            <a:tailEnd type="triangle"/>
          </a:ln>
        </p:spPr>
      </p:sp>
      <p:sp>
        <p:nvSpPr>
          <p:cNvPr id="13" name="Shape 10"/>
          <p:cNvSpPr/>
          <p:nvPr/>
        </p:nvSpPr>
        <p:spPr>
          <a:xfrm>
            <a:off x="3547872" y="1975104"/>
            <a:ext cx="2157984" cy="1993392"/>
          </a:xfrm>
          <a:prstGeom prst="roundRect">
            <a:avLst>
              <a:gd name="adj" fmla="val 2294"/>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4" name="Shape 11"/>
          <p:cNvSpPr/>
          <p:nvPr/>
        </p:nvSpPr>
        <p:spPr>
          <a:xfrm>
            <a:off x="3730752" y="2176272"/>
            <a:ext cx="493776" cy="493776"/>
          </a:xfrm>
          <a:prstGeom prst="ellipse">
            <a:avLst/>
          </a:prstGeom>
          <a:solidFill>
            <a:srgbClr val="DBEAFE"/>
          </a:solidFill>
          <a:ln w="12700">
            <a:solidFill>
              <a:srgbClr val="DBEAFE"/>
            </a:solidFill>
            <a:prstDash val="solid"/>
          </a:ln>
        </p:spPr>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54196" y="2299716"/>
            <a:ext cx="246888" cy="246888"/>
          </a:xfrm>
          <a:prstGeom prst="rect">
            <a:avLst/>
          </a:prstGeom>
        </p:spPr>
      </p:pic>
      <p:sp>
        <p:nvSpPr>
          <p:cNvPr id="16" name="Text 12"/>
          <p:cNvSpPr txBox="1"/>
          <p:nvPr/>
        </p:nvSpPr>
        <p:spPr>
          <a:xfrm>
            <a:off x="3730752" y="2761488"/>
            <a:ext cx="1792224"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HF Space</a:t>
            </a:r>
            <a:endParaRPr lang="en-US" sz="1350" dirty="0"/>
          </a:p>
        </p:txBody>
      </p:sp>
      <p:sp>
        <p:nvSpPr>
          <p:cNvPr id="17" name="Text 13"/>
          <p:cNvSpPr txBox="1"/>
          <p:nvPr/>
        </p:nvSpPr>
        <p:spPr>
          <a:xfrm>
            <a:off x="3712464" y="3090672"/>
            <a:ext cx="1828800" cy="768096"/>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Gradio • CPU Basic</a:t>
            </a:r>
            <a:endParaRPr lang="en-US" sz="950" dirty="0"/>
          </a:p>
        </p:txBody>
      </p:sp>
      <p:sp>
        <p:nvSpPr>
          <p:cNvPr id="18" name="Shape 14"/>
          <p:cNvSpPr/>
          <p:nvPr/>
        </p:nvSpPr>
        <p:spPr>
          <a:xfrm>
            <a:off x="5760720" y="2980944"/>
            <a:ext cx="530352" cy="0"/>
          </a:xfrm>
          <a:prstGeom prst="line">
            <a:avLst/>
          </a:prstGeom>
          <a:noFill/>
          <a:ln w="22860">
            <a:solidFill>
              <a:srgbClr val="1D4ED8"/>
            </a:solidFill>
            <a:prstDash val="solid"/>
            <a:tailEnd type="triangle"/>
          </a:ln>
        </p:spPr>
      </p:sp>
      <p:sp>
        <p:nvSpPr>
          <p:cNvPr id="19" name="Shape 15"/>
          <p:cNvSpPr/>
          <p:nvPr/>
        </p:nvSpPr>
        <p:spPr>
          <a:xfrm>
            <a:off x="6437376" y="1975104"/>
            <a:ext cx="2157984" cy="1993392"/>
          </a:xfrm>
          <a:prstGeom prst="roundRect">
            <a:avLst>
              <a:gd name="adj" fmla="val 2294"/>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0" name="Shape 16"/>
          <p:cNvSpPr/>
          <p:nvPr/>
        </p:nvSpPr>
        <p:spPr>
          <a:xfrm>
            <a:off x="6620256" y="2176272"/>
            <a:ext cx="493776" cy="493776"/>
          </a:xfrm>
          <a:prstGeom prst="ellipse">
            <a:avLst/>
          </a:prstGeom>
          <a:solidFill>
            <a:srgbClr val="DCFCE7"/>
          </a:solidFill>
          <a:ln w="12700">
            <a:solidFill>
              <a:srgbClr val="DCFCE7"/>
            </a:solidFill>
            <a:prstDash val="solid"/>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43700" y="2299716"/>
            <a:ext cx="246888" cy="246888"/>
          </a:xfrm>
          <a:prstGeom prst="rect">
            <a:avLst/>
          </a:prstGeom>
        </p:spPr>
      </p:pic>
      <p:sp>
        <p:nvSpPr>
          <p:cNvPr id="22" name="Text 17"/>
          <p:cNvSpPr txBox="1"/>
          <p:nvPr/>
        </p:nvSpPr>
        <p:spPr>
          <a:xfrm>
            <a:off x="6620256" y="2761488"/>
            <a:ext cx="1792224"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Model Hub</a:t>
            </a:r>
            <a:endParaRPr lang="en-US" sz="1350" dirty="0"/>
          </a:p>
        </p:txBody>
      </p:sp>
      <p:sp>
        <p:nvSpPr>
          <p:cNvPr id="23" name="Text 18"/>
          <p:cNvSpPr txBox="1"/>
          <p:nvPr/>
        </p:nvSpPr>
        <p:spPr>
          <a:xfrm>
            <a:off x="6601968" y="3090672"/>
            <a:ext cx="1828800" cy="768096"/>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MERaLiON-SER-v1</a:t>
            </a:r>
            <a:endParaRPr lang="en-US" sz="950" dirty="0"/>
          </a:p>
        </p:txBody>
      </p:sp>
      <p:sp>
        <p:nvSpPr>
          <p:cNvPr id="24" name="Shape 19"/>
          <p:cNvSpPr/>
          <p:nvPr/>
        </p:nvSpPr>
        <p:spPr>
          <a:xfrm>
            <a:off x="8650224" y="2980944"/>
            <a:ext cx="530352" cy="0"/>
          </a:xfrm>
          <a:prstGeom prst="line">
            <a:avLst/>
          </a:prstGeom>
          <a:noFill/>
          <a:ln w="22860">
            <a:solidFill>
              <a:srgbClr val="1D4ED8"/>
            </a:solidFill>
            <a:prstDash val="solid"/>
            <a:tailEnd type="triangle"/>
          </a:ln>
        </p:spPr>
      </p:sp>
      <p:sp>
        <p:nvSpPr>
          <p:cNvPr id="25" name="Shape 20"/>
          <p:cNvSpPr/>
          <p:nvPr/>
        </p:nvSpPr>
        <p:spPr>
          <a:xfrm>
            <a:off x="9326880" y="1975104"/>
            <a:ext cx="2157984" cy="1993392"/>
          </a:xfrm>
          <a:prstGeom prst="roundRect">
            <a:avLst>
              <a:gd name="adj" fmla="val 2294"/>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6" name="Shape 21"/>
          <p:cNvSpPr/>
          <p:nvPr/>
        </p:nvSpPr>
        <p:spPr>
          <a:xfrm>
            <a:off x="9509760" y="2176272"/>
            <a:ext cx="493776" cy="493776"/>
          </a:xfrm>
          <a:prstGeom prst="ellipse">
            <a:avLst/>
          </a:prstGeom>
          <a:solidFill>
            <a:srgbClr val="DBEAFE"/>
          </a:solidFill>
          <a:ln w="12700">
            <a:solidFill>
              <a:srgbClr val="DBEAFE"/>
            </a:solidFill>
            <a:prstDash val="solid"/>
          </a:ln>
        </p:spPr>
      </p:sp>
      <p:pic>
        <p:nvPicPr>
          <p:cNvPr id="2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33204" y="2299716"/>
            <a:ext cx="246888" cy="246888"/>
          </a:xfrm>
          <a:prstGeom prst="rect">
            <a:avLst/>
          </a:prstGeom>
        </p:spPr>
      </p:pic>
      <p:sp>
        <p:nvSpPr>
          <p:cNvPr id="28" name="Text 22"/>
          <p:cNvSpPr txBox="1"/>
          <p:nvPr/>
        </p:nvSpPr>
        <p:spPr>
          <a:xfrm>
            <a:off x="9509760" y="2761488"/>
            <a:ext cx="1792224" cy="347472"/>
          </a:xfrm>
          <a:prstGeom prst="rect">
            <a:avLst/>
          </a:prstGeom>
          <a:noFill/>
          <a:ln/>
        </p:spPr>
        <p:txBody>
          <a:bodyPr wrap="square" lIns="0" tIns="0" rIns="0" bIns="0" rtlCol="0" anchor="ctr">
            <a:normAutofit/>
          </a:bodyPr>
          <a:lstStyle/>
          <a:p>
            <a:pPr marL="0" indent="0" algn="ctr">
              <a:buNone/>
            </a:pPr>
            <a:r>
              <a:rPr lang="en-US" sz="1350" b="1" dirty="0">
                <a:solidFill>
                  <a:srgbClr val="0F172A"/>
                </a:solidFill>
                <a:latin typeface="Arial" pitchFamily="34" charset="0"/>
                <a:ea typeface="Arial" pitchFamily="34" charset="-122"/>
                <a:cs typeface="Arial" pitchFamily="34" charset="-120"/>
              </a:rPr>
              <a:t>Người dùng</a:t>
            </a:r>
            <a:endParaRPr lang="en-US" sz="1350" dirty="0"/>
          </a:p>
        </p:txBody>
      </p:sp>
      <p:sp>
        <p:nvSpPr>
          <p:cNvPr id="29" name="Text 23"/>
          <p:cNvSpPr txBox="1"/>
          <p:nvPr/>
        </p:nvSpPr>
        <p:spPr>
          <a:xfrm>
            <a:off x="9491472" y="3090672"/>
            <a:ext cx="1828800" cy="768096"/>
          </a:xfrm>
          <a:prstGeom prst="rect">
            <a:avLst/>
          </a:prstGeom>
          <a:noFill/>
          <a:ln/>
        </p:spPr>
        <p:txBody>
          <a:bodyPr wrap="square" lIns="0" tIns="0" rIns="0" bIns="0" rtlCol="0" anchor="t">
            <a:normAutofit/>
          </a:bodyPr>
          <a:lstStyle/>
          <a:p>
            <a:pPr marL="0" indent="0" algn="ctr">
              <a:buNone/>
            </a:pPr>
            <a:r>
              <a:rPr lang="en-US" sz="950" dirty="0">
                <a:solidFill>
                  <a:srgbClr val="64748B"/>
                </a:solidFill>
                <a:latin typeface="Arial" pitchFamily="34" charset="0"/>
                <a:ea typeface="Arial" pitchFamily="34" charset="-122"/>
                <a:cs typeface="Arial" pitchFamily="34" charset="-120"/>
              </a:rPr>
              <a:t>browser public</a:t>
            </a:r>
            <a:endParaRPr lang="en-US" sz="950" dirty="0"/>
          </a:p>
        </p:txBody>
      </p:sp>
      <p:sp>
        <p:nvSpPr>
          <p:cNvPr id="30" name="Shape 24"/>
          <p:cNvSpPr/>
          <p:nvPr/>
        </p:nvSpPr>
        <p:spPr>
          <a:xfrm>
            <a:off x="658368" y="4334256"/>
            <a:ext cx="10981944" cy="1371600"/>
          </a:xfrm>
          <a:prstGeom prst="roundRect">
            <a:avLst>
              <a:gd name="adj" fmla="val 3333"/>
            </a:avLst>
          </a:prstGeom>
          <a:solidFill>
            <a:srgbClr val="0F172A"/>
          </a:solidFill>
          <a:ln w="12700">
            <a:solidFill>
              <a:srgbClr val="0F172A"/>
            </a:solidFill>
            <a:prstDash val="solid"/>
          </a:ln>
        </p:spPr>
      </p:sp>
      <p:pic>
        <p:nvPicPr>
          <p:cNvPr id="3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5840" y="4690872"/>
            <a:ext cx="475488" cy="475488"/>
          </a:xfrm>
          <a:prstGeom prst="rect">
            <a:avLst/>
          </a:prstGeom>
        </p:spPr>
      </p:pic>
      <p:sp>
        <p:nvSpPr>
          <p:cNvPr id="32" name="Text 25"/>
          <p:cNvSpPr txBox="1"/>
          <p:nvPr/>
        </p:nvSpPr>
        <p:spPr>
          <a:xfrm>
            <a:off x="1664208" y="4553712"/>
            <a:ext cx="1353312" cy="274320"/>
          </a:xfrm>
          <a:prstGeom prst="rect">
            <a:avLst/>
          </a:prstGeom>
          <a:noFill/>
          <a:ln/>
        </p:spPr>
        <p:txBody>
          <a:bodyPr wrap="square" lIns="0" tIns="0" rIns="0" bIns="0" rtlCol="0" anchor="ctr">
            <a:normAutofit/>
          </a:bodyPr>
          <a:lstStyle/>
          <a:p>
            <a:pPr marL="0" indent="0" algn="l">
              <a:buNone/>
            </a:pPr>
            <a:r>
              <a:rPr lang="en-US" sz="1100" b="1" dirty="0">
                <a:solidFill>
                  <a:srgbClr val="BAE6FD"/>
                </a:solidFill>
                <a:latin typeface="Arial" pitchFamily="34" charset="0"/>
                <a:ea typeface="Arial" pitchFamily="34" charset="-122"/>
                <a:cs typeface="Arial" pitchFamily="34" charset="-120"/>
              </a:rPr>
              <a:t>Cold start</a:t>
            </a:r>
            <a:endParaRPr lang="en-US" sz="1100" dirty="0"/>
          </a:p>
        </p:txBody>
      </p:sp>
      <p:sp>
        <p:nvSpPr>
          <p:cNvPr id="33" name="Text 26"/>
          <p:cNvSpPr txBox="1"/>
          <p:nvPr/>
        </p:nvSpPr>
        <p:spPr>
          <a:xfrm>
            <a:off x="1664208" y="4901184"/>
            <a:ext cx="2962656" cy="329184"/>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rial" pitchFamily="34" charset="0"/>
                <a:ea typeface="Arial" pitchFamily="34" charset="-122"/>
                <a:cs typeface="Arial" pitchFamily="34" charset="-120"/>
              </a:rPr>
              <a:t>Model load lần đầu ≈ 30 s trên CPU</a:t>
            </a:r>
            <a:endParaRPr lang="en-US" sz="1400" dirty="0"/>
          </a:p>
        </p:txBody>
      </p:sp>
      <p:sp>
        <p:nvSpPr>
          <p:cNvPr id="34" name="Shape 27"/>
          <p:cNvSpPr/>
          <p:nvPr/>
        </p:nvSpPr>
        <p:spPr>
          <a:xfrm>
            <a:off x="4956048" y="4608576"/>
            <a:ext cx="0" cy="804672"/>
          </a:xfrm>
          <a:prstGeom prst="line">
            <a:avLst/>
          </a:prstGeom>
          <a:noFill/>
          <a:ln w="12700">
            <a:solidFill>
              <a:srgbClr val="334155"/>
            </a:solidFill>
            <a:prstDash val="solid"/>
          </a:ln>
        </p:spPr>
      </p:sp>
      <p:pic>
        <p:nvPicPr>
          <p:cNvPr id="3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21808" y="4690872"/>
            <a:ext cx="475488" cy="475488"/>
          </a:xfrm>
          <a:prstGeom prst="rect">
            <a:avLst/>
          </a:prstGeom>
        </p:spPr>
      </p:pic>
      <p:sp>
        <p:nvSpPr>
          <p:cNvPr id="36" name="Text 28"/>
          <p:cNvSpPr txBox="1"/>
          <p:nvPr/>
        </p:nvSpPr>
        <p:spPr>
          <a:xfrm>
            <a:off x="5980176" y="4553712"/>
            <a:ext cx="1097280" cy="274320"/>
          </a:xfrm>
          <a:prstGeom prst="rect">
            <a:avLst/>
          </a:prstGeom>
          <a:noFill/>
          <a:ln/>
        </p:spPr>
        <p:txBody>
          <a:bodyPr wrap="square" lIns="0" tIns="0" rIns="0" bIns="0" rtlCol="0" anchor="ctr">
            <a:normAutofit/>
          </a:bodyPr>
          <a:lstStyle/>
          <a:p>
            <a:pPr marL="0" indent="0" algn="l">
              <a:buNone/>
            </a:pPr>
            <a:r>
              <a:rPr lang="en-US" sz="1100" b="1" dirty="0">
                <a:solidFill>
                  <a:srgbClr val="A7F3D0"/>
                </a:solidFill>
                <a:latin typeface="Arial" pitchFamily="34" charset="0"/>
                <a:ea typeface="Arial" pitchFamily="34" charset="-122"/>
                <a:cs typeface="Arial" pitchFamily="34" charset="-120"/>
              </a:rPr>
              <a:t>Hosting</a:t>
            </a:r>
            <a:endParaRPr lang="en-US" sz="1100" dirty="0"/>
          </a:p>
        </p:txBody>
      </p:sp>
      <p:sp>
        <p:nvSpPr>
          <p:cNvPr id="37" name="Text 29"/>
          <p:cNvSpPr txBox="1"/>
          <p:nvPr/>
        </p:nvSpPr>
        <p:spPr>
          <a:xfrm>
            <a:off x="5980176" y="4901184"/>
            <a:ext cx="2907792" cy="329184"/>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rial" pitchFamily="34" charset="0"/>
                <a:ea typeface="Arial" pitchFamily="34" charset="-122"/>
                <a:cs typeface="Arial" pitchFamily="34" charset="-120"/>
              </a:rPr>
              <a:t>CPU Basic • 16 GB RAM theo tài liệu</a:t>
            </a:r>
            <a:endParaRPr lang="en-US" sz="1400" dirty="0"/>
          </a:p>
        </p:txBody>
      </p:sp>
      <p:sp>
        <p:nvSpPr>
          <p:cNvPr id="38" name="Shape 30"/>
          <p:cNvSpPr/>
          <p:nvPr/>
        </p:nvSpPr>
        <p:spPr>
          <a:xfrm>
            <a:off x="9253728" y="4718304"/>
            <a:ext cx="1993392" cy="347472"/>
          </a:xfrm>
          <a:prstGeom prst="roundRect">
            <a:avLst>
              <a:gd name="adj" fmla="val 10526"/>
            </a:avLst>
          </a:prstGeom>
          <a:solidFill>
            <a:srgbClr val="17375E"/>
          </a:solidFill>
          <a:ln w="12700">
            <a:solidFill>
              <a:srgbClr val="17375E"/>
            </a:solidFill>
            <a:prstDash val="solid"/>
          </a:ln>
        </p:spPr>
      </p:sp>
      <p:sp>
        <p:nvSpPr>
          <p:cNvPr id="39" name="Text 31"/>
          <p:cNvSpPr txBox="1"/>
          <p:nvPr/>
        </p:nvSpPr>
        <p:spPr>
          <a:xfrm>
            <a:off x="9326880" y="4718304"/>
            <a:ext cx="1847088" cy="347472"/>
          </a:xfrm>
          <a:prstGeom prst="rect">
            <a:avLst/>
          </a:prstGeom>
          <a:noFill/>
          <a:ln/>
        </p:spPr>
        <p:txBody>
          <a:bodyPr wrap="square" lIns="0" tIns="0" rIns="0" bIns="0" rtlCol="0" anchor="ctr">
            <a:normAutofit/>
          </a:bodyPr>
          <a:lstStyle/>
          <a:p>
            <a:pPr marL="0" indent="0" algn="ctr">
              <a:buNone/>
            </a:pPr>
            <a:r>
              <a:rPr lang="en-US" sz="880" b="1" dirty="0">
                <a:solidFill>
                  <a:srgbClr val="BAE6FD"/>
                </a:solidFill>
                <a:latin typeface="Arial" pitchFamily="34" charset="0"/>
                <a:ea typeface="Arial" pitchFamily="34" charset="-122"/>
                <a:cs typeface="Arial" pitchFamily="34" charset="-120"/>
              </a:rPr>
              <a:t>PUBLIC DEMO  •  KHÔNG PRODUCTION</a:t>
            </a:r>
            <a:endParaRPr lang="en-US" sz="880" dirty="0"/>
          </a:p>
        </p:txBody>
      </p:sp>
      <p:sp>
        <p:nvSpPr>
          <p:cNvPr id="40" name="Shape 32"/>
          <p:cNvSpPr/>
          <p:nvPr/>
        </p:nvSpPr>
        <p:spPr>
          <a:xfrm>
            <a:off x="530352" y="6382512"/>
            <a:ext cx="11128248" cy="0"/>
          </a:xfrm>
          <a:prstGeom prst="line">
            <a:avLst/>
          </a:prstGeom>
          <a:noFill/>
          <a:ln w="10160">
            <a:solidFill>
              <a:srgbClr val="E2E8F0"/>
            </a:solidFill>
            <a:prstDash val="solid"/>
          </a:ln>
        </p:spPr>
      </p:sp>
      <p:sp>
        <p:nvSpPr>
          <p:cNvPr id="41" name="Text 33"/>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README.md trong project Gradio • docs/USAGE.md • deployment URL cần thay username thật.</a:t>
            </a:r>
            <a:endParaRPr lang="en-US" sz="850" dirty="0"/>
          </a:p>
        </p:txBody>
      </p:sp>
      <p:sp>
        <p:nvSpPr>
          <p:cNvPr id="42"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18  /  CÀI ĐẶT</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Local setup chỉ cần bốn bước chính</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Python virtual environment giúp cô lập dependencies; CUDA wheel là tùy chọn.</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847088"/>
            <a:ext cx="2560320" cy="3511296"/>
          </a:xfrm>
          <a:prstGeom prst="roundRect">
            <a:avLst>
              <a:gd name="adj" fmla="val 1786"/>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Text 6"/>
          <p:cNvSpPr txBox="1"/>
          <p:nvPr/>
        </p:nvSpPr>
        <p:spPr>
          <a:xfrm>
            <a:off x="786384" y="2029968"/>
            <a:ext cx="566928" cy="329184"/>
          </a:xfrm>
          <a:prstGeom prst="rect">
            <a:avLst/>
          </a:prstGeom>
          <a:noFill/>
          <a:ln/>
        </p:spPr>
        <p:txBody>
          <a:bodyPr wrap="square" lIns="0" tIns="0" rIns="0" bIns="0" rtlCol="0" anchor="ctr">
            <a:normAutofit/>
          </a:bodyPr>
          <a:lstStyle/>
          <a:p>
            <a:pPr marL="0" indent="0" algn="l">
              <a:buNone/>
            </a:pPr>
            <a:r>
              <a:rPr lang="en-US" sz="1300" b="1" dirty="0">
                <a:solidFill>
                  <a:srgbClr val="1D4ED8"/>
                </a:solidFill>
                <a:latin typeface="Arial" pitchFamily="34" charset="0"/>
                <a:ea typeface="Arial" pitchFamily="34" charset="-122"/>
                <a:cs typeface="Arial" pitchFamily="34" charset="-120"/>
              </a:rPr>
              <a:t>01</a:t>
            </a:r>
            <a:endParaRPr lang="en-US" sz="1300" dirty="0"/>
          </a:p>
        </p:txBody>
      </p:sp>
      <p:sp>
        <p:nvSpPr>
          <p:cNvPr id="9" name="Shape 7"/>
          <p:cNvSpPr/>
          <p:nvPr/>
        </p:nvSpPr>
        <p:spPr>
          <a:xfrm>
            <a:off x="2377440" y="1993392"/>
            <a:ext cx="475488" cy="475488"/>
          </a:xfrm>
          <a:prstGeom prst="ellipse">
            <a:avLst/>
          </a:prstGeom>
          <a:solidFill>
            <a:srgbClr val="DBEAFE"/>
          </a:solidFill>
          <a:ln w="12700">
            <a:solidFill>
              <a:srgbClr val="DBEAFE"/>
            </a:solidFill>
            <a:prstDash val="solid"/>
          </a:ln>
        </p:spPr>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96312" y="2112264"/>
            <a:ext cx="237744" cy="237744"/>
          </a:xfrm>
          <a:prstGeom prst="rect">
            <a:avLst/>
          </a:prstGeom>
        </p:spPr>
      </p:pic>
      <p:sp>
        <p:nvSpPr>
          <p:cNvPr id="11" name="Text 8"/>
          <p:cNvSpPr txBox="1"/>
          <p:nvPr/>
        </p:nvSpPr>
        <p:spPr>
          <a:xfrm>
            <a:off x="786384" y="2633472"/>
            <a:ext cx="2103120" cy="420624"/>
          </a:xfrm>
          <a:prstGeom prst="rect">
            <a:avLst/>
          </a:prstGeom>
          <a:noFill/>
          <a:ln/>
        </p:spPr>
        <p:txBody>
          <a:bodyPr wrap="square" lIns="0" tIns="0" rIns="0" bIns="0" rtlCol="0" anchor="ctr">
            <a:normAutofit/>
          </a:bodyPr>
          <a:lstStyle/>
          <a:p>
            <a:pPr marL="0" indent="0" algn="l">
              <a:buNone/>
            </a:pPr>
            <a:r>
              <a:rPr lang="en-US" sz="1600" b="1" dirty="0">
                <a:solidFill>
                  <a:srgbClr val="0F172A"/>
                </a:solidFill>
                <a:latin typeface="Arial" pitchFamily="34" charset="0"/>
                <a:ea typeface="Arial" pitchFamily="34" charset="-122"/>
                <a:cs typeface="Arial" pitchFamily="34" charset="-120"/>
              </a:rPr>
              <a:t>Lấy mã nguồn</a:t>
            </a:r>
            <a:endParaRPr lang="en-US" sz="1600" dirty="0"/>
          </a:p>
        </p:txBody>
      </p:sp>
      <p:sp>
        <p:nvSpPr>
          <p:cNvPr id="12" name="Shape 9"/>
          <p:cNvSpPr/>
          <p:nvPr/>
        </p:nvSpPr>
        <p:spPr>
          <a:xfrm>
            <a:off x="786384" y="3328416"/>
            <a:ext cx="2121408" cy="1426464"/>
          </a:xfrm>
          <a:prstGeom prst="roundRect">
            <a:avLst>
              <a:gd name="adj" fmla="val 1923"/>
            </a:avLst>
          </a:prstGeom>
          <a:solidFill>
            <a:srgbClr val="0F172A"/>
          </a:solidFill>
          <a:ln w="12700">
            <a:solidFill>
              <a:srgbClr val="0F172A"/>
            </a:solidFill>
            <a:prstDash val="solid"/>
          </a:ln>
        </p:spPr>
      </p:sp>
      <p:sp>
        <p:nvSpPr>
          <p:cNvPr id="13" name="Text 10"/>
          <p:cNvSpPr txBox="1"/>
          <p:nvPr/>
        </p:nvSpPr>
        <p:spPr>
          <a:xfrm>
            <a:off x="932688" y="3456432"/>
            <a:ext cx="1828800" cy="1115568"/>
          </a:xfrm>
          <a:prstGeom prst="rect">
            <a:avLst/>
          </a:prstGeom>
          <a:noFill/>
          <a:ln/>
        </p:spPr>
        <p:txBody>
          <a:bodyPr wrap="square" lIns="0" tIns="0" rIns="0" bIns="0" rtlCol="0" anchor="t">
            <a:normAutofit/>
          </a:bodyPr>
          <a:lstStyle/>
          <a:p>
            <a:pPr marL="0" indent="0" algn="l">
              <a:buNone/>
            </a:pPr>
            <a:r>
              <a:rPr lang="en-US" sz="950" dirty="0">
                <a:solidFill>
                  <a:srgbClr val="E2E8F0"/>
                </a:solidFill>
                <a:latin typeface="Liberation Mono" pitchFamily="34" charset="0"/>
                <a:ea typeface="Liberation Mono" pitchFamily="34" charset="-122"/>
                <a:cs typeface="Liberation Mono" pitchFamily="34" charset="-120"/>
              </a:rPr>
              <a:t>git clone "$REPO_URL"</a:t>
            </a:r>
            <a:endParaRPr lang="en-US" sz="950" dirty="0"/>
          </a:p>
          <a:p>
            <a:pPr marL="0" indent="0" algn="l">
              <a:buNone/>
            </a:pPr>
            <a:r>
              <a:rPr lang="en-US" sz="950" dirty="0">
                <a:solidFill>
                  <a:srgbClr val="E2E8F0"/>
                </a:solidFill>
                <a:latin typeface="Liberation Mono" pitchFamily="34" charset="0"/>
                <a:ea typeface="Liberation Mono" pitchFamily="34" charset="-122"/>
                <a:cs typeface="Liberation Mono" pitchFamily="34" charset="-120"/>
              </a:rPr>
              <a:t>cd vietnamese-speech-emotion</a:t>
            </a:r>
            <a:endParaRPr lang="en-US" sz="950" dirty="0"/>
          </a:p>
        </p:txBody>
      </p:sp>
      <p:sp>
        <p:nvSpPr>
          <p:cNvPr id="14" name="Shape 11"/>
          <p:cNvSpPr/>
          <p:nvPr/>
        </p:nvSpPr>
        <p:spPr>
          <a:xfrm>
            <a:off x="3163824" y="3602736"/>
            <a:ext cx="201168" cy="0"/>
          </a:xfrm>
          <a:prstGeom prst="line">
            <a:avLst/>
          </a:prstGeom>
          <a:noFill/>
          <a:ln w="19050">
            <a:solidFill>
              <a:srgbClr val="1D4ED8"/>
            </a:solidFill>
            <a:prstDash val="solid"/>
            <a:tailEnd type="triangle"/>
          </a:ln>
        </p:spPr>
      </p:sp>
      <p:sp>
        <p:nvSpPr>
          <p:cNvPr id="15" name="Shape 12"/>
          <p:cNvSpPr/>
          <p:nvPr/>
        </p:nvSpPr>
        <p:spPr>
          <a:xfrm>
            <a:off x="3401568" y="1847088"/>
            <a:ext cx="2560320" cy="3511296"/>
          </a:xfrm>
          <a:prstGeom prst="roundRect">
            <a:avLst>
              <a:gd name="adj" fmla="val 1786"/>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6" name="Text 13"/>
          <p:cNvSpPr txBox="1"/>
          <p:nvPr/>
        </p:nvSpPr>
        <p:spPr>
          <a:xfrm>
            <a:off x="3621024" y="2029968"/>
            <a:ext cx="566928" cy="329184"/>
          </a:xfrm>
          <a:prstGeom prst="rect">
            <a:avLst/>
          </a:prstGeom>
          <a:noFill/>
          <a:ln/>
        </p:spPr>
        <p:txBody>
          <a:bodyPr wrap="square" lIns="0" tIns="0" rIns="0" bIns="0" rtlCol="0" anchor="ctr">
            <a:normAutofit/>
          </a:bodyPr>
          <a:lstStyle/>
          <a:p>
            <a:pPr marL="0" indent="0" algn="l">
              <a:buNone/>
            </a:pPr>
            <a:r>
              <a:rPr lang="en-US" sz="1300" b="1" dirty="0">
                <a:solidFill>
                  <a:srgbClr val="0F766E"/>
                </a:solidFill>
                <a:latin typeface="Arial" pitchFamily="34" charset="0"/>
                <a:ea typeface="Arial" pitchFamily="34" charset="-122"/>
                <a:cs typeface="Arial" pitchFamily="34" charset="-120"/>
              </a:rPr>
              <a:t>02</a:t>
            </a:r>
            <a:endParaRPr lang="en-US" sz="1300" dirty="0"/>
          </a:p>
        </p:txBody>
      </p:sp>
      <p:sp>
        <p:nvSpPr>
          <p:cNvPr id="17" name="Shape 14"/>
          <p:cNvSpPr/>
          <p:nvPr/>
        </p:nvSpPr>
        <p:spPr>
          <a:xfrm>
            <a:off x="5212080" y="1993392"/>
            <a:ext cx="475488" cy="475488"/>
          </a:xfrm>
          <a:prstGeom prst="ellipse">
            <a:avLst/>
          </a:prstGeom>
          <a:solidFill>
            <a:srgbClr val="CCFBF1"/>
          </a:solidFill>
          <a:ln w="12700">
            <a:solidFill>
              <a:srgbClr val="CCFBF1"/>
            </a:solidFill>
            <a:prstDash val="solid"/>
          </a:ln>
        </p:spPr>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30952" y="2112264"/>
            <a:ext cx="237744" cy="237744"/>
          </a:xfrm>
          <a:prstGeom prst="rect">
            <a:avLst/>
          </a:prstGeom>
        </p:spPr>
      </p:pic>
      <p:sp>
        <p:nvSpPr>
          <p:cNvPr id="19" name="Text 15"/>
          <p:cNvSpPr txBox="1"/>
          <p:nvPr/>
        </p:nvSpPr>
        <p:spPr>
          <a:xfrm>
            <a:off x="3621024" y="2633472"/>
            <a:ext cx="2103120" cy="420624"/>
          </a:xfrm>
          <a:prstGeom prst="rect">
            <a:avLst/>
          </a:prstGeom>
          <a:noFill/>
          <a:ln/>
        </p:spPr>
        <p:txBody>
          <a:bodyPr wrap="square" lIns="0" tIns="0" rIns="0" bIns="0" rtlCol="0" anchor="ctr">
            <a:normAutofit/>
          </a:bodyPr>
          <a:lstStyle/>
          <a:p>
            <a:pPr marL="0" indent="0" algn="l">
              <a:buNone/>
            </a:pPr>
            <a:r>
              <a:rPr lang="en-US" sz="1600" b="1" dirty="0">
                <a:solidFill>
                  <a:srgbClr val="0F172A"/>
                </a:solidFill>
                <a:latin typeface="Arial" pitchFamily="34" charset="0"/>
                <a:ea typeface="Arial" pitchFamily="34" charset="-122"/>
                <a:cs typeface="Arial" pitchFamily="34" charset="-120"/>
              </a:rPr>
              <a:t>Tạo môi trường</a:t>
            </a:r>
            <a:endParaRPr lang="en-US" sz="1600" dirty="0"/>
          </a:p>
        </p:txBody>
      </p:sp>
      <p:sp>
        <p:nvSpPr>
          <p:cNvPr id="20" name="Shape 16"/>
          <p:cNvSpPr/>
          <p:nvPr/>
        </p:nvSpPr>
        <p:spPr>
          <a:xfrm>
            <a:off x="3621024" y="3328416"/>
            <a:ext cx="2121408" cy="1426464"/>
          </a:xfrm>
          <a:prstGeom prst="roundRect">
            <a:avLst>
              <a:gd name="adj" fmla="val 1923"/>
            </a:avLst>
          </a:prstGeom>
          <a:solidFill>
            <a:srgbClr val="0F172A"/>
          </a:solidFill>
          <a:ln w="12700">
            <a:solidFill>
              <a:srgbClr val="0F172A"/>
            </a:solidFill>
            <a:prstDash val="solid"/>
          </a:ln>
        </p:spPr>
      </p:sp>
      <p:sp>
        <p:nvSpPr>
          <p:cNvPr id="21" name="Text 17"/>
          <p:cNvSpPr txBox="1"/>
          <p:nvPr/>
        </p:nvSpPr>
        <p:spPr>
          <a:xfrm>
            <a:off x="3767328" y="3456432"/>
            <a:ext cx="1828800" cy="1115568"/>
          </a:xfrm>
          <a:prstGeom prst="rect">
            <a:avLst/>
          </a:prstGeom>
          <a:noFill/>
          <a:ln/>
        </p:spPr>
        <p:txBody>
          <a:bodyPr wrap="square" lIns="0" tIns="0" rIns="0" bIns="0" rtlCol="0" anchor="t">
            <a:normAutofit/>
          </a:bodyPr>
          <a:lstStyle/>
          <a:p>
            <a:pPr marL="0" indent="0" algn="l">
              <a:buNone/>
            </a:pPr>
            <a:r>
              <a:rPr lang="en-US" sz="950" dirty="0">
                <a:solidFill>
                  <a:srgbClr val="E2E8F0"/>
                </a:solidFill>
                <a:latin typeface="Liberation Mono" pitchFamily="34" charset="0"/>
                <a:ea typeface="Liberation Mono" pitchFamily="34" charset="-122"/>
                <a:cs typeface="Liberation Mono" pitchFamily="34" charset="-120"/>
              </a:rPr>
              <a:t>python3 -m venv .venv</a:t>
            </a:r>
            <a:endParaRPr lang="en-US" sz="950" dirty="0"/>
          </a:p>
          <a:p>
            <a:pPr marL="0" indent="0" algn="l">
              <a:buNone/>
            </a:pPr>
            <a:r>
              <a:rPr lang="en-US" sz="950" dirty="0">
                <a:solidFill>
                  <a:srgbClr val="E2E8F0"/>
                </a:solidFill>
                <a:latin typeface="Liberation Mono" pitchFamily="34" charset="0"/>
                <a:ea typeface="Liberation Mono" pitchFamily="34" charset="-122"/>
                <a:cs typeface="Liberation Mono" pitchFamily="34" charset="-120"/>
              </a:rPr>
              <a:t>source .venv/bin/activate</a:t>
            </a:r>
            <a:endParaRPr lang="en-US" sz="950" dirty="0"/>
          </a:p>
        </p:txBody>
      </p:sp>
      <p:sp>
        <p:nvSpPr>
          <p:cNvPr id="22" name="Shape 18"/>
          <p:cNvSpPr/>
          <p:nvPr/>
        </p:nvSpPr>
        <p:spPr>
          <a:xfrm>
            <a:off x="5998464" y="3602736"/>
            <a:ext cx="201168" cy="0"/>
          </a:xfrm>
          <a:prstGeom prst="line">
            <a:avLst/>
          </a:prstGeom>
          <a:noFill/>
          <a:ln w="19050">
            <a:solidFill>
              <a:srgbClr val="1D4ED8"/>
            </a:solidFill>
            <a:prstDash val="solid"/>
            <a:tailEnd type="triangle"/>
          </a:ln>
        </p:spPr>
      </p:sp>
      <p:sp>
        <p:nvSpPr>
          <p:cNvPr id="23" name="Shape 19"/>
          <p:cNvSpPr/>
          <p:nvPr/>
        </p:nvSpPr>
        <p:spPr>
          <a:xfrm>
            <a:off x="6236208" y="1847088"/>
            <a:ext cx="2560320" cy="3511296"/>
          </a:xfrm>
          <a:prstGeom prst="roundRect">
            <a:avLst>
              <a:gd name="adj" fmla="val 1786"/>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4" name="Text 20"/>
          <p:cNvSpPr txBox="1"/>
          <p:nvPr/>
        </p:nvSpPr>
        <p:spPr>
          <a:xfrm>
            <a:off x="6455664" y="2029968"/>
            <a:ext cx="566928" cy="329184"/>
          </a:xfrm>
          <a:prstGeom prst="rect">
            <a:avLst/>
          </a:prstGeom>
          <a:noFill/>
          <a:ln/>
        </p:spPr>
        <p:txBody>
          <a:bodyPr wrap="square" lIns="0" tIns="0" rIns="0" bIns="0" rtlCol="0" anchor="ctr">
            <a:normAutofit/>
          </a:bodyPr>
          <a:lstStyle/>
          <a:p>
            <a:pPr marL="0" indent="0" algn="l">
              <a:buNone/>
            </a:pPr>
            <a:r>
              <a:rPr lang="en-US" sz="1300" b="1" dirty="0">
                <a:solidFill>
                  <a:srgbClr val="15803D"/>
                </a:solidFill>
                <a:latin typeface="Arial" pitchFamily="34" charset="0"/>
                <a:ea typeface="Arial" pitchFamily="34" charset="-122"/>
                <a:cs typeface="Arial" pitchFamily="34" charset="-120"/>
              </a:rPr>
              <a:t>03</a:t>
            </a:r>
            <a:endParaRPr lang="en-US" sz="1300" dirty="0"/>
          </a:p>
        </p:txBody>
      </p:sp>
      <p:sp>
        <p:nvSpPr>
          <p:cNvPr id="25" name="Shape 21"/>
          <p:cNvSpPr/>
          <p:nvPr/>
        </p:nvSpPr>
        <p:spPr>
          <a:xfrm>
            <a:off x="8046720" y="1993392"/>
            <a:ext cx="475488" cy="475488"/>
          </a:xfrm>
          <a:prstGeom prst="ellipse">
            <a:avLst/>
          </a:prstGeom>
          <a:solidFill>
            <a:srgbClr val="DCFCE7"/>
          </a:solidFill>
          <a:ln w="12700">
            <a:solidFill>
              <a:srgbClr val="DCFCE7"/>
            </a:solidFill>
            <a:prstDash val="solid"/>
          </a:ln>
        </p:spPr>
      </p:sp>
      <p:pic>
        <p:nvPicPr>
          <p:cNvPr id="2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65592" y="2112264"/>
            <a:ext cx="237744" cy="237744"/>
          </a:xfrm>
          <a:prstGeom prst="rect">
            <a:avLst/>
          </a:prstGeom>
        </p:spPr>
      </p:pic>
      <p:sp>
        <p:nvSpPr>
          <p:cNvPr id="27" name="Text 22"/>
          <p:cNvSpPr txBox="1"/>
          <p:nvPr/>
        </p:nvSpPr>
        <p:spPr>
          <a:xfrm>
            <a:off x="6455664" y="2633472"/>
            <a:ext cx="2103120" cy="420624"/>
          </a:xfrm>
          <a:prstGeom prst="rect">
            <a:avLst/>
          </a:prstGeom>
          <a:noFill/>
          <a:ln/>
        </p:spPr>
        <p:txBody>
          <a:bodyPr wrap="square" lIns="0" tIns="0" rIns="0" bIns="0" rtlCol="0" anchor="ctr">
            <a:normAutofit/>
          </a:bodyPr>
          <a:lstStyle/>
          <a:p>
            <a:pPr marL="0" indent="0" algn="l">
              <a:buNone/>
            </a:pPr>
            <a:r>
              <a:rPr lang="en-US" sz="1600" b="1" dirty="0">
                <a:solidFill>
                  <a:srgbClr val="0F172A"/>
                </a:solidFill>
                <a:latin typeface="Arial" pitchFamily="34" charset="0"/>
                <a:ea typeface="Arial" pitchFamily="34" charset="-122"/>
                <a:cs typeface="Arial" pitchFamily="34" charset="-120"/>
              </a:rPr>
              <a:t>Cài dependencies</a:t>
            </a:r>
            <a:endParaRPr lang="en-US" sz="1600" dirty="0"/>
          </a:p>
        </p:txBody>
      </p:sp>
      <p:sp>
        <p:nvSpPr>
          <p:cNvPr id="28" name="Shape 23"/>
          <p:cNvSpPr/>
          <p:nvPr/>
        </p:nvSpPr>
        <p:spPr>
          <a:xfrm>
            <a:off x="6455664" y="3328416"/>
            <a:ext cx="2121408" cy="1426464"/>
          </a:xfrm>
          <a:prstGeom prst="roundRect">
            <a:avLst>
              <a:gd name="adj" fmla="val 1923"/>
            </a:avLst>
          </a:prstGeom>
          <a:solidFill>
            <a:srgbClr val="0F172A"/>
          </a:solidFill>
          <a:ln w="12700">
            <a:solidFill>
              <a:srgbClr val="0F172A"/>
            </a:solidFill>
            <a:prstDash val="solid"/>
          </a:ln>
        </p:spPr>
      </p:sp>
      <p:sp>
        <p:nvSpPr>
          <p:cNvPr id="29" name="Text 24"/>
          <p:cNvSpPr txBox="1"/>
          <p:nvPr/>
        </p:nvSpPr>
        <p:spPr>
          <a:xfrm>
            <a:off x="6601968" y="3456432"/>
            <a:ext cx="1828800" cy="1115568"/>
          </a:xfrm>
          <a:prstGeom prst="rect">
            <a:avLst/>
          </a:prstGeom>
          <a:noFill/>
          <a:ln/>
        </p:spPr>
        <p:txBody>
          <a:bodyPr wrap="square" lIns="0" tIns="0" rIns="0" bIns="0" rtlCol="0" anchor="t">
            <a:normAutofit/>
          </a:bodyPr>
          <a:lstStyle/>
          <a:p>
            <a:pPr marL="0" indent="0" algn="l">
              <a:buNone/>
            </a:pPr>
            <a:r>
              <a:rPr lang="en-US" sz="950" dirty="0">
                <a:solidFill>
                  <a:srgbClr val="E2E8F0"/>
                </a:solidFill>
                <a:latin typeface="Liberation Mono" pitchFamily="34" charset="0"/>
                <a:ea typeface="Liberation Mono" pitchFamily="34" charset="-122"/>
                <a:cs typeface="Liberation Mono" pitchFamily="34" charset="-120"/>
              </a:rPr>
              <a:t>pip install -r requirements.txt</a:t>
            </a:r>
            <a:endParaRPr lang="en-US" sz="950" dirty="0"/>
          </a:p>
        </p:txBody>
      </p:sp>
      <p:sp>
        <p:nvSpPr>
          <p:cNvPr id="30" name="Shape 25"/>
          <p:cNvSpPr/>
          <p:nvPr/>
        </p:nvSpPr>
        <p:spPr>
          <a:xfrm>
            <a:off x="8833104" y="3602736"/>
            <a:ext cx="201168" cy="0"/>
          </a:xfrm>
          <a:prstGeom prst="line">
            <a:avLst/>
          </a:prstGeom>
          <a:noFill/>
          <a:ln w="19050">
            <a:solidFill>
              <a:srgbClr val="1D4ED8"/>
            </a:solidFill>
            <a:prstDash val="solid"/>
            <a:tailEnd type="triangle"/>
          </a:ln>
        </p:spPr>
      </p:sp>
      <p:sp>
        <p:nvSpPr>
          <p:cNvPr id="31" name="Shape 26"/>
          <p:cNvSpPr/>
          <p:nvPr/>
        </p:nvSpPr>
        <p:spPr>
          <a:xfrm>
            <a:off x="9070848" y="1847088"/>
            <a:ext cx="2560320" cy="3511296"/>
          </a:xfrm>
          <a:prstGeom prst="roundRect">
            <a:avLst>
              <a:gd name="adj" fmla="val 1786"/>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32" name="Text 27"/>
          <p:cNvSpPr txBox="1"/>
          <p:nvPr/>
        </p:nvSpPr>
        <p:spPr>
          <a:xfrm>
            <a:off x="9290304" y="2029968"/>
            <a:ext cx="566928" cy="329184"/>
          </a:xfrm>
          <a:prstGeom prst="rect">
            <a:avLst/>
          </a:prstGeom>
          <a:noFill/>
          <a:ln/>
        </p:spPr>
        <p:txBody>
          <a:bodyPr wrap="square" lIns="0" tIns="0" rIns="0" bIns="0" rtlCol="0" anchor="ctr">
            <a:normAutofit/>
          </a:bodyPr>
          <a:lstStyle/>
          <a:p>
            <a:pPr marL="0" indent="0" algn="l">
              <a:buNone/>
            </a:pPr>
            <a:r>
              <a:rPr lang="en-US" sz="1300" b="1" dirty="0">
                <a:solidFill>
                  <a:srgbClr val="B45309"/>
                </a:solidFill>
                <a:latin typeface="Arial" pitchFamily="34" charset="0"/>
                <a:ea typeface="Arial" pitchFamily="34" charset="-122"/>
                <a:cs typeface="Arial" pitchFamily="34" charset="-120"/>
              </a:rPr>
              <a:t>04</a:t>
            </a:r>
            <a:endParaRPr lang="en-US" sz="1300" dirty="0"/>
          </a:p>
        </p:txBody>
      </p:sp>
      <p:sp>
        <p:nvSpPr>
          <p:cNvPr id="33" name="Shape 28"/>
          <p:cNvSpPr/>
          <p:nvPr/>
        </p:nvSpPr>
        <p:spPr>
          <a:xfrm>
            <a:off x="10881360" y="1993392"/>
            <a:ext cx="475488" cy="475488"/>
          </a:xfrm>
          <a:prstGeom prst="ellipse">
            <a:avLst/>
          </a:prstGeom>
          <a:solidFill>
            <a:srgbClr val="FEF3C7"/>
          </a:solidFill>
          <a:ln w="12700">
            <a:solidFill>
              <a:srgbClr val="FEF3C7"/>
            </a:solidFill>
            <a:prstDash val="solid"/>
          </a:ln>
        </p:spPr>
      </p:sp>
      <p:pic>
        <p:nvPicPr>
          <p:cNvPr id="3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00232" y="2112264"/>
            <a:ext cx="237744" cy="237744"/>
          </a:xfrm>
          <a:prstGeom prst="rect">
            <a:avLst/>
          </a:prstGeom>
        </p:spPr>
      </p:pic>
      <p:sp>
        <p:nvSpPr>
          <p:cNvPr id="35" name="Text 29"/>
          <p:cNvSpPr txBox="1"/>
          <p:nvPr/>
        </p:nvSpPr>
        <p:spPr>
          <a:xfrm>
            <a:off x="9290304" y="2633472"/>
            <a:ext cx="2103120" cy="420624"/>
          </a:xfrm>
          <a:prstGeom prst="rect">
            <a:avLst/>
          </a:prstGeom>
          <a:noFill/>
          <a:ln/>
        </p:spPr>
        <p:txBody>
          <a:bodyPr wrap="square" lIns="0" tIns="0" rIns="0" bIns="0" rtlCol="0" anchor="ctr">
            <a:normAutofit/>
          </a:bodyPr>
          <a:lstStyle/>
          <a:p>
            <a:pPr marL="0" indent="0" algn="l">
              <a:buNone/>
            </a:pPr>
            <a:r>
              <a:rPr lang="en-US" sz="1600" b="1" dirty="0">
                <a:solidFill>
                  <a:srgbClr val="0F172A"/>
                </a:solidFill>
                <a:latin typeface="Arial" pitchFamily="34" charset="0"/>
                <a:ea typeface="Arial" pitchFamily="34" charset="-122"/>
                <a:cs typeface="Arial" pitchFamily="34" charset="-120"/>
              </a:rPr>
              <a:t>Chạy app</a:t>
            </a:r>
            <a:endParaRPr lang="en-US" sz="1600" dirty="0"/>
          </a:p>
        </p:txBody>
      </p:sp>
      <p:sp>
        <p:nvSpPr>
          <p:cNvPr id="36" name="Shape 30"/>
          <p:cNvSpPr/>
          <p:nvPr/>
        </p:nvSpPr>
        <p:spPr>
          <a:xfrm>
            <a:off x="9290304" y="3328416"/>
            <a:ext cx="2121408" cy="1426464"/>
          </a:xfrm>
          <a:prstGeom prst="roundRect">
            <a:avLst>
              <a:gd name="adj" fmla="val 1923"/>
            </a:avLst>
          </a:prstGeom>
          <a:solidFill>
            <a:srgbClr val="0F172A"/>
          </a:solidFill>
          <a:ln w="12700">
            <a:solidFill>
              <a:srgbClr val="0F172A"/>
            </a:solidFill>
            <a:prstDash val="solid"/>
          </a:ln>
        </p:spPr>
      </p:sp>
      <p:sp>
        <p:nvSpPr>
          <p:cNvPr id="37" name="Text 31"/>
          <p:cNvSpPr txBox="1"/>
          <p:nvPr/>
        </p:nvSpPr>
        <p:spPr>
          <a:xfrm>
            <a:off x="9436608" y="3456432"/>
            <a:ext cx="1828800" cy="1115568"/>
          </a:xfrm>
          <a:prstGeom prst="rect">
            <a:avLst/>
          </a:prstGeom>
          <a:noFill/>
          <a:ln/>
        </p:spPr>
        <p:txBody>
          <a:bodyPr wrap="square" lIns="0" tIns="0" rIns="0" bIns="0" rtlCol="0" anchor="t">
            <a:normAutofit/>
          </a:bodyPr>
          <a:lstStyle/>
          <a:p>
            <a:pPr marL="0" indent="0" algn="l">
              <a:buNone/>
            </a:pPr>
            <a:r>
              <a:rPr lang="en-US" sz="950" dirty="0">
                <a:solidFill>
                  <a:srgbClr val="E2E8F0"/>
                </a:solidFill>
                <a:latin typeface="Liberation Mono" pitchFamily="34" charset="0"/>
                <a:ea typeface="Liberation Mono" pitchFamily="34" charset="-122"/>
                <a:cs typeface="Liberation Mono" pitchFamily="34" charset="-120"/>
              </a:rPr>
              <a:t>python app.py</a:t>
            </a:r>
            <a:endParaRPr lang="en-US" sz="950" dirty="0"/>
          </a:p>
          <a:p>
            <a:pPr marL="0" indent="0" algn="l">
              <a:buNone/>
            </a:pPr>
            <a:r>
              <a:rPr lang="en-US" sz="950" dirty="0">
                <a:solidFill>
                  <a:srgbClr val="E2E8F0"/>
                </a:solidFill>
                <a:latin typeface="Liberation Mono" pitchFamily="34" charset="0"/>
                <a:ea typeface="Liberation Mono" pitchFamily="34" charset="-122"/>
                <a:cs typeface="Liberation Mono" pitchFamily="34" charset="-120"/>
              </a:rPr>
              <a:t>http://127.0.0.1:7860</a:t>
            </a:r>
            <a:endParaRPr lang="en-US" sz="950" dirty="0"/>
          </a:p>
        </p:txBody>
      </p:sp>
      <p:sp>
        <p:nvSpPr>
          <p:cNvPr id="38" name="Shape 32"/>
          <p:cNvSpPr/>
          <p:nvPr/>
        </p:nvSpPr>
        <p:spPr>
          <a:xfrm>
            <a:off x="566928" y="5650992"/>
            <a:ext cx="11073384" cy="457200"/>
          </a:xfrm>
          <a:prstGeom prst="roundRect">
            <a:avLst>
              <a:gd name="adj" fmla="val 8000"/>
            </a:avLst>
          </a:prstGeom>
          <a:solidFill>
            <a:srgbClr val="DBEAFE"/>
          </a:solidFill>
          <a:ln w="12700">
            <a:solidFill>
              <a:srgbClr val="DBEAFE"/>
            </a:solidFill>
            <a:prstDash val="solid"/>
          </a:ln>
        </p:spPr>
      </p:sp>
      <p:pic>
        <p:nvPicPr>
          <p:cNvPr id="3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2960" y="5760720"/>
            <a:ext cx="256032" cy="256032"/>
          </a:xfrm>
          <a:prstGeom prst="rect">
            <a:avLst/>
          </a:prstGeom>
        </p:spPr>
      </p:pic>
      <p:sp>
        <p:nvSpPr>
          <p:cNvPr id="40" name="Text 33"/>
          <p:cNvSpPr txBox="1"/>
          <p:nvPr/>
        </p:nvSpPr>
        <p:spPr>
          <a:xfrm>
            <a:off x="1243584" y="5669280"/>
            <a:ext cx="9893808" cy="402336"/>
          </a:xfrm>
          <a:prstGeom prst="rect">
            <a:avLst/>
          </a:prstGeom>
          <a:noFill/>
          <a:ln/>
        </p:spPr>
        <p:txBody>
          <a:bodyPr wrap="square" lIns="0" tIns="0" rIns="0" bIns="0" rtlCol="0" anchor="ctr">
            <a:normAutofit/>
          </a:bodyPr>
          <a:lstStyle/>
          <a:p>
            <a:pPr marL="0" indent="0" algn="ctr">
              <a:buNone/>
            </a:pPr>
            <a:r>
              <a:rPr lang="en-US" sz="1150" b="1" dirty="0">
                <a:solidFill>
                  <a:srgbClr val="1D4ED8"/>
                </a:solidFill>
                <a:latin typeface="Arial" pitchFamily="34" charset="0"/>
                <a:ea typeface="Arial" pitchFamily="34" charset="-122"/>
                <a:cs typeface="Arial" pitchFamily="34" charset="-120"/>
              </a:rPr>
              <a:t>Tùy chọn GPU: cài torch wheel tương thích CUDA, sau đó restart app để auto-detect.</a:t>
            </a:r>
            <a:endParaRPr lang="en-US" sz="1150" dirty="0"/>
          </a:p>
        </p:txBody>
      </p:sp>
      <p:sp>
        <p:nvSpPr>
          <p:cNvPr id="41" name="Shape 34"/>
          <p:cNvSpPr/>
          <p:nvPr/>
        </p:nvSpPr>
        <p:spPr>
          <a:xfrm>
            <a:off x="530352" y="6382512"/>
            <a:ext cx="11128248" cy="0"/>
          </a:xfrm>
          <a:prstGeom prst="line">
            <a:avLst/>
          </a:prstGeom>
          <a:noFill/>
          <a:ln w="10160">
            <a:solidFill>
              <a:srgbClr val="E2E8F0"/>
            </a:solidFill>
            <a:prstDash val="solid"/>
          </a:ln>
        </p:spPr>
      </p:sp>
      <p:sp>
        <p:nvSpPr>
          <p:cNvPr id="42" name="Text 35"/>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ưu tiên sử dụng: docs/USAGE.md • lệnh clone cần URL repo/Space thật.</a:t>
            </a:r>
            <a:endParaRPr lang="en-US" sz="850" dirty="0"/>
          </a:p>
        </p:txBody>
      </p:sp>
      <p:sp>
        <p:nvSpPr>
          <p:cNvPr id="43"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19  /  SỬ DỤNG</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Một vòng sử dụng có bốn bước</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Kết quả là xác suất của model, không phải bằng chứng về trạng thái tâm lý.</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658368" y="1883664"/>
            <a:ext cx="2450592" cy="2395728"/>
          </a:xfrm>
          <a:prstGeom prst="roundRect">
            <a:avLst>
              <a:gd name="adj" fmla="val 1908"/>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841248" y="2084832"/>
            <a:ext cx="402336" cy="402336"/>
          </a:xfrm>
          <a:prstGeom prst="ellipse">
            <a:avLst/>
          </a:prstGeom>
          <a:solidFill>
            <a:srgbClr val="1D4ED8"/>
          </a:solidFill>
          <a:ln w="12700">
            <a:solidFill>
              <a:srgbClr val="1D4ED8"/>
            </a:solidFill>
            <a:prstDash val="solid"/>
          </a:ln>
        </p:spPr>
      </p:sp>
      <p:sp>
        <p:nvSpPr>
          <p:cNvPr id="9" name="Text 7"/>
          <p:cNvSpPr txBox="1"/>
          <p:nvPr/>
        </p:nvSpPr>
        <p:spPr>
          <a:xfrm>
            <a:off x="841248" y="2084832"/>
            <a:ext cx="402336" cy="40233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2576" y="2066544"/>
            <a:ext cx="457200" cy="457200"/>
          </a:xfrm>
          <a:prstGeom prst="rect">
            <a:avLst/>
          </a:prstGeom>
        </p:spPr>
      </p:pic>
      <p:sp>
        <p:nvSpPr>
          <p:cNvPr id="11" name="Text 8"/>
          <p:cNvSpPr txBox="1"/>
          <p:nvPr/>
        </p:nvSpPr>
        <p:spPr>
          <a:xfrm>
            <a:off x="859536" y="2852928"/>
            <a:ext cx="2029968" cy="384048"/>
          </a:xfrm>
          <a:prstGeom prst="rect">
            <a:avLst/>
          </a:prstGeom>
          <a:noFill/>
          <a:ln/>
        </p:spPr>
        <p:txBody>
          <a:bodyPr wrap="square" lIns="0" tIns="0" rIns="0" bIns="0" rtlCol="0" anchor="ctr">
            <a:normAutofit/>
          </a:bodyPr>
          <a:lstStyle/>
          <a:p>
            <a:pPr marL="0" indent="0" algn="l">
              <a:buNone/>
            </a:pPr>
            <a:r>
              <a:rPr lang="en-US" sz="1600" b="1" dirty="0">
                <a:solidFill>
                  <a:srgbClr val="0F172A"/>
                </a:solidFill>
                <a:latin typeface="Arial" pitchFamily="34" charset="0"/>
                <a:ea typeface="Arial" pitchFamily="34" charset="-122"/>
                <a:cs typeface="Arial" pitchFamily="34" charset="-120"/>
              </a:rPr>
              <a:t>Chọn nguồn</a:t>
            </a:r>
            <a:endParaRPr lang="en-US" sz="1600" dirty="0"/>
          </a:p>
        </p:txBody>
      </p:sp>
      <p:sp>
        <p:nvSpPr>
          <p:cNvPr id="12" name="Text 9"/>
          <p:cNvSpPr txBox="1"/>
          <p:nvPr/>
        </p:nvSpPr>
        <p:spPr>
          <a:xfrm>
            <a:off x="859536" y="3383280"/>
            <a:ext cx="2029968" cy="512064"/>
          </a:xfrm>
          <a:prstGeom prst="rect">
            <a:avLst/>
          </a:prstGeom>
          <a:noFill/>
          <a:ln/>
        </p:spPr>
        <p:txBody>
          <a:bodyPr wrap="square" lIns="0" tIns="0" rIns="0" bIns="0" rtlCol="0" anchor="t">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Upload • Mic • Sample</a:t>
            </a:r>
            <a:endParaRPr lang="en-US" sz="1100" dirty="0"/>
          </a:p>
        </p:txBody>
      </p:sp>
      <p:sp>
        <p:nvSpPr>
          <p:cNvPr id="13" name="Shape 10"/>
          <p:cNvSpPr/>
          <p:nvPr/>
        </p:nvSpPr>
        <p:spPr>
          <a:xfrm>
            <a:off x="3145536" y="3054096"/>
            <a:ext cx="274320" cy="0"/>
          </a:xfrm>
          <a:prstGeom prst="line">
            <a:avLst/>
          </a:prstGeom>
          <a:noFill/>
          <a:ln w="20320">
            <a:solidFill>
              <a:srgbClr val="1D4ED8"/>
            </a:solidFill>
            <a:prstDash val="solid"/>
            <a:tailEnd type="triangle"/>
          </a:ln>
        </p:spPr>
      </p:sp>
      <p:sp>
        <p:nvSpPr>
          <p:cNvPr id="14" name="Shape 11"/>
          <p:cNvSpPr/>
          <p:nvPr/>
        </p:nvSpPr>
        <p:spPr>
          <a:xfrm>
            <a:off x="3493008" y="1883664"/>
            <a:ext cx="2450592" cy="2395728"/>
          </a:xfrm>
          <a:prstGeom prst="roundRect">
            <a:avLst>
              <a:gd name="adj" fmla="val 1908"/>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5" name="Shape 12"/>
          <p:cNvSpPr/>
          <p:nvPr/>
        </p:nvSpPr>
        <p:spPr>
          <a:xfrm>
            <a:off x="3675888" y="2084832"/>
            <a:ext cx="402336" cy="402336"/>
          </a:xfrm>
          <a:prstGeom prst="ellipse">
            <a:avLst/>
          </a:prstGeom>
          <a:solidFill>
            <a:srgbClr val="0F766E"/>
          </a:solidFill>
          <a:ln w="12700">
            <a:solidFill>
              <a:srgbClr val="0F766E"/>
            </a:solidFill>
            <a:prstDash val="solid"/>
          </a:ln>
        </p:spPr>
      </p:sp>
      <p:sp>
        <p:nvSpPr>
          <p:cNvPr id="16" name="Text 13"/>
          <p:cNvSpPr txBox="1"/>
          <p:nvPr/>
        </p:nvSpPr>
        <p:spPr>
          <a:xfrm>
            <a:off x="3675888" y="2084832"/>
            <a:ext cx="402336" cy="40233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57216" y="2066544"/>
            <a:ext cx="457200" cy="457200"/>
          </a:xfrm>
          <a:prstGeom prst="rect">
            <a:avLst/>
          </a:prstGeom>
        </p:spPr>
      </p:pic>
      <p:sp>
        <p:nvSpPr>
          <p:cNvPr id="18" name="Text 14"/>
          <p:cNvSpPr txBox="1"/>
          <p:nvPr/>
        </p:nvSpPr>
        <p:spPr>
          <a:xfrm>
            <a:off x="3694176" y="2852928"/>
            <a:ext cx="2029968" cy="384048"/>
          </a:xfrm>
          <a:prstGeom prst="rect">
            <a:avLst/>
          </a:prstGeom>
          <a:noFill/>
          <a:ln/>
        </p:spPr>
        <p:txBody>
          <a:bodyPr wrap="square" lIns="0" tIns="0" rIns="0" bIns="0" rtlCol="0" anchor="ctr">
            <a:normAutofit/>
          </a:bodyPr>
          <a:lstStyle/>
          <a:p>
            <a:pPr marL="0" indent="0" algn="l">
              <a:buNone/>
            </a:pPr>
            <a:r>
              <a:rPr lang="en-US" sz="1600" b="1" dirty="0">
                <a:solidFill>
                  <a:srgbClr val="0F172A"/>
                </a:solidFill>
                <a:latin typeface="Arial" pitchFamily="34" charset="0"/>
                <a:ea typeface="Arial" pitchFamily="34" charset="-122"/>
                <a:cs typeface="Arial" pitchFamily="34" charset="-120"/>
              </a:rPr>
              <a:t>Đưa audio vào</a:t>
            </a:r>
            <a:endParaRPr lang="en-US" sz="1600" dirty="0"/>
          </a:p>
        </p:txBody>
      </p:sp>
      <p:sp>
        <p:nvSpPr>
          <p:cNvPr id="19" name="Text 15"/>
          <p:cNvSpPr txBox="1"/>
          <p:nvPr/>
        </p:nvSpPr>
        <p:spPr>
          <a:xfrm>
            <a:off x="3694176" y="3383280"/>
            <a:ext cx="2029968" cy="512064"/>
          </a:xfrm>
          <a:prstGeom prst="rect">
            <a:avLst/>
          </a:prstGeom>
          <a:noFill/>
          <a:ln/>
        </p:spPr>
        <p:txBody>
          <a:bodyPr wrap="square" lIns="0" tIns="0" rIns="0" bIns="0" rtlCol="0" anchor="t">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nói rõ, ít nhiễu</a:t>
            </a:r>
            <a:endParaRPr lang="en-US" sz="1100" dirty="0"/>
          </a:p>
        </p:txBody>
      </p:sp>
      <p:sp>
        <p:nvSpPr>
          <p:cNvPr id="20" name="Shape 16"/>
          <p:cNvSpPr/>
          <p:nvPr/>
        </p:nvSpPr>
        <p:spPr>
          <a:xfrm>
            <a:off x="5980176" y="3054096"/>
            <a:ext cx="274320" cy="0"/>
          </a:xfrm>
          <a:prstGeom prst="line">
            <a:avLst/>
          </a:prstGeom>
          <a:noFill/>
          <a:ln w="20320">
            <a:solidFill>
              <a:srgbClr val="1D4ED8"/>
            </a:solidFill>
            <a:prstDash val="solid"/>
            <a:tailEnd type="triangle"/>
          </a:ln>
        </p:spPr>
      </p:sp>
      <p:sp>
        <p:nvSpPr>
          <p:cNvPr id="21" name="Shape 17"/>
          <p:cNvSpPr/>
          <p:nvPr/>
        </p:nvSpPr>
        <p:spPr>
          <a:xfrm>
            <a:off x="6327648" y="1883664"/>
            <a:ext cx="2450592" cy="2395728"/>
          </a:xfrm>
          <a:prstGeom prst="roundRect">
            <a:avLst>
              <a:gd name="adj" fmla="val 1908"/>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2" name="Shape 18"/>
          <p:cNvSpPr/>
          <p:nvPr/>
        </p:nvSpPr>
        <p:spPr>
          <a:xfrm>
            <a:off x="6510528" y="2084832"/>
            <a:ext cx="402336" cy="402336"/>
          </a:xfrm>
          <a:prstGeom prst="ellipse">
            <a:avLst/>
          </a:prstGeom>
          <a:solidFill>
            <a:srgbClr val="15803D"/>
          </a:solidFill>
          <a:ln w="12700">
            <a:solidFill>
              <a:srgbClr val="15803D"/>
            </a:solidFill>
            <a:prstDash val="solid"/>
          </a:ln>
        </p:spPr>
      </p:sp>
      <p:sp>
        <p:nvSpPr>
          <p:cNvPr id="23" name="Text 19"/>
          <p:cNvSpPr txBox="1"/>
          <p:nvPr/>
        </p:nvSpPr>
        <p:spPr>
          <a:xfrm>
            <a:off x="6510528" y="2084832"/>
            <a:ext cx="402336" cy="40233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91856" y="2066544"/>
            <a:ext cx="457200" cy="457200"/>
          </a:xfrm>
          <a:prstGeom prst="rect">
            <a:avLst/>
          </a:prstGeom>
        </p:spPr>
      </p:pic>
      <p:sp>
        <p:nvSpPr>
          <p:cNvPr id="25" name="Text 20"/>
          <p:cNvSpPr txBox="1"/>
          <p:nvPr/>
        </p:nvSpPr>
        <p:spPr>
          <a:xfrm>
            <a:off x="6528816" y="2852928"/>
            <a:ext cx="2029968" cy="384048"/>
          </a:xfrm>
          <a:prstGeom prst="rect">
            <a:avLst/>
          </a:prstGeom>
          <a:noFill/>
          <a:ln/>
        </p:spPr>
        <p:txBody>
          <a:bodyPr wrap="square" lIns="0" tIns="0" rIns="0" bIns="0" rtlCol="0" anchor="ctr">
            <a:normAutofit/>
          </a:bodyPr>
          <a:lstStyle/>
          <a:p>
            <a:pPr marL="0" indent="0" algn="l">
              <a:buNone/>
            </a:pPr>
            <a:r>
              <a:rPr lang="en-US" sz="1600" b="1" dirty="0">
                <a:solidFill>
                  <a:srgbClr val="0F172A"/>
                </a:solidFill>
                <a:latin typeface="Arial" pitchFamily="34" charset="0"/>
                <a:ea typeface="Arial" pitchFamily="34" charset="-122"/>
                <a:cs typeface="Arial" pitchFamily="34" charset="-120"/>
              </a:rPr>
              <a:t>Bấm Analyze</a:t>
            </a:r>
            <a:endParaRPr lang="en-US" sz="1600" dirty="0"/>
          </a:p>
        </p:txBody>
      </p:sp>
      <p:sp>
        <p:nvSpPr>
          <p:cNvPr id="26" name="Text 21"/>
          <p:cNvSpPr txBox="1"/>
          <p:nvPr/>
        </p:nvSpPr>
        <p:spPr>
          <a:xfrm>
            <a:off x="6528816" y="3383280"/>
            <a:ext cx="2029968" cy="512064"/>
          </a:xfrm>
          <a:prstGeom prst="rect">
            <a:avLst/>
          </a:prstGeom>
          <a:noFill/>
          <a:ln/>
        </p:spPr>
        <p:txBody>
          <a:bodyPr wrap="square" lIns="0" tIns="0" rIns="0" bIns="0" rtlCol="0" anchor="t">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chờ inference</a:t>
            </a:r>
            <a:endParaRPr lang="en-US" sz="1100" dirty="0"/>
          </a:p>
        </p:txBody>
      </p:sp>
      <p:sp>
        <p:nvSpPr>
          <p:cNvPr id="27" name="Shape 22"/>
          <p:cNvSpPr/>
          <p:nvPr/>
        </p:nvSpPr>
        <p:spPr>
          <a:xfrm>
            <a:off x="8814816" y="3054096"/>
            <a:ext cx="274320" cy="0"/>
          </a:xfrm>
          <a:prstGeom prst="line">
            <a:avLst/>
          </a:prstGeom>
          <a:noFill/>
          <a:ln w="20320">
            <a:solidFill>
              <a:srgbClr val="1D4ED8"/>
            </a:solidFill>
            <a:prstDash val="solid"/>
            <a:tailEnd type="triangle"/>
          </a:ln>
        </p:spPr>
      </p:sp>
      <p:sp>
        <p:nvSpPr>
          <p:cNvPr id="28" name="Shape 23"/>
          <p:cNvSpPr/>
          <p:nvPr/>
        </p:nvSpPr>
        <p:spPr>
          <a:xfrm>
            <a:off x="9162288" y="1883664"/>
            <a:ext cx="2450592" cy="2395728"/>
          </a:xfrm>
          <a:prstGeom prst="roundRect">
            <a:avLst>
              <a:gd name="adj" fmla="val 1908"/>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9" name="Shape 24"/>
          <p:cNvSpPr/>
          <p:nvPr/>
        </p:nvSpPr>
        <p:spPr>
          <a:xfrm>
            <a:off x="9345168" y="2084832"/>
            <a:ext cx="402336" cy="402336"/>
          </a:xfrm>
          <a:prstGeom prst="ellipse">
            <a:avLst/>
          </a:prstGeom>
          <a:solidFill>
            <a:srgbClr val="B45309"/>
          </a:solidFill>
          <a:ln w="12700">
            <a:solidFill>
              <a:srgbClr val="B45309"/>
            </a:solidFill>
            <a:prstDash val="solid"/>
          </a:ln>
        </p:spPr>
      </p:sp>
      <p:sp>
        <p:nvSpPr>
          <p:cNvPr id="30" name="Text 25"/>
          <p:cNvSpPr txBox="1"/>
          <p:nvPr/>
        </p:nvSpPr>
        <p:spPr>
          <a:xfrm>
            <a:off x="9345168" y="2084832"/>
            <a:ext cx="402336" cy="40233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pic>
        <p:nvPicPr>
          <p:cNvPr id="3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826496" y="2066544"/>
            <a:ext cx="457200" cy="457200"/>
          </a:xfrm>
          <a:prstGeom prst="rect">
            <a:avLst/>
          </a:prstGeom>
        </p:spPr>
      </p:pic>
      <p:sp>
        <p:nvSpPr>
          <p:cNvPr id="32" name="Text 26"/>
          <p:cNvSpPr txBox="1"/>
          <p:nvPr/>
        </p:nvSpPr>
        <p:spPr>
          <a:xfrm>
            <a:off x="9363456" y="2852928"/>
            <a:ext cx="2029968" cy="384048"/>
          </a:xfrm>
          <a:prstGeom prst="rect">
            <a:avLst/>
          </a:prstGeom>
          <a:noFill/>
          <a:ln/>
        </p:spPr>
        <p:txBody>
          <a:bodyPr wrap="square" lIns="0" tIns="0" rIns="0" bIns="0" rtlCol="0" anchor="ctr">
            <a:normAutofit/>
          </a:bodyPr>
          <a:lstStyle/>
          <a:p>
            <a:pPr marL="0" indent="0" algn="l">
              <a:buNone/>
            </a:pPr>
            <a:r>
              <a:rPr lang="en-US" sz="1600" b="1" dirty="0">
                <a:solidFill>
                  <a:srgbClr val="0F172A"/>
                </a:solidFill>
                <a:latin typeface="Arial" pitchFamily="34" charset="0"/>
                <a:ea typeface="Arial" pitchFamily="34" charset="-122"/>
                <a:cs typeface="Arial" pitchFamily="34" charset="-120"/>
              </a:rPr>
              <a:t>Đọc kết quả</a:t>
            </a:r>
            <a:endParaRPr lang="en-US" sz="1600" dirty="0"/>
          </a:p>
        </p:txBody>
      </p:sp>
      <p:sp>
        <p:nvSpPr>
          <p:cNvPr id="33" name="Text 27"/>
          <p:cNvSpPr txBox="1"/>
          <p:nvPr/>
        </p:nvSpPr>
        <p:spPr>
          <a:xfrm>
            <a:off x="9363456" y="3383280"/>
            <a:ext cx="2029968" cy="512064"/>
          </a:xfrm>
          <a:prstGeom prst="rect">
            <a:avLst/>
          </a:prstGeom>
          <a:noFill/>
          <a:ln/>
        </p:spPr>
        <p:txBody>
          <a:bodyPr wrap="square" lIns="0" tIns="0" rIns="0" bIns="0" rtlCol="0" anchor="t">
            <a:normAutofit/>
          </a:bodyPr>
          <a:lstStyle/>
          <a:p>
            <a:pPr marL="0" indent="0" algn="l">
              <a:buNone/>
            </a:pPr>
            <a:r>
              <a:rPr lang="en-US" sz="1100" dirty="0">
                <a:solidFill>
                  <a:srgbClr val="64748B"/>
                </a:solidFill>
                <a:latin typeface="Arial" pitchFamily="34" charset="0"/>
                <a:ea typeface="Arial" pitchFamily="34" charset="-122"/>
                <a:cs typeface="Arial" pitchFamily="34" charset="-120"/>
              </a:rPr>
              <a:t>label • score • latency</a:t>
            </a:r>
            <a:endParaRPr lang="en-US" sz="1100" dirty="0"/>
          </a:p>
        </p:txBody>
      </p:sp>
      <p:sp>
        <p:nvSpPr>
          <p:cNvPr id="34" name="Shape 28"/>
          <p:cNvSpPr/>
          <p:nvPr/>
        </p:nvSpPr>
        <p:spPr>
          <a:xfrm>
            <a:off x="658368" y="4663440"/>
            <a:ext cx="10981944" cy="1188720"/>
          </a:xfrm>
          <a:prstGeom prst="roundRect">
            <a:avLst>
              <a:gd name="adj" fmla="val 3846"/>
            </a:avLst>
          </a:prstGeom>
          <a:solidFill>
            <a:srgbClr val="FEF3C7"/>
          </a:solidFill>
          <a:ln w="12700">
            <a:solidFill>
              <a:srgbClr val="FEF3C7"/>
            </a:solidFill>
            <a:prstDash val="solid"/>
          </a:ln>
        </p:spPr>
      </p:sp>
      <p:sp>
        <p:nvSpPr>
          <p:cNvPr id="35" name="Shape 29"/>
          <p:cNvSpPr/>
          <p:nvPr/>
        </p:nvSpPr>
        <p:spPr>
          <a:xfrm>
            <a:off x="950976" y="4983480"/>
            <a:ext cx="475488" cy="475488"/>
          </a:xfrm>
          <a:prstGeom prst="ellipse">
            <a:avLst/>
          </a:prstGeom>
          <a:solidFill>
            <a:srgbClr val="FFFFFF"/>
          </a:solidFill>
          <a:ln w="12700">
            <a:solidFill>
              <a:srgbClr val="FFFFFF"/>
            </a:solidFill>
            <a:prstDash val="solid"/>
          </a:ln>
        </p:spPr>
      </p:sp>
      <p:pic>
        <p:nvPicPr>
          <p:cNvPr id="3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9848" y="5102352"/>
            <a:ext cx="237744" cy="237744"/>
          </a:xfrm>
          <a:prstGeom prst="rect">
            <a:avLst/>
          </a:prstGeom>
        </p:spPr>
      </p:pic>
      <p:sp>
        <p:nvSpPr>
          <p:cNvPr id="37" name="Text 30"/>
          <p:cNvSpPr txBox="1"/>
          <p:nvPr/>
        </p:nvSpPr>
        <p:spPr>
          <a:xfrm>
            <a:off x="1627632" y="4846320"/>
            <a:ext cx="4681728" cy="310896"/>
          </a:xfrm>
          <a:prstGeom prst="rect">
            <a:avLst/>
          </a:prstGeom>
          <a:noFill/>
          <a:ln/>
        </p:spPr>
        <p:txBody>
          <a:bodyPr wrap="square" lIns="0" tIns="0" rIns="0" bIns="0" rtlCol="0" anchor="ctr">
            <a:normAutofit/>
          </a:bodyPr>
          <a:lstStyle/>
          <a:p>
            <a:pPr marL="0" indent="0" algn="l">
              <a:buNone/>
            </a:pPr>
            <a:r>
              <a:rPr lang="en-US" sz="1350" b="1" dirty="0">
                <a:solidFill>
                  <a:srgbClr val="B45309"/>
                </a:solidFill>
                <a:latin typeface="Arial" pitchFamily="34" charset="0"/>
                <a:ea typeface="Arial" pitchFamily="34" charset="-122"/>
                <a:cs typeface="Arial" pitchFamily="34" charset="-120"/>
              </a:rPr>
              <a:t>Confidence thấp → xem toàn bộ bar plot và thử lại audio.</a:t>
            </a:r>
            <a:endParaRPr lang="en-US" sz="1350" dirty="0"/>
          </a:p>
        </p:txBody>
      </p:sp>
      <p:sp>
        <p:nvSpPr>
          <p:cNvPr id="38" name="Text 31"/>
          <p:cNvSpPr txBox="1"/>
          <p:nvPr/>
        </p:nvSpPr>
        <p:spPr>
          <a:xfrm>
            <a:off x="1627632" y="5266944"/>
            <a:ext cx="4956048" cy="292608"/>
          </a:xfrm>
          <a:prstGeom prst="rect">
            <a:avLst/>
          </a:prstGeom>
          <a:noFill/>
          <a:ln/>
        </p:spPr>
        <p:txBody>
          <a:bodyPr wrap="square" lIns="0" tIns="0" rIns="0" bIns="0" rtlCol="0" anchor="ctr">
            <a:normAutofit/>
          </a:bodyPr>
          <a:lstStyle/>
          <a:p>
            <a:pPr marL="0" indent="0" algn="l">
              <a:buNone/>
            </a:pPr>
            <a:r>
              <a:rPr lang="en-US" sz="1150" dirty="0">
                <a:solidFill>
                  <a:srgbClr val="334155"/>
                </a:solidFill>
                <a:latin typeface="Arial" pitchFamily="34" charset="0"/>
                <a:ea typeface="Arial" pitchFamily="34" charset="-122"/>
                <a:cs typeface="Arial" pitchFamily="34" charset="-120"/>
              </a:rPr>
              <a:t>Confidence cao vẫn có thể sai vì accuracy benchmark chỉ 40,25%.</a:t>
            </a:r>
            <a:endParaRPr lang="en-US" sz="1150" dirty="0"/>
          </a:p>
        </p:txBody>
      </p:sp>
      <p:sp>
        <p:nvSpPr>
          <p:cNvPr id="39" name="Shape 32"/>
          <p:cNvSpPr/>
          <p:nvPr/>
        </p:nvSpPr>
        <p:spPr>
          <a:xfrm>
            <a:off x="6839712" y="4882896"/>
            <a:ext cx="0" cy="768096"/>
          </a:xfrm>
          <a:prstGeom prst="line">
            <a:avLst/>
          </a:prstGeom>
          <a:noFill/>
          <a:ln w="12700">
            <a:solidFill>
              <a:srgbClr val="FCD34D"/>
            </a:solidFill>
            <a:prstDash val="solid"/>
          </a:ln>
        </p:spPr>
      </p:sp>
      <p:sp>
        <p:nvSpPr>
          <p:cNvPr id="40" name="Text 33"/>
          <p:cNvSpPr txBox="1"/>
          <p:nvPr/>
        </p:nvSpPr>
        <p:spPr>
          <a:xfrm>
            <a:off x="7168896" y="4828032"/>
            <a:ext cx="3986784" cy="694944"/>
          </a:xfrm>
          <a:prstGeom prst="rect">
            <a:avLst/>
          </a:prstGeom>
          <a:noFill/>
          <a:ln/>
        </p:spPr>
        <p:txBody>
          <a:bodyPr wrap="square" lIns="0" tIns="0" rIns="0" bIns="0" rtlCol="0" anchor="ctr">
            <a:normAutofit/>
          </a:bodyPr>
          <a:lstStyle/>
          <a:p>
            <a:pPr marL="0" indent="0" algn="ctr">
              <a:buNone/>
            </a:pPr>
            <a:r>
              <a:rPr lang="en-US" sz="1150" b="1" dirty="0">
                <a:solidFill>
                  <a:srgbClr val="B91C1C"/>
                </a:solidFill>
                <a:latin typeface="Arial" pitchFamily="34" charset="0"/>
                <a:ea typeface="Arial" pitchFamily="34" charset="-122"/>
                <a:cs typeface="Arial" pitchFamily="34" charset="-120"/>
              </a:rPr>
              <a:t>Không dùng kết quả cho quyết định y tế, tuyển dụng, kỷ luật hoặc các quyết định nhạy cảm.</a:t>
            </a:r>
            <a:endParaRPr lang="en-US" sz="1150" dirty="0"/>
          </a:p>
        </p:txBody>
      </p:sp>
      <p:sp>
        <p:nvSpPr>
          <p:cNvPr id="41" name="Shape 34"/>
          <p:cNvSpPr/>
          <p:nvPr/>
        </p:nvSpPr>
        <p:spPr>
          <a:xfrm>
            <a:off x="530352" y="6382512"/>
            <a:ext cx="11128248" cy="0"/>
          </a:xfrm>
          <a:prstGeom prst="line">
            <a:avLst/>
          </a:prstGeom>
          <a:noFill/>
          <a:ln w="10160">
            <a:solidFill>
              <a:srgbClr val="E2E8F0"/>
            </a:solidFill>
            <a:prstDash val="solid"/>
          </a:ln>
        </p:spPr>
      </p:sp>
      <p:sp>
        <p:nvSpPr>
          <p:cNvPr id="42" name="Text 35"/>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docs/USAGE.md • cảnh báo confidence được chỉnh theo benchmark thực tế, không gắn ngưỡng “tin tuyệt đối”.</a:t>
            </a:r>
            <a:endParaRPr lang="en-US" sz="850" dirty="0"/>
          </a:p>
        </p:txBody>
      </p:sp>
      <p:sp>
        <p:nvSpPr>
          <p:cNvPr id="43"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20  /  DEMO</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Demo tốt vẫn chuẩn bị cho dự đoán sai</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Mục tiêu của demo là chứng minh pipeline chạy, không chọn mẫu để khoe accuracy.</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55648"/>
            <a:ext cx="4846320" cy="4315968"/>
          </a:xfrm>
          <a:prstGeom prst="roundRect">
            <a:avLst>
              <a:gd name="adj" fmla="val 1059"/>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859536" y="2048256"/>
            <a:ext cx="512064" cy="512064"/>
          </a:xfrm>
          <a:prstGeom prst="ellipse">
            <a:avLst/>
          </a:prstGeom>
          <a:solidFill>
            <a:srgbClr val="DBEAFE"/>
          </a:solidFill>
          <a:ln w="12700">
            <a:solidFill>
              <a:srgbClr val="DBEAFE"/>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7552" y="2176272"/>
            <a:ext cx="256032" cy="256032"/>
          </a:xfrm>
          <a:prstGeom prst="rect">
            <a:avLst/>
          </a:prstGeom>
        </p:spPr>
      </p:pic>
      <p:sp>
        <p:nvSpPr>
          <p:cNvPr id="10" name="Text 7"/>
          <p:cNvSpPr txBox="1"/>
          <p:nvPr/>
        </p:nvSpPr>
        <p:spPr>
          <a:xfrm>
            <a:off x="1554480" y="2084832"/>
            <a:ext cx="2907792" cy="310896"/>
          </a:xfrm>
          <a:prstGeom prst="rect">
            <a:avLst/>
          </a:prstGeom>
          <a:noFill/>
          <a:ln/>
        </p:spPr>
        <p:txBody>
          <a:bodyPr wrap="square" lIns="0" tIns="0" rIns="0" bIns="0" rtlCol="0" anchor="ctr">
            <a:normAutofit/>
          </a:bodyPr>
          <a:lstStyle/>
          <a:p>
            <a:pPr marL="0" indent="0" algn="l">
              <a:buNone/>
            </a:pPr>
            <a:r>
              <a:rPr lang="en-US" sz="1300" b="1" dirty="0">
                <a:solidFill>
                  <a:srgbClr val="1D4ED8"/>
                </a:solidFill>
                <a:latin typeface="Arial" pitchFamily="34" charset="0"/>
                <a:ea typeface="Arial" pitchFamily="34" charset="-122"/>
                <a:cs typeface="Arial" pitchFamily="34" charset="-120"/>
              </a:rPr>
              <a:t>CHECKLIST TRƯỚC DEMO</a:t>
            </a:r>
            <a:endParaRPr lang="en-US" sz="13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6112" y="2770632"/>
            <a:ext cx="256032" cy="256032"/>
          </a:xfrm>
          <a:prstGeom prst="rect">
            <a:avLst/>
          </a:prstGeom>
        </p:spPr>
      </p:pic>
      <p:sp>
        <p:nvSpPr>
          <p:cNvPr id="12" name="Text 8"/>
          <p:cNvSpPr txBox="1"/>
          <p:nvPr/>
        </p:nvSpPr>
        <p:spPr>
          <a:xfrm>
            <a:off x="1335024" y="2743200"/>
            <a:ext cx="1773936" cy="274320"/>
          </a:xfrm>
          <a:prstGeom prst="rect">
            <a:avLst/>
          </a:prstGeom>
          <a:noFill/>
          <a:ln/>
        </p:spPr>
        <p:txBody>
          <a:bodyPr wrap="square" lIns="0" tIns="0" rIns="0" bIns="0" rtlCol="0" anchor="ctr">
            <a:normAutofit/>
          </a:bodyPr>
          <a:lstStyle/>
          <a:p>
            <a:pPr marL="0" indent="0" algn="l">
              <a:buNone/>
            </a:pPr>
            <a:r>
              <a:rPr lang="en-US" sz="1250" b="1" dirty="0">
                <a:solidFill>
                  <a:srgbClr val="0F172A"/>
                </a:solidFill>
                <a:latin typeface="Arial" pitchFamily="34" charset="0"/>
                <a:ea typeface="Arial" pitchFamily="34" charset="-122"/>
                <a:cs typeface="Arial" pitchFamily="34" charset="-120"/>
              </a:rPr>
              <a:t>Chuẩn bị 2–3 audio</a:t>
            </a:r>
            <a:endParaRPr lang="en-US" sz="1250" dirty="0"/>
          </a:p>
        </p:txBody>
      </p:sp>
      <p:sp>
        <p:nvSpPr>
          <p:cNvPr id="13" name="Text 9"/>
          <p:cNvSpPr txBox="1"/>
          <p:nvPr/>
        </p:nvSpPr>
        <p:spPr>
          <a:xfrm>
            <a:off x="3145536" y="2743200"/>
            <a:ext cx="1755648" cy="420624"/>
          </a:xfrm>
          <a:prstGeom prst="rect">
            <a:avLst/>
          </a:prstGeom>
          <a:noFill/>
          <a:ln/>
        </p:spPr>
        <p:txBody>
          <a:bodyPr wrap="square" lIns="0" tIns="0" rIns="0" bIns="0" rtlCol="0" anchor="t">
            <a:normAutofit/>
          </a:bodyPr>
          <a:lstStyle/>
          <a:p>
            <a:pPr marL="0" indent="0" algn="l">
              <a:buNone/>
            </a:pPr>
            <a:r>
              <a:rPr lang="en-US" sz="980" dirty="0">
                <a:solidFill>
                  <a:srgbClr val="64748B"/>
                </a:solidFill>
                <a:latin typeface="Arial" pitchFamily="34" charset="0"/>
                <a:ea typeface="Arial" pitchFamily="34" charset="-122"/>
                <a:cs typeface="Arial" pitchFamily="34" charset="-120"/>
              </a:rPr>
              <a:t>neutral • angry • happy/sad</a:t>
            </a:r>
            <a:endParaRPr lang="en-US" sz="98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6112" y="3429000"/>
            <a:ext cx="256032" cy="256032"/>
          </a:xfrm>
          <a:prstGeom prst="rect">
            <a:avLst/>
          </a:prstGeom>
        </p:spPr>
      </p:pic>
      <p:sp>
        <p:nvSpPr>
          <p:cNvPr id="15" name="Text 10"/>
          <p:cNvSpPr txBox="1"/>
          <p:nvPr/>
        </p:nvSpPr>
        <p:spPr>
          <a:xfrm>
            <a:off x="1335024" y="3401568"/>
            <a:ext cx="1773936" cy="274320"/>
          </a:xfrm>
          <a:prstGeom prst="rect">
            <a:avLst/>
          </a:prstGeom>
          <a:noFill/>
          <a:ln/>
        </p:spPr>
        <p:txBody>
          <a:bodyPr wrap="square" lIns="0" tIns="0" rIns="0" bIns="0" rtlCol="0" anchor="ctr">
            <a:normAutofit/>
          </a:bodyPr>
          <a:lstStyle/>
          <a:p>
            <a:pPr marL="0" indent="0" algn="l">
              <a:buNone/>
            </a:pPr>
            <a:r>
              <a:rPr lang="en-US" sz="1250" b="1" dirty="0">
                <a:solidFill>
                  <a:srgbClr val="0F172A"/>
                </a:solidFill>
                <a:latin typeface="Arial" pitchFamily="34" charset="0"/>
                <a:ea typeface="Arial" pitchFamily="34" charset="-122"/>
                <a:cs typeface="Arial" pitchFamily="34" charset="-120"/>
              </a:rPr>
              <a:t>Kiểm tra app và model</a:t>
            </a:r>
            <a:endParaRPr lang="en-US" sz="1250" dirty="0"/>
          </a:p>
        </p:txBody>
      </p:sp>
      <p:sp>
        <p:nvSpPr>
          <p:cNvPr id="16" name="Text 11"/>
          <p:cNvSpPr txBox="1"/>
          <p:nvPr/>
        </p:nvSpPr>
        <p:spPr>
          <a:xfrm>
            <a:off x="3145536" y="3401568"/>
            <a:ext cx="1755648" cy="420624"/>
          </a:xfrm>
          <a:prstGeom prst="rect">
            <a:avLst/>
          </a:prstGeom>
          <a:noFill/>
          <a:ln/>
        </p:spPr>
        <p:txBody>
          <a:bodyPr wrap="square" lIns="0" tIns="0" rIns="0" bIns="0" rtlCol="0" anchor="t">
            <a:normAutofit/>
          </a:bodyPr>
          <a:lstStyle/>
          <a:p>
            <a:pPr marL="0" indent="0" algn="l">
              <a:buNone/>
            </a:pPr>
            <a:r>
              <a:rPr lang="en-US" sz="980" dirty="0">
                <a:solidFill>
                  <a:srgbClr val="64748B"/>
                </a:solidFill>
                <a:latin typeface="Arial" pitchFamily="34" charset="0"/>
                <a:ea typeface="Arial" pitchFamily="34" charset="-122"/>
                <a:cs typeface="Arial" pitchFamily="34" charset="-120"/>
              </a:rPr>
              <a:t>warmup trước khi lên trình bày</a:t>
            </a:r>
            <a:endParaRPr lang="en-US" sz="98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6112" y="4087368"/>
            <a:ext cx="256032" cy="256032"/>
          </a:xfrm>
          <a:prstGeom prst="rect">
            <a:avLst/>
          </a:prstGeom>
        </p:spPr>
      </p:pic>
      <p:sp>
        <p:nvSpPr>
          <p:cNvPr id="18" name="Text 12"/>
          <p:cNvSpPr txBox="1"/>
          <p:nvPr/>
        </p:nvSpPr>
        <p:spPr>
          <a:xfrm>
            <a:off x="1335024" y="4059936"/>
            <a:ext cx="1773936" cy="274320"/>
          </a:xfrm>
          <a:prstGeom prst="rect">
            <a:avLst/>
          </a:prstGeom>
          <a:noFill/>
          <a:ln/>
        </p:spPr>
        <p:txBody>
          <a:bodyPr wrap="square" lIns="0" tIns="0" rIns="0" bIns="0" rtlCol="0" anchor="ctr">
            <a:normAutofit/>
          </a:bodyPr>
          <a:lstStyle/>
          <a:p>
            <a:pPr marL="0" indent="0" algn="l">
              <a:buNone/>
            </a:pPr>
            <a:r>
              <a:rPr lang="en-US" sz="1250" b="1" dirty="0">
                <a:solidFill>
                  <a:srgbClr val="0F172A"/>
                </a:solidFill>
                <a:latin typeface="Arial" pitchFamily="34" charset="0"/>
                <a:ea typeface="Arial" pitchFamily="34" charset="-122"/>
                <a:cs typeface="Arial" pitchFamily="34" charset="-120"/>
              </a:rPr>
              <a:t>Giữ audio rõ</a:t>
            </a:r>
            <a:endParaRPr lang="en-US" sz="1250" dirty="0"/>
          </a:p>
        </p:txBody>
      </p:sp>
      <p:sp>
        <p:nvSpPr>
          <p:cNvPr id="19" name="Text 13"/>
          <p:cNvSpPr txBox="1"/>
          <p:nvPr/>
        </p:nvSpPr>
        <p:spPr>
          <a:xfrm>
            <a:off x="3145536" y="4059936"/>
            <a:ext cx="1755648" cy="420624"/>
          </a:xfrm>
          <a:prstGeom prst="rect">
            <a:avLst/>
          </a:prstGeom>
          <a:noFill/>
          <a:ln/>
        </p:spPr>
        <p:txBody>
          <a:bodyPr wrap="square" lIns="0" tIns="0" rIns="0" bIns="0" rtlCol="0" anchor="t">
            <a:normAutofit/>
          </a:bodyPr>
          <a:lstStyle/>
          <a:p>
            <a:pPr marL="0" indent="0" algn="l">
              <a:buNone/>
            </a:pPr>
            <a:r>
              <a:rPr lang="en-US" sz="980" dirty="0">
                <a:solidFill>
                  <a:srgbClr val="64748B"/>
                </a:solidFill>
                <a:latin typeface="Arial" pitchFamily="34" charset="0"/>
                <a:ea typeface="Arial" pitchFamily="34" charset="-122"/>
                <a:cs typeface="Arial" pitchFamily="34" charset="-120"/>
              </a:rPr>
              <a:t>3–10 giây, ít nhiễu</a:t>
            </a:r>
            <a:endParaRPr lang="en-US" sz="98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6112" y="4745736"/>
            <a:ext cx="256032" cy="256032"/>
          </a:xfrm>
          <a:prstGeom prst="rect">
            <a:avLst/>
          </a:prstGeom>
        </p:spPr>
      </p:pic>
      <p:sp>
        <p:nvSpPr>
          <p:cNvPr id="21" name="Text 14"/>
          <p:cNvSpPr txBox="1"/>
          <p:nvPr/>
        </p:nvSpPr>
        <p:spPr>
          <a:xfrm>
            <a:off x="1335024" y="4718304"/>
            <a:ext cx="1773936" cy="274320"/>
          </a:xfrm>
          <a:prstGeom prst="rect">
            <a:avLst/>
          </a:prstGeom>
          <a:noFill/>
          <a:ln/>
        </p:spPr>
        <p:txBody>
          <a:bodyPr wrap="square" lIns="0" tIns="0" rIns="0" bIns="0" rtlCol="0" anchor="ctr">
            <a:normAutofit/>
          </a:bodyPr>
          <a:lstStyle/>
          <a:p>
            <a:pPr marL="0" indent="0" algn="l">
              <a:buNone/>
            </a:pPr>
            <a:r>
              <a:rPr lang="en-US" sz="1250" b="1" dirty="0">
                <a:solidFill>
                  <a:srgbClr val="0F172A"/>
                </a:solidFill>
                <a:latin typeface="Arial" pitchFamily="34" charset="0"/>
                <a:ea typeface="Arial" pitchFamily="34" charset="-122"/>
                <a:cs typeface="Arial" pitchFamily="34" charset="-120"/>
              </a:rPr>
              <a:t>Không cherry-pick</a:t>
            </a:r>
            <a:endParaRPr lang="en-US" sz="1250" dirty="0"/>
          </a:p>
        </p:txBody>
      </p:sp>
      <p:sp>
        <p:nvSpPr>
          <p:cNvPr id="22" name="Text 15"/>
          <p:cNvSpPr txBox="1"/>
          <p:nvPr/>
        </p:nvSpPr>
        <p:spPr>
          <a:xfrm>
            <a:off x="3145536" y="4718304"/>
            <a:ext cx="1755648" cy="420624"/>
          </a:xfrm>
          <a:prstGeom prst="rect">
            <a:avLst/>
          </a:prstGeom>
          <a:noFill/>
          <a:ln/>
        </p:spPr>
        <p:txBody>
          <a:bodyPr wrap="square" lIns="0" tIns="0" rIns="0" bIns="0" rtlCol="0" anchor="t">
            <a:normAutofit/>
          </a:bodyPr>
          <a:lstStyle/>
          <a:p>
            <a:pPr marL="0" indent="0" algn="l">
              <a:buNone/>
            </a:pPr>
            <a:r>
              <a:rPr lang="en-US" sz="980" dirty="0">
                <a:solidFill>
                  <a:srgbClr val="64748B"/>
                </a:solidFill>
                <a:latin typeface="Arial" pitchFamily="34" charset="0"/>
                <a:ea typeface="Arial" pitchFamily="34" charset="-122"/>
                <a:cs typeface="Arial" pitchFamily="34" charset="-120"/>
              </a:rPr>
              <a:t>nói rõ sample nào đang dùng</a:t>
            </a:r>
            <a:endParaRPr lang="en-US" sz="980" dirty="0"/>
          </a:p>
        </p:txBody>
      </p:sp>
      <p:sp>
        <p:nvSpPr>
          <p:cNvPr id="23" name="Shape 16"/>
          <p:cNvSpPr/>
          <p:nvPr/>
        </p:nvSpPr>
        <p:spPr>
          <a:xfrm>
            <a:off x="5705856" y="1755648"/>
            <a:ext cx="5934456" cy="4315968"/>
          </a:xfrm>
          <a:prstGeom prst="roundRect">
            <a:avLst>
              <a:gd name="adj" fmla="val 1059"/>
            </a:avLst>
          </a:prstGeom>
          <a:solidFill>
            <a:srgbClr val="0F172A"/>
          </a:solidFill>
          <a:ln w="12700">
            <a:solidFill>
              <a:srgbClr val="0F172A"/>
            </a:solidFill>
            <a:prstDash val="solid"/>
          </a:ln>
        </p:spPr>
      </p:sp>
      <p:pic>
        <p:nvPicPr>
          <p:cNvPr id="24"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71616" y="2103120"/>
            <a:ext cx="530352" cy="530352"/>
          </a:xfrm>
          <a:prstGeom prst="rect">
            <a:avLst/>
          </a:prstGeom>
        </p:spPr>
      </p:pic>
      <p:sp>
        <p:nvSpPr>
          <p:cNvPr id="25" name="Text 17"/>
          <p:cNvSpPr txBox="1"/>
          <p:nvPr/>
        </p:nvSpPr>
        <p:spPr>
          <a:xfrm>
            <a:off x="6803136" y="2139696"/>
            <a:ext cx="2505456" cy="329184"/>
          </a:xfrm>
          <a:prstGeom prst="rect">
            <a:avLst/>
          </a:prstGeom>
          <a:noFill/>
          <a:ln/>
        </p:spPr>
        <p:txBody>
          <a:bodyPr wrap="square" lIns="0" tIns="0" rIns="0" bIns="0" rtlCol="0" anchor="ctr">
            <a:normAutofit/>
          </a:bodyPr>
          <a:lstStyle/>
          <a:p>
            <a:pPr marL="0" indent="0" algn="l">
              <a:buNone/>
            </a:pPr>
            <a:r>
              <a:rPr lang="en-US" sz="1400" b="1" dirty="0">
                <a:solidFill>
                  <a:srgbClr val="FDE68A"/>
                </a:solidFill>
                <a:latin typeface="Arial" pitchFamily="34" charset="0"/>
                <a:ea typeface="Arial" pitchFamily="34" charset="-122"/>
                <a:cs typeface="Arial" pitchFamily="34" charset="-120"/>
              </a:rPr>
              <a:t>NẾU MODEL SAI</a:t>
            </a:r>
            <a:endParaRPr lang="en-US" sz="1400" dirty="0"/>
          </a:p>
        </p:txBody>
      </p:sp>
      <p:sp>
        <p:nvSpPr>
          <p:cNvPr id="26" name="Shape 18"/>
          <p:cNvSpPr/>
          <p:nvPr/>
        </p:nvSpPr>
        <p:spPr>
          <a:xfrm>
            <a:off x="6089904" y="2907792"/>
            <a:ext cx="384048" cy="384048"/>
          </a:xfrm>
          <a:prstGeom prst="ellipse">
            <a:avLst/>
          </a:prstGeom>
          <a:solidFill>
            <a:srgbClr val="17375E"/>
          </a:solidFill>
          <a:ln w="12700">
            <a:solidFill>
              <a:srgbClr val="33517F"/>
            </a:solidFill>
            <a:prstDash val="solid"/>
          </a:ln>
        </p:spPr>
      </p:sp>
      <p:sp>
        <p:nvSpPr>
          <p:cNvPr id="27" name="Text 19"/>
          <p:cNvSpPr txBox="1"/>
          <p:nvPr/>
        </p:nvSpPr>
        <p:spPr>
          <a:xfrm>
            <a:off x="6089904" y="2907792"/>
            <a:ext cx="384048" cy="38404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8" name="Text 20"/>
          <p:cNvSpPr txBox="1"/>
          <p:nvPr/>
        </p:nvSpPr>
        <p:spPr>
          <a:xfrm>
            <a:off x="6711696" y="2889504"/>
            <a:ext cx="2066544" cy="292608"/>
          </a:xfrm>
          <a:prstGeom prst="rect">
            <a:avLst/>
          </a:prstGeom>
          <a:noFill/>
          <a:ln/>
        </p:spPr>
        <p:txBody>
          <a:bodyPr wrap="square" lIns="0" tIns="0" rIns="0" bIns="0" rtlCol="0" anchor="ctr">
            <a:normAutofit/>
          </a:bodyPr>
          <a:lstStyle/>
          <a:p>
            <a:pPr marL="0" indent="0" algn="l">
              <a:buNone/>
            </a:pPr>
            <a:r>
              <a:rPr lang="en-US" sz="1250" b="1" dirty="0">
                <a:solidFill>
                  <a:srgbClr val="FFFFFF"/>
                </a:solidFill>
                <a:latin typeface="Arial" pitchFamily="34" charset="0"/>
                <a:ea typeface="Arial" pitchFamily="34" charset="-122"/>
                <a:cs typeface="Arial" pitchFamily="34" charset="-120"/>
              </a:rPr>
              <a:t>Không che kết quả</a:t>
            </a:r>
            <a:endParaRPr lang="en-US" sz="1250" dirty="0"/>
          </a:p>
        </p:txBody>
      </p:sp>
      <p:sp>
        <p:nvSpPr>
          <p:cNvPr id="29" name="Text 21"/>
          <p:cNvSpPr txBox="1"/>
          <p:nvPr/>
        </p:nvSpPr>
        <p:spPr>
          <a:xfrm>
            <a:off x="8851392" y="2889504"/>
            <a:ext cx="2157984" cy="493776"/>
          </a:xfrm>
          <a:prstGeom prst="rect">
            <a:avLst/>
          </a:prstGeom>
          <a:noFill/>
          <a:ln/>
        </p:spPr>
        <p:txBody>
          <a:bodyPr wrap="square" lIns="0" tIns="0" rIns="0" bIns="0" rtlCol="0" anchor="t">
            <a:normAutofit/>
          </a:bodyPr>
          <a:lstStyle/>
          <a:p>
            <a:pPr marL="0" indent="0" algn="l">
              <a:buNone/>
            </a:pPr>
            <a:r>
              <a:rPr lang="en-US" sz="1000" dirty="0">
                <a:solidFill>
                  <a:srgbClr val="CBD5E1"/>
                </a:solidFill>
                <a:latin typeface="Arial" pitchFamily="34" charset="0"/>
                <a:ea typeface="Arial" pitchFamily="34" charset="-122"/>
                <a:cs typeface="Arial" pitchFamily="34" charset="-120"/>
              </a:rPr>
              <a:t>giữ nguyên raw label và scores</a:t>
            </a:r>
            <a:endParaRPr lang="en-US" sz="1000" dirty="0"/>
          </a:p>
        </p:txBody>
      </p:sp>
      <p:sp>
        <p:nvSpPr>
          <p:cNvPr id="30" name="Shape 22"/>
          <p:cNvSpPr/>
          <p:nvPr/>
        </p:nvSpPr>
        <p:spPr>
          <a:xfrm>
            <a:off x="6089904" y="3712464"/>
            <a:ext cx="384048" cy="384048"/>
          </a:xfrm>
          <a:prstGeom prst="ellipse">
            <a:avLst/>
          </a:prstGeom>
          <a:solidFill>
            <a:srgbClr val="17375E"/>
          </a:solidFill>
          <a:ln w="12700">
            <a:solidFill>
              <a:srgbClr val="33517F"/>
            </a:solidFill>
            <a:prstDash val="solid"/>
          </a:ln>
        </p:spPr>
      </p:sp>
      <p:sp>
        <p:nvSpPr>
          <p:cNvPr id="31" name="Text 23"/>
          <p:cNvSpPr txBox="1"/>
          <p:nvPr/>
        </p:nvSpPr>
        <p:spPr>
          <a:xfrm>
            <a:off x="6089904" y="3712464"/>
            <a:ext cx="384048" cy="38404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2" name="Text 24"/>
          <p:cNvSpPr txBox="1"/>
          <p:nvPr/>
        </p:nvSpPr>
        <p:spPr>
          <a:xfrm>
            <a:off x="6711696" y="3694176"/>
            <a:ext cx="2066544" cy="292608"/>
          </a:xfrm>
          <a:prstGeom prst="rect">
            <a:avLst/>
          </a:prstGeom>
          <a:noFill/>
          <a:ln/>
        </p:spPr>
        <p:txBody>
          <a:bodyPr wrap="square" lIns="0" tIns="0" rIns="0" bIns="0" rtlCol="0" anchor="ctr">
            <a:normAutofit/>
          </a:bodyPr>
          <a:lstStyle/>
          <a:p>
            <a:pPr marL="0" indent="0" algn="l">
              <a:buNone/>
            </a:pPr>
            <a:r>
              <a:rPr lang="en-US" sz="1250" b="1" dirty="0">
                <a:solidFill>
                  <a:srgbClr val="FFFFFF"/>
                </a:solidFill>
                <a:latin typeface="Arial" pitchFamily="34" charset="0"/>
                <a:ea typeface="Arial" pitchFamily="34" charset="-122"/>
                <a:cs typeface="Arial" pitchFamily="34" charset="-120"/>
              </a:rPr>
              <a:t>Đối chiếu benchmark</a:t>
            </a:r>
            <a:endParaRPr lang="en-US" sz="1250" dirty="0"/>
          </a:p>
        </p:txBody>
      </p:sp>
      <p:sp>
        <p:nvSpPr>
          <p:cNvPr id="33" name="Text 25"/>
          <p:cNvSpPr txBox="1"/>
          <p:nvPr/>
        </p:nvSpPr>
        <p:spPr>
          <a:xfrm>
            <a:off x="8851392" y="3694176"/>
            <a:ext cx="2157984" cy="493776"/>
          </a:xfrm>
          <a:prstGeom prst="rect">
            <a:avLst/>
          </a:prstGeom>
          <a:noFill/>
          <a:ln/>
        </p:spPr>
        <p:txBody>
          <a:bodyPr wrap="square" lIns="0" tIns="0" rIns="0" bIns="0" rtlCol="0" anchor="t">
            <a:normAutofit/>
          </a:bodyPr>
          <a:lstStyle/>
          <a:p>
            <a:pPr marL="0" indent="0" algn="l">
              <a:buNone/>
            </a:pPr>
            <a:r>
              <a:rPr lang="en-US" sz="1000" dirty="0">
                <a:solidFill>
                  <a:srgbClr val="CBD5E1"/>
                </a:solidFill>
                <a:latin typeface="Arial" pitchFamily="34" charset="0"/>
                <a:ea typeface="Arial" pitchFamily="34" charset="-122"/>
                <a:cs typeface="Arial" pitchFamily="34" charset="-120"/>
              </a:rPr>
              <a:t>happy/sad yếu; lỗi class chưa đều</a:t>
            </a:r>
            <a:endParaRPr lang="en-US" sz="1000" dirty="0"/>
          </a:p>
        </p:txBody>
      </p:sp>
      <p:sp>
        <p:nvSpPr>
          <p:cNvPr id="34" name="Shape 26"/>
          <p:cNvSpPr/>
          <p:nvPr/>
        </p:nvSpPr>
        <p:spPr>
          <a:xfrm>
            <a:off x="6089904" y="4517136"/>
            <a:ext cx="384048" cy="384048"/>
          </a:xfrm>
          <a:prstGeom prst="ellipse">
            <a:avLst/>
          </a:prstGeom>
          <a:solidFill>
            <a:srgbClr val="17375E"/>
          </a:solidFill>
          <a:ln w="12700">
            <a:solidFill>
              <a:srgbClr val="33517F"/>
            </a:solidFill>
            <a:prstDash val="solid"/>
          </a:ln>
        </p:spPr>
      </p:sp>
      <p:sp>
        <p:nvSpPr>
          <p:cNvPr id="35" name="Text 27"/>
          <p:cNvSpPr txBox="1"/>
          <p:nvPr/>
        </p:nvSpPr>
        <p:spPr>
          <a:xfrm>
            <a:off x="6089904" y="4517136"/>
            <a:ext cx="384048" cy="38404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6" name="Text 28"/>
          <p:cNvSpPr txBox="1"/>
          <p:nvPr/>
        </p:nvSpPr>
        <p:spPr>
          <a:xfrm>
            <a:off x="6711696" y="4498848"/>
            <a:ext cx="2066544" cy="292608"/>
          </a:xfrm>
          <a:prstGeom prst="rect">
            <a:avLst/>
          </a:prstGeom>
          <a:noFill/>
          <a:ln/>
        </p:spPr>
        <p:txBody>
          <a:bodyPr wrap="square" lIns="0" tIns="0" rIns="0" bIns="0" rtlCol="0" anchor="ctr">
            <a:normAutofit/>
          </a:bodyPr>
          <a:lstStyle/>
          <a:p>
            <a:pPr marL="0" indent="0" algn="l">
              <a:buNone/>
            </a:pPr>
            <a:r>
              <a:rPr lang="en-US" sz="1250" b="1" dirty="0">
                <a:solidFill>
                  <a:srgbClr val="FFFFFF"/>
                </a:solidFill>
                <a:latin typeface="Arial" pitchFamily="34" charset="0"/>
                <a:ea typeface="Arial" pitchFamily="34" charset="-122"/>
                <a:cs typeface="Arial" pitchFamily="34" charset="-120"/>
              </a:rPr>
              <a:t>Giải thích đúng mức</a:t>
            </a:r>
            <a:endParaRPr lang="en-US" sz="1250" dirty="0"/>
          </a:p>
        </p:txBody>
      </p:sp>
      <p:sp>
        <p:nvSpPr>
          <p:cNvPr id="37" name="Text 29"/>
          <p:cNvSpPr txBox="1"/>
          <p:nvPr/>
        </p:nvSpPr>
        <p:spPr>
          <a:xfrm>
            <a:off x="8851392" y="4498848"/>
            <a:ext cx="2157984" cy="493776"/>
          </a:xfrm>
          <a:prstGeom prst="rect">
            <a:avLst/>
          </a:prstGeom>
          <a:noFill/>
          <a:ln/>
        </p:spPr>
        <p:txBody>
          <a:bodyPr wrap="square" lIns="0" tIns="0" rIns="0" bIns="0" rtlCol="0" anchor="t">
            <a:normAutofit/>
          </a:bodyPr>
          <a:lstStyle/>
          <a:p>
            <a:pPr marL="0" indent="0" algn="l">
              <a:buNone/>
            </a:pPr>
            <a:r>
              <a:rPr lang="en-US" sz="1000" dirty="0">
                <a:solidFill>
                  <a:srgbClr val="CBD5E1"/>
                </a:solidFill>
                <a:latin typeface="Arial" pitchFamily="34" charset="0"/>
                <a:ea typeface="Arial" pitchFamily="34" charset="-122"/>
                <a:cs typeface="Arial" pitchFamily="34" charset="-120"/>
              </a:rPr>
              <a:t>demo chứng minh pipeline, không chứng minh accuracy cao</a:t>
            </a:r>
            <a:endParaRPr lang="en-US" sz="1000" dirty="0"/>
          </a:p>
        </p:txBody>
      </p:sp>
      <p:sp>
        <p:nvSpPr>
          <p:cNvPr id="38" name="Shape 30"/>
          <p:cNvSpPr/>
          <p:nvPr/>
        </p:nvSpPr>
        <p:spPr>
          <a:xfrm>
            <a:off x="6071616" y="5449824"/>
            <a:ext cx="5193792" cy="384048"/>
          </a:xfrm>
          <a:prstGeom prst="roundRect">
            <a:avLst>
              <a:gd name="adj" fmla="val 9524"/>
            </a:avLst>
          </a:prstGeom>
          <a:solidFill>
            <a:srgbClr val="17375E"/>
          </a:solidFill>
          <a:ln w="12700">
            <a:solidFill>
              <a:srgbClr val="17375E"/>
            </a:solidFill>
            <a:prstDash val="solid"/>
          </a:ln>
        </p:spPr>
      </p:sp>
      <p:sp>
        <p:nvSpPr>
          <p:cNvPr id="39" name="Text 31"/>
          <p:cNvSpPr txBox="1"/>
          <p:nvPr/>
        </p:nvSpPr>
        <p:spPr>
          <a:xfrm>
            <a:off x="6144768" y="5449824"/>
            <a:ext cx="5047488" cy="384048"/>
          </a:xfrm>
          <a:prstGeom prst="rect">
            <a:avLst/>
          </a:prstGeom>
          <a:noFill/>
          <a:ln/>
        </p:spPr>
        <p:txBody>
          <a:bodyPr wrap="square" lIns="0" tIns="0" rIns="0" bIns="0" rtlCol="0" anchor="ctr">
            <a:normAutofit/>
          </a:bodyPr>
          <a:lstStyle/>
          <a:p>
            <a:pPr marL="0" indent="0" algn="ctr">
              <a:buNone/>
            </a:pPr>
            <a:r>
              <a:rPr lang="en-US" sz="1000" b="1" dirty="0">
                <a:solidFill>
                  <a:srgbClr val="BAE6FD"/>
                </a:solidFill>
                <a:latin typeface="Arial" pitchFamily="34" charset="0"/>
                <a:ea typeface="Arial" pitchFamily="34" charset="-122"/>
                <a:cs typeface="Arial" pitchFamily="34" charset="-120"/>
              </a:rPr>
              <a:t>DỰ ĐOÁN SAI CŨNG LÀ MỘT KẾT QUẢ HỢP LỆ</a:t>
            </a:r>
            <a:endParaRPr lang="en-US" sz="1000" dirty="0"/>
          </a:p>
        </p:txBody>
      </p:sp>
      <p:sp>
        <p:nvSpPr>
          <p:cNvPr id="40" name="Shape 32"/>
          <p:cNvSpPr/>
          <p:nvPr/>
        </p:nvSpPr>
        <p:spPr>
          <a:xfrm>
            <a:off x="530352" y="6382512"/>
            <a:ext cx="11128248" cy="0"/>
          </a:xfrm>
          <a:prstGeom prst="line">
            <a:avLst/>
          </a:prstGeom>
          <a:noFill/>
          <a:ln w="10160">
            <a:solidFill>
              <a:srgbClr val="E2E8F0"/>
            </a:solidFill>
            <a:prstDash val="solid"/>
          </a:ln>
        </p:spPr>
      </p:sp>
      <p:sp>
        <p:nvSpPr>
          <p:cNvPr id="41" name="Text 33"/>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Demo flow dựa trên docs/USAGE.md; không dùng confidence mẫu tưởng tượng trong tài liệu cũ.</a:t>
            </a:r>
            <a:endParaRPr lang="en-US" sz="850" dirty="0"/>
          </a:p>
        </p:txBody>
      </p:sp>
      <p:sp>
        <p:nvSpPr>
          <p:cNvPr id="42"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21  /  ĐÁNH GIÁ</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Benchmark cân bằng, không cherry-pick</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Methodology cố định trước khi chạy; confusion matrix lấy trực tiếp từ artifact 400 clips.</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37360"/>
            <a:ext cx="3730752" cy="4370832"/>
          </a:xfrm>
          <a:prstGeom prst="roundRect">
            <a:avLst>
              <a:gd name="adj" fmla="val 1225"/>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Text 6"/>
          <p:cNvSpPr txBox="1"/>
          <p:nvPr/>
        </p:nvSpPr>
        <p:spPr>
          <a:xfrm>
            <a:off x="859536" y="2029968"/>
            <a:ext cx="1956816" cy="274320"/>
          </a:xfrm>
          <a:prstGeom prst="rect">
            <a:avLst/>
          </a:prstGeom>
          <a:noFill/>
          <a:ln/>
        </p:spPr>
        <p:txBody>
          <a:bodyPr wrap="square" lIns="0" tIns="0" rIns="0" bIns="0" rtlCol="0" anchor="ctr">
            <a:normAutofit/>
          </a:bodyPr>
          <a:lstStyle/>
          <a:p>
            <a:pPr marL="0" indent="0" algn="l">
              <a:buNone/>
            </a:pPr>
            <a:r>
              <a:rPr lang="en-US" sz="1100" b="1" dirty="0">
                <a:solidFill>
                  <a:srgbClr val="1D4ED8"/>
                </a:solidFill>
                <a:latin typeface="Arial" pitchFamily="34" charset="0"/>
                <a:ea typeface="Arial" pitchFamily="34" charset="-122"/>
                <a:cs typeface="Arial" pitchFamily="34" charset="-120"/>
              </a:rPr>
              <a:t>METHODOLOGY</a:t>
            </a:r>
            <a:endParaRPr lang="en-US" sz="1100" dirty="0"/>
          </a:p>
        </p:txBody>
      </p:sp>
      <p:sp>
        <p:nvSpPr>
          <p:cNvPr id="9" name="Text 7"/>
          <p:cNvSpPr txBox="1"/>
          <p:nvPr/>
        </p:nvSpPr>
        <p:spPr>
          <a:xfrm>
            <a:off x="859536" y="2523744"/>
            <a:ext cx="1078992" cy="256032"/>
          </a:xfrm>
          <a:prstGeom prst="rect">
            <a:avLst/>
          </a:prstGeom>
          <a:noFill/>
          <a:ln/>
        </p:spPr>
        <p:txBody>
          <a:bodyPr wrap="square" lIns="0" tIns="0" rIns="0" bIns="0" rtlCol="0" anchor="ctr">
            <a:normAutofit/>
          </a:bodyPr>
          <a:lstStyle/>
          <a:p>
            <a:pPr marL="0" indent="0" algn="l">
              <a:buNone/>
            </a:pPr>
            <a:r>
              <a:rPr lang="en-US" sz="1050" b="1" dirty="0">
                <a:solidFill>
                  <a:srgbClr val="64748B"/>
                </a:solidFill>
                <a:latin typeface="Arial" pitchFamily="34" charset="0"/>
                <a:ea typeface="Arial" pitchFamily="34" charset="-122"/>
                <a:cs typeface="Arial" pitchFamily="34" charset="-120"/>
              </a:rPr>
              <a:t>Dataset</a:t>
            </a:r>
            <a:endParaRPr lang="en-US" sz="1050" dirty="0"/>
          </a:p>
        </p:txBody>
      </p:sp>
      <p:sp>
        <p:nvSpPr>
          <p:cNvPr id="10" name="Text 8"/>
          <p:cNvSpPr txBox="1"/>
          <p:nvPr/>
        </p:nvSpPr>
        <p:spPr>
          <a:xfrm>
            <a:off x="1975104" y="2523744"/>
            <a:ext cx="1792224" cy="256032"/>
          </a:xfrm>
          <a:prstGeom prst="rect">
            <a:avLst/>
          </a:prstGeom>
          <a:noFill/>
          <a:ln/>
        </p:spPr>
        <p:txBody>
          <a:bodyPr wrap="square" lIns="0" tIns="0" rIns="0" bIns="0" rtlCol="0" anchor="ctr">
            <a:normAutofit/>
          </a:bodyPr>
          <a:lstStyle/>
          <a:p>
            <a:pPr marL="0" indent="0" algn="r">
              <a:buNone/>
            </a:pPr>
            <a:r>
              <a:rPr lang="en-US" sz="1100" b="1" dirty="0">
                <a:solidFill>
                  <a:srgbClr val="0F172A"/>
                </a:solidFill>
                <a:latin typeface="Arial" pitchFamily="34" charset="0"/>
                <a:ea typeface="Arial" pitchFamily="34" charset="-122"/>
                <a:cs typeface="Arial" pitchFamily="34" charset="-120"/>
              </a:rPr>
              <a:t>ViSEC public</a:t>
            </a:r>
            <a:endParaRPr lang="en-US" sz="1100" dirty="0"/>
          </a:p>
        </p:txBody>
      </p:sp>
      <p:sp>
        <p:nvSpPr>
          <p:cNvPr id="11" name="Shape 9"/>
          <p:cNvSpPr/>
          <p:nvPr/>
        </p:nvSpPr>
        <p:spPr>
          <a:xfrm>
            <a:off x="859536" y="2834640"/>
            <a:ext cx="2907792" cy="0"/>
          </a:xfrm>
          <a:prstGeom prst="line">
            <a:avLst/>
          </a:prstGeom>
          <a:noFill/>
          <a:ln w="10160">
            <a:solidFill>
              <a:srgbClr val="F1F5F9"/>
            </a:solidFill>
            <a:prstDash val="solid"/>
          </a:ln>
        </p:spPr>
      </p:sp>
      <p:sp>
        <p:nvSpPr>
          <p:cNvPr id="12" name="Text 10"/>
          <p:cNvSpPr txBox="1"/>
          <p:nvPr/>
        </p:nvSpPr>
        <p:spPr>
          <a:xfrm>
            <a:off x="859536" y="2999232"/>
            <a:ext cx="1078992" cy="256032"/>
          </a:xfrm>
          <a:prstGeom prst="rect">
            <a:avLst/>
          </a:prstGeom>
          <a:noFill/>
          <a:ln/>
        </p:spPr>
        <p:txBody>
          <a:bodyPr wrap="square" lIns="0" tIns="0" rIns="0" bIns="0" rtlCol="0" anchor="ctr">
            <a:normAutofit/>
          </a:bodyPr>
          <a:lstStyle/>
          <a:p>
            <a:pPr marL="0" indent="0" algn="l">
              <a:buNone/>
            </a:pPr>
            <a:r>
              <a:rPr lang="en-US" sz="1050" b="1" dirty="0">
                <a:solidFill>
                  <a:srgbClr val="64748B"/>
                </a:solidFill>
                <a:latin typeface="Arial" pitchFamily="34" charset="0"/>
                <a:ea typeface="Arial" pitchFamily="34" charset="-122"/>
                <a:cs typeface="Arial" pitchFamily="34" charset="-120"/>
              </a:rPr>
              <a:t>Subset</a:t>
            </a:r>
            <a:endParaRPr lang="en-US" sz="1050" dirty="0"/>
          </a:p>
        </p:txBody>
      </p:sp>
      <p:sp>
        <p:nvSpPr>
          <p:cNvPr id="13" name="Text 11"/>
          <p:cNvSpPr txBox="1"/>
          <p:nvPr/>
        </p:nvSpPr>
        <p:spPr>
          <a:xfrm>
            <a:off x="1975104" y="2999232"/>
            <a:ext cx="1792224" cy="256032"/>
          </a:xfrm>
          <a:prstGeom prst="rect">
            <a:avLst/>
          </a:prstGeom>
          <a:noFill/>
          <a:ln/>
        </p:spPr>
        <p:txBody>
          <a:bodyPr wrap="square" lIns="0" tIns="0" rIns="0" bIns="0" rtlCol="0" anchor="ctr">
            <a:normAutofit/>
          </a:bodyPr>
          <a:lstStyle/>
          <a:p>
            <a:pPr marL="0" indent="0" algn="r">
              <a:buNone/>
            </a:pPr>
            <a:r>
              <a:rPr lang="en-US" sz="1100" b="1" dirty="0">
                <a:solidFill>
                  <a:srgbClr val="0F172A"/>
                </a:solidFill>
                <a:latin typeface="Arial" pitchFamily="34" charset="0"/>
                <a:ea typeface="Arial" pitchFamily="34" charset="-122"/>
                <a:cs typeface="Arial" pitchFamily="34" charset="-120"/>
              </a:rPr>
              <a:t>400 clips balanced</a:t>
            </a:r>
            <a:endParaRPr lang="en-US" sz="1100" dirty="0"/>
          </a:p>
        </p:txBody>
      </p:sp>
      <p:sp>
        <p:nvSpPr>
          <p:cNvPr id="14" name="Shape 12"/>
          <p:cNvSpPr/>
          <p:nvPr/>
        </p:nvSpPr>
        <p:spPr>
          <a:xfrm>
            <a:off x="859536" y="3310128"/>
            <a:ext cx="2907792" cy="0"/>
          </a:xfrm>
          <a:prstGeom prst="line">
            <a:avLst/>
          </a:prstGeom>
          <a:noFill/>
          <a:ln w="10160">
            <a:solidFill>
              <a:srgbClr val="F1F5F9"/>
            </a:solidFill>
            <a:prstDash val="solid"/>
          </a:ln>
        </p:spPr>
      </p:sp>
      <p:sp>
        <p:nvSpPr>
          <p:cNvPr id="15" name="Text 13"/>
          <p:cNvSpPr txBox="1"/>
          <p:nvPr/>
        </p:nvSpPr>
        <p:spPr>
          <a:xfrm>
            <a:off x="859536" y="3474720"/>
            <a:ext cx="1078992" cy="256032"/>
          </a:xfrm>
          <a:prstGeom prst="rect">
            <a:avLst/>
          </a:prstGeom>
          <a:noFill/>
          <a:ln/>
        </p:spPr>
        <p:txBody>
          <a:bodyPr wrap="square" lIns="0" tIns="0" rIns="0" bIns="0" rtlCol="0" anchor="ctr">
            <a:normAutofit/>
          </a:bodyPr>
          <a:lstStyle/>
          <a:p>
            <a:pPr marL="0" indent="0" algn="l">
              <a:buNone/>
            </a:pPr>
            <a:r>
              <a:rPr lang="en-US" sz="1050" b="1" dirty="0">
                <a:solidFill>
                  <a:srgbClr val="64748B"/>
                </a:solidFill>
                <a:latin typeface="Arial" pitchFamily="34" charset="0"/>
                <a:ea typeface="Arial" pitchFamily="34" charset="-122"/>
                <a:cs typeface="Arial" pitchFamily="34" charset="-120"/>
              </a:rPr>
              <a:t>Sampling</a:t>
            </a:r>
            <a:endParaRPr lang="en-US" sz="1050" dirty="0"/>
          </a:p>
        </p:txBody>
      </p:sp>
      <p:sp>
        <p:nvSpPr>
          <p:cNvPr id="16" name="Text 14"/>
          <p:cNvSpPr txBox="1"/>
          <p:nvPr/>
        </p:nvSpPr>
        <p:spPr>
          <a:xfrm>
            <a:off x="1975104" y="3474720"/>
            <a:ext cx="1792224" cy="256032"/>
          </a:xfrm>
          <a:prstGeom prst="rect">
            <a:avLst/>
          </a:prstGeom>
          <a:noFill/>
          <a:ln/>
        </p:spPr>
        <p:txBody>
          <a:bodyPr wrap="square" lIns="0" tIns="0" rIns="0" bIns="0" rtlCol="0" anchor="ctr">
            <a:normAutofit/>
          </a:bodyPr>
          <a:lstStyle/>
          <a:p>
            <a:pPr marL="0" indent="0" algn="r">
              <a:buNone/>
            </a:pPr>
            <a:r>
              <a:rPr lang="en-US" sz="1100" b="1" dirty="0">
                <a:solidFill>
                  <a:srgbClr val="0F172A"/>
                </a:solidFill>
                <a:latin typeface="Arial" pitchFamily="34" charset="0"/>
                <a:ea typeface="Arial" pitchFamily="34" charset="-122"/>
                <a:cs typeface="Arial" pitchFamily="34" charset="-120"/>
              </a:rPr>
              <a:t>100 / class • seed 0</a:t>
            </a:r>
            <a:endParaRPr lang="en-US" sz="1100" dirty="0"/>
          </a:p>
        </p:txBody>
      </p:sp>
      <p:sp>
        <p:nvSpPr>
          <p:cNvPr id="17" name="Shape 15"/>
          <p:cNvSpPr/>
          <p:nvPr/>
        </p:nvSpPr>
        <p:spPr>
          <a:xfrm>
            <a:off x="859536" y="3785616"/>
            <a:ext cx="2907792" cy="0"/>
          </a:xfrm>
          <a:prstGeom prst="line">
            <a:avLst/>
          </a:prstGeom>
          <a:noFill/>
          <a:ln w="10160">
            <a:solidFill>
              <a:srgbClr val="F1F5F9"/>
            </a:solidFill>
            <a:prstDash val="solid"/>
          </a:ln>
        </p:spPr>
      </p:sp>
      <p:sp>
        <p:nvSpPr>
          <p:cNvPr id="18" name="Text 16"/>
          <p:cNvSpPr txBox="1"/>
          <p:nvPr/>
        </p:nvSpPr>
        <p:spPr>
          <a:xfrm>
            <a:off x="859536" y="3950208"/>
            <a:ext cx="1078992" cy="256032"/>
          </a:xfrm>
          <a:prstGeom prst="rect">
            <a:avLst/>
          </a:prstGeom>
          <a:noFill/>
          <a:ln/>
        </p:spPr>
        <p:txBody>
          <a:bodyPr wrap="square" lIns="0" tIns="0" rIns="0" bIns="0" rtlCol="0" anchor="ctr">
            <a:normAutofit/>
          </a:bodyPr>
          <a:lstStyle/>
          <a:p>
            <a:pPr marL="0" indent="0" algn="l">
              <a:buNone/>
            </a:pPr>
            <a:r>
              <a:rPr lang="en-US" sz="1050" b="1" dirty="0">
                <a:solidFill>
                  <a:srgbClr val="64748B"/>
                </a:solidFill>
                <a:latin typeface="Arial" pitchFamily="34" charset="0"/>
                <a:ea typeface="Arial" pitchFamily="34" charset="-122"/>
                <a:cs typeface="Arial" pitchFamily="34" charset="-120"/>
              </a:rPr>
              <a:t>Metrics</a:t>
            </a:r>
            <a:endParaRPr lang="en-US" sz="1050" dirty="0"/>
          </a:p>
        </p:txBody>
      </p:sp>
      <p:sp>
        <p:nvSpPr>
          <p:cNvPr id="19" name="Text 17"/>
          <p:cNvSpPr txBox="1"/>
          <p:nvPr/>
        </p:nvSpPr>
        <p:spPr>
          <a:xfrm>
            <a:off x="1975104" y="3950208"/>
            <a:ext cx="1792224" cy="256032"/>
          </a:xfrm>
          <a:prstGeom prst="rect">
            <a:avLst/>
          </a:prstGeom>
          <a:noFill/>
          <a:ln/>
        </p:spPr>
        <p:txBody>
          <a:bodyPr wrap="square" lIns="0" tIns="0" rIns="0" bIns="0" rtlCol="0" anchor="ctr">
            <a:normAutofit/>
          </a:bodyPr>
          <a:lstStyle/>
          <a:p>
            <a:pPr marL="0" indent="0" algn="r">
              <a:buNone/>
            </a:pPr>
            <a:r>
              <a:rPr lang="en-US" sz="1100" b="1" dirty="0">
                <a:solidFill>
                  <a:srgbClr val="0F172A"/>
                </a:solidFill>
                <a:latin typeface="Arial" pitchFamily="34" charset="0"/>
                <a:ea typeface="Arial" pitchFamily="34" charset="-122"/>
                <a:cs typeface="Arial" pitchFamily="34" charset="-120"/>
              </a:rPr>
              <a:t>Accuracy + Macro-F1</a:t>
            </a:r>
            <a:endParaRPr lang="en-US" sz="1100" dirty="0"/>
          </a:p>
        </p:txBody>
      </p:sp>
      <p:sp>
        <p:nvSpPr>
          <p:cNvPr id="20" name="Shape 18"/>
          <p:cNvSpPr/>
          <p:nvPr/>
        </p:nvSpPr>
        <p:spPr>
          <a:xfrm>
            <a:off x="859536" y="4261104"/>
            <a:ext cx="2907792" cy="0"/>
          </a:xfrm>
          <a:prstGeom prst="line">
            <a:avLst/>
          </a:prstGeom>
          <a:noFill/>
          <a:ln w="10160">
            <a:solidFill>
              <a:srgbClr val="F1F5F9"/>
            </a:solidFill>
            <a:prstDash val="solid"/>
          </a:ln>
        </p:spPr>
      </p:sp>
      <p:sp>
        <p:nvSpPr>
          <p:cNvPr id="21" name="Text 19"/>
          <p:cNvSpPr txBox="1"/>
          <p:nvPr/>
        </p:nvSpPr>
        <p:spPr>
          <a:xfrm>
            <a:off x="859536" y="4425696"/>
            <a:ext cx="1078992" cy="256032"/>
          </a:xfrm>
          <a:prstGeom prst="rect">
            <a:avLst/>
          </a:prstGeom>
          <a:noFill/>
          <a:ln/>
        </p:spPr>
        <p:txBody>
          <a:bodyPr wrap="square" lIns="0" tIns="0" rIns="0" bIns="0" rtlCol="0" anchor="ctr">
            <a:normAutofit/>
          </a:bodyPr>
          <a:lstStyle/>
          <a:p>
            <a:pPr marL="0" indent="0" algn="l">
              <a:buNone/>
            </a:pPr>
            <a:r>
              <a:rPr lang="en-US" sz="1050" b="1" dirty="0">
                <a:solidFill>
                  <a:srgbClr val="64748B"/>
                </a:solidFill>
                <a:latin typeface="Arial" pitchFamily="34" charset="0"/>
                <a:ea typeface="Arial" pitchFamily="34" charset="-122"/>
                <a:cs typeface="Arial" pitchFamily="34" charset="-120"/>
              </a:rPr>
              <a:t>Breakdown</a:t>
            </a:r>
            <a:endParaRPr lang="en-US" sz="1050" dirty="0"/>
          </a:p>
        </p:txBody>
      </p:sp>
      <p:sp>
        <p:nvSpPr>
          <p:cNvPr id="22" name="Text 20"/>
          <p:cNvSpPr txBox="1"/>
          <p:nvPr/>
        </p:nvSpPr>
        <p:spPr>
          <a:xfrm>
            <a:off x="1975104" y="4425696"/>
            <a:ext cx="1792224" cy="256032"/>
          </a:xfrm>
          <a:prstGeom prst="rect">
            <a:avLst/>
          </a:prstGeom>
          <a:noFill/>
          <a:ln/>
        </p:spPr>
        <p:txBody>
          <a:bodyPr wrap="square" lIns="0" tIns="0" rIns="0" bIns="0" rtlCol="0" anchor="ctr">
            <a:normAutofit/>
          </a:bodyPr>
          <a:lstStyle/>
          <a:p>
            <a:pPr marL="0" indent="0" algn="r">
              <a:buNone/>
            </a:pPr>
            <a:r>
              <a:rPr lang="en-US" sz="1100" b="1" dirty="0">
                <a:solidFill>
                  <a:srgbClr val="0F172A"/>
                </a:solidFill>
                <a:latin typeface="Arial" pitchFamily="34" charset="0"/>
                <a:ea typeface="Arial" pitchFamily="34" charset="-122"/>
                <a:cs typeface="Arial" pitchFamily="34" charset="-120"/>
              </a:rPr>
              <a:t>Per-class F1</a:t>
            </a:r>
            <a:endParaRPr lang="en-US" sz="1100" dirty="0"/>
          </a:p>
        </p:txBody>
      </p:sp>
      <p:sp>
        <p:nvSpPr>
          <p:cNvPr id="23" name="Shape 21"/>
          <p:cNvSpPr/>
          <p:nvPr/>
        </p:nvSpPr>
        <p:spPr>
          <a:xfrm>
            <a:off x="859536" y="4736592"/>
            <a:ext cx="2907792" cy="0"/>
          </a:xfrm>
          <a:prstGeom prst="line">
            <a:avLst/>
          </a:prstGeom>
          <a:noFill/>
          <a:ln w="10160">
            <a:solidFill>
              <a:srgbClr val="F1F5F9"/>
            </a:solidFill>
            <a:prstDash val="solid"/>
          </a:ln>
        </p:spPr>
      </p:sp>
      <p:sp>
        <p:nvSpPr>
          <p:cNvPr id="24" name="Text 22"/>
          <p:cNvSpPr txBox="1"/>
          <p:nvPr/>
        </p:nvSpPr>
        <p:spPr>
          <a:xfrm>
            <a:off x="859536" y="4901184"/>
            <a:ext cx="1078992" cy="256032"/>
          </a:xfrm>
          <a:prstGeom prst="rect">
            <a:avLst/>
          </a:prstGeom>
          <a:noFill/>
          <a:ln/>
        </p:spPr>
        <p:txBody>
          <a:bodyPr wrap="square" lIns="0" tIns="0" rIns="0" bIns="0" rtlCol="0" anchor="ctr">
            <a:normAutofit/>
          </a:bodyPr>
          <a:lstStyle/>
          <a:p>
            <a:pPr marL="0" indent="0" algn="l">
              <a:buNone/>
            </a:pPr>
            <a:r>
              <a:rPr lang="en-US" sz="1050" b="1" dirty="0">
                <a:solidFill>
                  <a:srgbClr val="64748B"/>
                </a:solidFill>
                <a:latin typeface="Arial" pitchFamily="34" charset="0"/>
                <a:ea typeface="Arial" pitchFamily="34" charset="-122"/>
                <a:cs typeface="Arial" pitchFamily="34" charset="-120"/>
              </a:rPr>
              <a:t>Failures</a:t>
            </a:r>
            <a:endParaRPr lang="en-US" sz="1050" dirty="0"/>
          </a:p>
        </p:txBody>
      </p:sp>
      <p:sp>
        <p:nvSpPr>
          <p:cNvPr id="25" name="Text 23"/>
          <p:cNvSpPr txBox="1"/>
          <p:nvPr/>
        </p:nvSpPr>
        <p:spPr>
          <a:xfrm>
            <a:off x="1975104" y="4901184"/>
            <a:ext cx="1792224" cy="256032"/>
          </a:xfrm>
          <a:prstGeom prst="rect">
            <a:avLst/>
          </a:prstGeom>
          <a:noFill/>
          <a:ln/>
        </p:spPr>
        <p:txBody>
          <a:bodyPr wrap="square" lIns="0" tIns="0" rIns="0" bIns="0" rtlCol="0" anchor="ctr">
            <a:normAutofit/>
          </a:bodyPr>
          <a:lstStyle/>
          <a:p>
            <a:pPr marL="0" indent="0" algn="r">
              <a:buNone/>
            </a:pPr>
            <a:r>
              <a:rPr lang="en-US" sz="1100" b="1" dirty="0">
                <a:solidFill>
                  <a:srgbClr val="0F172A"/>
                </a:solidFill>
                <a:latin typeface="Arial" pitchFamily="34" charset="0"/>
                <a:ea typeface="Arial" pitchFamily="34" charset="-122"/>
                <a:cs typeface="Arial" pitchFamily="34" charset="-120"/>
              </a:rPr>
              <a:t>0 clips</a:t>
            </a:r>
            <a:endParaRPr lang="en-US" sz="1100" dirty="0"/>
          </a:p>
        </p:txBody>
      </p:sp>
      <p:sp>
        <p:nvSpPr>
          <p:cNvPr id="26" name="Shape 24"/>
          <p:cNvSpPr/>
          <p:nvPr/>
        </p:nvSpPr>
        <p:spPr>
          <a:xfrm>
            <a:off x="859536" y="5212080"/>
            <a:ext cx="2907792" cy="0"/>
          </a:xfrm>
          <a:prstGeom prst="line">
            <a:avLst/>
          </a:prstGeom>
          <a:noFill/>
          <a:ln w="10160">
            <a:solidFill>
              <a:srgbClr val="F1F5F9"/>
            </a:solidFill>
            <a:prstDash val="solid"/>
          </a:ln>
        </p:spPr>
      </p:sp>
      <p:sp>
        <p:nvSpPr>
          <p:cNvPr id="27" name="Shape 25"/>
          <p:cNvSpPr/>
          <p:nvPr/>
        </p:nvSpPr>
        <p:spPr>
          <a:xfrm>
            <a:off x="859536" y="5504688"/>
            <a:ext cx="2907792" cy="365760"/>
          </a:xfrm>
          <a:prstGeom prst="roundRect">
            <a:avLst>
              <a:gd name="adj" fmla="val 10000"/>
            </a:avLst>
          </a:prstGeom>
          <a:solidFill>
            <a:srgbClr val="FEE2E2"/>
          </a:solidFill>
          <a:ln w="12700">
            <a:solidFill>
              <a:srgbClr val="FEE2E2"/>
            </a:solidFill>
            <a:prstDash val="solid"/>
          </a:ln>
        </p:spPr>
      </p:sp>
      <p:sp>
        <p:nvSpPr>
          <p:cNvPr id="28" name="Text 26"/>
          <p:cNvSpPr txBox="1"/>
          <p:nvPr/>
        </p:nvSpPr>
        <p:spPr>
          <a:xfrm>
            <a:off x="932688" y="5504688"/>
            <a:ext cx="2761488" cy="365760"/>
          </a:xfrm>
          <a:prstGeom prst="rect">
            <a:avLst/>
          </a:prstGeom>
          <a:noFill/>
          <a:ln/>
        </p:spPr>
        <p:txBody>
          <a:bodyPr wrap="square" lIns="0" tIns="0" rIns="0" bIns="0" rtlCol="0" anchor="ctr">
            <a:normAutofit/>
          </a:bodyPr>
          <a:lstStyle/>
          <a:p>
            <a:pPr marL="0" indent="0" algn="ctr">
              <a:buNone/>
            </a:pPr>
            <a:r>
              <a:rPr lang="en-US" sz="1000" b="1" dirty="0">
                <a:solidFill>
                  <a:srgbClr val="B91C1C"/>
                </a:solidFill>
                <a:latin typeface="Arial" pitchFamily="34" charset="0"/>
                <a:ea typeface="Arial" pitchFamily="34" charset="-122"/>
                <a:cs typeface="Arial" pitchFamily="34" charset="-120"/>
              </a:rPr>
              <a:t>Stop criterion ≥ 65%  •  unmet</a:t>
            </a:r>
            <a:endParaRPr lang="en-US" sz="1000" dirty="0"/>
          </a:p>
        </p:txBody>
      </p:sp>
      <p:sp>
        <p:nvSpPr>
          <p:cNvPr id="29" name="Shape 27"/>
          <p:cNvSpPr/>
          <p:nvPr/>
        </p:nvSpPr>
        <p:spPr>
          <a:xfrm>
            <a:off x="4608576" y="1737360"/>
            <a:ext cx="7031736" cy="4370832"/>
          </a:xfrm>
          <a:prstGeom prst="roundRect">
            <a:avLst>
              <a:gd name="adj" fmla="val 1046"/>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30" name="Text 28"/>
          <p:cNvSpPr txBox="1"/>
          <p:nvPr/>
        </p:nvSpPr>
        <p:spPr>
          <a:xfrm>
            <a:off x="4919472" y="2029968"/>
            <a:ext cx="4535424" cy="274320"/>
          </a:xfrm>
          <a:prstGeom prst="rect">
            <a:avLst/>
          </a:prstGeom>
          <a:noFill/>
          <a:ln/>
        </p:spPr>
        <p:txBody>
          <a:bodyPr wrap="square" lIns="0" tIns="0" rIns="0" bIns="0" rtlCol="0" anchor="ctr">
            <a:normAutofit/>
          </a:bodyPr>
          <a:lstStyle/>
          <a:p>
            <a:pPr marL="0" indent="0" algn="l">
              <a:buNone/>
            </a:pPr>
            <a:r>
              <a:rPr lang="en-US" sz="1050" b="1" dirty="0">
                <a:solidFill>
                  <a:srgbClr val="334155"/>
                </a:solidFill>
                <a:latin typeface="Arial" pitchFamily="34" charset="0"/>
                <a:ea typeface="Arial" pitchFamily="34" charset="-122"/>
                <a:cs typeface="Arial" pitchFamily="34" charset="-120"/>
              </a:rPr>
              <a:t>CONFUSION MATRIX  •  TRUE ROWS / PRED COLUMNS</a:t>
            </a:r>
            <a:endParaRPr lang="en-US" sz="1050" dirty="0"/>
          </a:p>
        </p:txBody>
      </p:sp>
      <p:sp>
        <p:nvSpPr>
          <p:cNvPr id="31" name="Text 29"/>
          <p:cNvSpPr txBox="1"/>
          <p:nvPr/>
        </p:nvSpPr>
        <p:spPr>
          <a:xfrm>
            <a:off x="6144768" y="2340864"/>
            <a:ext cx="685800" cy="256032"/>
          </a:xfrm>
          <a:prstGeom prst="rect">
            <a:avLst/>
          </a:prstGeom>
          <a:noFill/>
          <a:ln/>
        </p:spPr>
        <p:txBody>
          <a:bodyPr wrap="square" lIns="0" tIns="0" rIns="0" bIns="0" rtlCol="0" anchor="ctr">
            <a:normAutofit/>
          </a:bodyPr>
          <a:lstStyle/>
          <a:p>
            <a:pPr marL="0" indent="0" algn="ctr">
              <a:buNone/>
            </a:pPr>
            <a:r>
              <a:rPr lang="en-US" sz="950" b="1" dirty="0">
                <a:solidFill>
                  <a:srgbClr val="64748B"/>
                </a:solidFill>
                <a:latin typeface="Arial" pitchFamily="34" charset="0"/>
                <a:ea typeface="Arial" pitchFamily="34" charset="-122"/>
                <a:cs typeface="Arial" pitchFamily="34" charset="-120"/>
              </a:rPr>
              <a:t>happy</a:t>
            </a:r>
            <a:endParaRPr lang="en-US" sz="950" dirty="0"/>
          </a:p>
        </p:txBody>
      </p:sp>
      <p:sp>
        <p:nvSpPr>
          <p:cNvPr id="32" name="Text 30"/>
          <p:cNvSpPr txBox="1"/>
          <p:nvPr/>
        </p:nvSpPr>
        <p:spPr>
          <a:xfrm>
            <a:off x="5010912" y="2688336"/>
            <a:ext cx="969264" cy="685800"/>
          </a:xfrm>
          <a:prstGeom prst="rect">
            <a:avLst/>
          </a:prstGeom>
          <a:noFill/>
          <a:ln/>
        </p:spPr>
        <p:txBody>
          <a:bodyPr wrap="square" lIns="0" tIns="0" rIns="0" bIns="0" rtlCol="0" anchor="ctr">
            <a:normAutofit/>
          </a:bodyPr>
          <a:lstStyle/>
          <a:p>
            <a:pPr marL="0" indent="0" algn="r">
              <a:buNone/>
            </a:pPr>
            <a:r>
              <a:rPr lang="en-US" sz="950" b="1" dirty="0">
                <a:solidFill>
                  <a:srgbClr val="64748B"/>
                </a:solidFill>
                <a:latin typeface="Arial" pitchFamily="34" charset="0"/>
                <a:ea typeface="Arial" pitchFamily="34" charset="-122"/>
                <a:cs typeface="Arial" pitchFamily="34" charset="-120"/>
              </a:rPr>
              <a:t>happy</a:t>
            </a:r>
            <a:endParaRPr lang="en-US" sz="950" dirty="0"/>
          </a:p>
        </p:txBody>
      </p:sp>
      <p:sp>
        <p:nvSpPr>
          <p:cNvPr id="33" name="Text 31"/>
          <p:cNvSpPr txBox="1"/>
          <p:nvPr/>
        </p:nvSpPr>
        <p:spPr>
          <a:xfrm>
            <a:off x="6830568" y="2340864"/>
            <a:ext cx="685800" cy="256032"/>
          </a:xfrm>
          <a:prstGeom prst="rect">
            <a:avLst/>
          </a:prstGeom>
          <a:noFill/>
          <a:ln/>
        </p:spPr>
        <p:txBody>
          <a:bodyPr wrap="square" lIns="0" tIns="0" rIns="0" bIns="0" rtlCol="0" anchor="ctr">
            <a:normAutofit/>
          </a:bodyPr>
          <a:lstStyle/>
          <a:p>
            <a:pPr marL="0" indent="0" algn="ctr">
              <a:buNone/>
            </a:pPr>
            <a:r>
              <a:rPr lang="en-US" sz="950" b="1" dirty="0">
                <a:solidFill>
                  <a:srgbClr val="64748B"/>
                </a:solidFill>
                <a:latin typeface="Arial" pitchFamily="34" charset="0"/>
                <a:ea typeface="Arial" pitchFamily="34" charset="-122"/>
                <a:cs typeface="Arial" pitchFamily="34" charset="-120"/>
              </a:rPr>
              <a:t>neutral</a:t>
            </a:r>
            <a:endParaRPr lang="en-US" sz="950" dirty="0"/>
          </a:p>
        </p:txBody>
      </p:sp>
      <p:sp>
        <p:nvSpPr>
          <p:cNvPr id="34" name="Text 32"/>
          <p:cNvSpPr txBox="1"/>
          <p:nvPr/>
        </p:nvSpPr>
        <p:spPr>
          <a:xfrm>
            <a:off x="5010912" y="3374136"/>
            <a:ext cx="969264" cy="685800"/>
          </a:xfrm>
          <a:prstGeom prst="rect">
            <a:avLst/>
          </a:prstGeom>
          <a:noFill/>
          <a:ln/>
        </p:spPr>
        <p:txBody>
          <a:bodyPr wrap="square" lIns="0" tIns="0" rIns="0" bIns="0" rtlCol="0" anchor="ctr">
            <a:normAutofit/>
          </a:bodyPr>
          <a:lstStyle/>
          <a:p>
            <a:pPr marL="0" indent="0" algn="r">
              <a:buNone/>
            </a:pPr>
            <a:r>
              <a:rPr lang="en-US" sz="950" b="1" dirty="0">
                <a:solidFill>
                  <a:srgbClr val="64748B"/>
                </a:solidFill>
                <a:latin typeface="Arial" pitchFamily="34" charset="0"/>
                <a:ea typeface="Arial" pitchFamily="34" charset="-122"/>
                <a:cs typeface="Arial" pitchFamily="34" charset="-120"/>
              </a:rPr>
              <a:t>neutral</a:t>
            </a:r>
            <a:endParaRPr lang="en-US" sz="950" dirty="0"/>
          </a:p>
        </p:txBody>
      </p:sp>
      <p:sp>
        <p:nvSpPr>
          <p:cNvPr id="35" name="Text 33"/>
          <p:cNvSpPr txBox="1"/>
          <p:nvPr/>
        </p:nvSpPr>
        <p:spPr>
          <a:xfrm>
            <a:off x="7516368" y="2340864"/>
            <a:ext cx="685800" cy="256032"/>
          </a:xfrm>
          <a:prstGeom prst="rect">
            <a:avLst/>
          </a:prstGeom>
          <a:noFill/>
          <a:ln/>
        </p:spPr>
        <p:txBody>
          <a:bodyPr wrap="square" lIns="0" tIns="0" rIns="0" bIns="0" rtlCol="0" anchor="ctr">
            <a:normAutofit/>
          </a:bodyPr>
          <a:lstStyle/>
          <a:p>
            <a:pPr marL="0" indent="0" algn="ctr">
              <a:buNone/>
            </a:pPr>
            <a:r>
              <a:rPr lang="en-US" sz="950" b="1" dirty="0">
                <a:solidFill>
                  <a:srgbClr val="64748B"/>
                </a:solidFill>
                <a:latin typeface="Arial" pitchFamily="34" charset="0"/>
                <a:ea typeface="Arial" pitchFamily="34" charset="-122"/>
                <a:cs typeface="Arial" pitchFamily="34" charset="-120"/>
              </a:rPr>
              <a:t>sad</a:t>
            </a:r>
            <a:endParaRPr lang="en-US" sz="950" dirty="0"/>
          </a:p>
        </p:txBody>
      </p:sp>
      <p:sp>
        <p:nvSpPr>
          <p:cNvPr id="36" name="Text 34"/>
          <p:cNvSpPr txBox="1"/>
          <p:nvPr/>
        </p:nvSpPr>
        <p:spPr>
          <a:xfrm>
            <a:off x="5010912" y="4059936"/>
            <a:ext cx="969264" cy="685800"/>
          </a:xfrm>
          <a:prstGeom prst="rect">
            <a:avLst/>
          </a:prstGeom>
          <a:noFill/>
          <a:ln/>
        </p:spPr>
        <p:txBody>
          <a:bodyPr wrap="square" lIns="0" tIns="0" rIns="0" bIns="0" rtlCol="0" anchor="ctr">
            <a:normAutofit/>
          </a:bodyPr>
          <a:lstStyle/>
          <a:p>
            <a:pPr marL="0" indent="0" algn="r">
              <a:buNone/>
            </a:pPr>
            <a:r>
              <a:rPr lang="en-US" sz="950" b="1" dirty="0">
                <a:solidFill>
                  <a:srgbClr val="64748B"/>
                </a:solidFill>
                <a:latin typeface="Arial" pitchFamily="34" charset="0"/>
                <a:ea typeface="Arial" pitchFamily="34" charset="-122"/>
                <a:cs typeface="Arial" pitchFamily="34" charset="-120"/>
              </a:rPr>
              <a:t>sad</a:t>
            </a:r>
            <a:endParaRPr lang="en-US" sz="950" dirty="0"/>
          </a:p>
        </p:txBody>
      </p:sp>
      <p:sp>
        <p:nvSpPr>
          <p:cNvPr id="37" name="Text 35"/>
          <p:cNvSpPr txBox="1"/>
          <p:nvPr/>
        </p:nvSpPr>
        <p:spPr>
          <a:xfrm>
            <a:off x="8202168" y="2340864"/>
            <a:ext cx="685800" cy="256032"/>
          </a:xfrm>
          <a:prstGeom prst="rect">
            <a:avLst/>
          </a:prstGeom>
          <a:noFill/>
          <a:ln/>
        </p:spPr>
        <p:txBody>
          <a:bodyPr wrap="square" lIns="0" tIns="0" rIns="0" bIns="0" rtlCol="0" anchor="ctr">
            <a:normAutofit/>
          </a:bodyPr>
          <a:lstStyle/>
          <a:p>
            <a:pPr marL="0" indent="0" algn="ctr">
              <a:buNone/>
            </a:pPr>
            <a:r>
              <a:rPr lang="en-US" sz="950" b="1" dirty="0">
                <a:solidFill>
                  <a:srgbClr val="64748B"/>
                </a:solidFill>
                <a:latin typeface="Arial" pitchFamily="34" charset="0"/>
                <a:ea typeface="Arial" pitchFamily="34" charset="-122"/>
                <a:cs typeface="Arial" pitchFamily="34" charset="-120"/>
              </a:rPr>
              <a:t>angry</a:t>
            </a:r>
            <a:endParaRPr lang="en-US" sz="950" dirty="0"/>
          </a:p>
        </p:txBody>
      </p:sp>
      <p:sp>
        <p:nvSpPr>
          <p:cNvPr id="38" name="Text 36"/>
          <p:cNvSpPr txBox="1"/>
          <p:nvPr/>
        </p:nvSpPr>
        <p:spPr>
          <a:xfrm>
            <a:off x="5010912" y="4745736"/>
            <a:ext cx="969264" cy="685800"/>
          </a:xfrm>
          <a:prstGeom prst="rect">
            <a:avLst/>
          </a:prstGeom>
          <a:noFill/>
          <a:ln/>
        </p:spPr>
        <p:txBody>
          <a:bodyPr wrap="square" lIns="0" tIns="0" rIns="0" bIns="0" rtlCol="0" anchor="ctr">
            <a:normAutofit/>
          </a:bodyPr>
          <a:lstStyle/>
          <a:p>
            <a:pPr marL="0" indent="0" algn="r">
              <a:buNone/>
            </a:pPr>
            <a:r>
              <a:rPr lang="en-US" sz="950" b="1" dirty="0">
                <a:solidFill>
                  <a:srgbClr val="64748B"/>
                </a:solidFill>
                <a:latin typeface="Arial" pitchFamily="34" charset="0"/>
                <a:ea typeface="Arial" pitchFamily="34" charset="-122"/>
                <a:cs typeface="Arial" pitchFamily="34" charset="-120"/>
              </a:rPr>
              <a:t>angry</a:t>
            </a:r>
            <a:endParaRPr lang="en-US" sz="950" dirty="0"/>
          </a:p>
        </p:txBody>
      </p:sp>
      <p:sp>
        <p:nvSpPr>
          <p:cNvPr id="39" name="Shape 37"/>
          <p:cNvSpPr/>
          <p:nvPr/>
        </p:nvSpPr>
        <p:spPr>
          <a:xfrm>
            <a:off x="6144768" y="2688336"/>
            <a:ext cx="685800" cy="685800"/>
          </a:xfrm>
          <a:prstGeom prst="rect">
            <a:avLst/>
          </a:prstGeom>
          <a:solidFill>
            <a:srgbClr val="15803D">
              <a:alpha val="49600"/>
            </a:srgbClr>
          </a:solidFill>
          <a:ln w="12700">
            <a:solidFill>
              <a:srgbClr val="FFFFFF"/>
            </a:solidFill>
            <a:prstDash val="solid"/>
          </a:ln>
        </p:spPr>
      </p:sp>
      <p:sp>
        <p:nvSpPr>
          <p:cNvPr id="40" name="Text 38"/>
          <p:cNvSpPr txBox="1"/>
          <p:nvPr/>
        </p:nvSpPr>
        <p:spPr>
          <a:xfrm>
            <a:off x="6144768" y="26883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24</a:t>
            </a:r>
            <a:endParaRPr lang="en-US" sz="1300" dirty="0"/>
          </a:p>
        </p:txBody>
      </p:sp>
      <p:sp>
        <p:nvSpPr>
          <p:cNvPr id="41" name="Shape 39"/>
          <p:cNvSpPr/>
          <p:nvPr/>
        </p:nvSpPr>
        <p:spPr>
          <a:xfrm>
            <a:off x="6830568" y="2688336"/>
            <a:ext cx="685800" cy="685800"/>
          </a:xfrm>
          <a:prstGeom prst="rect">
            <a:avLst/>
          </a:prstGeom>
          <a:solidFill>
            <a:srgbClr val="1D4ED8">
              <a:alpha val="43850"/>
            </a:srgbClr>
          </a:solidFill>
          <a:ln w="12700">
            <a:solidFill>
              <a:srgbClr val="FFFFFF"/>
            </a:solidFill>
            <a:prstDash val="solid"/>
          </a:ln>
        </p:spPr>
      </p:sp>
      <p:sp>
        <p:nvSpPr>
          <p:cNvPr id="42" name="Text 40"/>
          <p:cNvSpPr txBox="1"/>
          <p:nvPr/>
        </p:nvSpPr>
        <p:spPr>
          <a:xfrm>
            <a:off x="6830568" y="26883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19</a:t>
            </a:r>
            <a:endParaRPr lang="en-US" sz="1300" dirty="0"/>
          </a:p>
        </p:txBody>
      </p:sp>
      <p:sp>
        <p:nvSpPr>
          <p:cNvPr id="43" name="Shape 41"/>
          <p:cNvSpPr/>
          <p:nvPr/>
        </p:nvSpPr>
        <p:spPr>
          <a:xfrm>
            <a:off x="7516368" y="2688336"/>
            <a:ext cx="685800" cy="685800"/>
          </a:xfrm>
          <a:prstGeom prst="rect">
            <a:avLst/>
          </a:prstGeom>
          <a:solidFill>
            <a:srgbClr val="1D4ED8">
              <a:alpha val="74900"/>
            </a:srgbClr>
          </a:solidFill>
          <a:ln w="12700">
            <a:solidFill>
              <a:srgbClr val="FFFFFF"/>
            </a:solidFill>
            <a:prstDash val="solid"/>
          </a:ln>
        </p:spPr>
      </p:sp>
      <p:sp>
        <p:nvSpPr>
          <p:cNvPr id="44" name="Text 42"/>
          <p:cNvSpPr txBox="1"/>
          <p:nvPr/>
        </p:nvSpPr>
        <p:spPr>
          <a:xfrm>
            <a:off x="7516368" y="26883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46</a:t>
            </a:r>
            <a:endParaRPr lang="en-US" sz="1300" dirty="0"/>
          </a:p>
        </p:txBody>
      </p:sp>
      <p:sp>
        <p:nvSpPr>
          <p:cNvPr id="45" name="Shape 43"/>
          <p:cNvSpPr/>
          <p:nvPr/>
        </p:nvSpPr>
        <p:spPr>
          <a:xfrm>
            <a:off x="8202168" y="2688336"/>
            <a:ext cx="685800" cy="685800"/>
          </a:xfrm>
          <a:prstGeom prst="rect">
            <a:avLst/>
          </a:prstGeom>
          <a:solidFill>
            <a:srgbClr val="1D4ED8">
              <a:alpha val="34650"/>
            </a:srgbClr>
          </a:solidFill>
          <a:ln w="12700">
            <a:solidFill>
              <a:srgbClr val="FFFFFF"/>
            </a:solidFill>
            <a:prstDash val="solid"/>
          </a:ln>
        </p:spPr>
      </p:sp>
      <p:sp>
        <p:nvSpPr>
          <p:cNvPr id="46" name="Text 44"/>
          <p:cNvSpPr txBox="1"/>
          <p:nvPr/>
        </p:nvSpPr>
        <p:spPr>
          <a:xfrm>
            <a:off x="8202168" y="26883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11</a:t>
            </a:r>
            <a:endParaRPr lang="en-US" sz="1300" dirty="0"/>
          </a:p>
        </p:txBody>
      </p:sp>
      <p:sp>
        <p:nvSpPr>
          <p:cNvPr id="47" name="Shape 45"/>
          <p:cNvSpPr/>
          <p:nvPr/>
        </p:nvSpPr>
        <p:spPr>
          <a:xfrm>
            <a:off x="6144768" y="3374136"/>
            <a:ext cx="685800" cy="685800"/>
          </a:xfrm>
          <a:prstGeom prst="rect">
            <a:avLst/>
          </a:prstGeom>
          <a:solidFill>
            <a:srgbClr val="1D4ED8">
              <a:alpha val="32350"/>
            </a:srgbClr>
          </a:solidFill>
          <a:ln w="12700">
            <a:solidFill>
              <a:srgbClr val="FFFFFF"/>
            </a:solidFill>
            <a:prstDash val="solid"/>
          </a:ln>
        </p:spPr>
      </p:sp>
      <p:sp>
        <p:nvSpPr>
          <p:cNvPr id="48" name="Text 46"/>
          <p:cNvSpPr txBox="1"/>
          <p:nvPr/>
        </p:nvSpPr>
        <p:spPr>
          <a:xfrm>
            <a:off x="6144768" y="33741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9</a:t>
            </a:r>
            <a:endParaRPr lang="en-US" sz="1300" dirty="0"/>
          </a:p>
        </p:txBody>
      </p:sp>
      <p:sp>
        <p:nvSpPr>
          <p:cNvPr id="49" name="Shape 47"/>
          <p:cNvSpPr/>
          <p:nvPr/>
        </p:nvSpPr>
        <p:spPr>
          <a:xfrm>
            <a:off x="6830568" y="3374136"/>
            <a:ext cx="685800" cy="685800"/>
          </a:xfrm>
          <a:prstGeom prst="rect">
            <a:avLst/>
          </a:prstGeom>
          <a:solidFill>
            <a:srgbClr val="15803D">
              <a:alpha val="81800"/>
            </a:srgbClr>
          </a:solidFill>
          <a:ln w="12700">
            <a:solidFill>
              <a:srgbClr val="FFFFFF"/>
            </a:solidFill>
            <a:prstDash val="solid"/>
          </a:ln>
        </p:spPr>
      </p:sp>
      <p:sp>
        <p:nvSpPr>
          <p:cNvPr id="50" name="Text 48"/>
          <p:cNvSpPr txBox="1"/>
          <p:nvPr/>
        </p:nvSpPr>
        <p:spPr>
          <a:xfrm>
            <a:off x="6830568" y="33741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52</a:t>
            </a:r>
            <a:endParaRPr lang="en-US" sz="1300" dirty="0"/>
          </a:p>
        </p:txBody>
      </p:sp>
      <p:sp>
        <p:nvSpPr>
          <p:cNvPr id="51" name="Shape 49"/>
          <p:cNvSpPr/>
          <p:nvPr/>
        </p:nvSpPr>
        <p:spPr>
          <a:xfrm>
            <a:off x="7516368" y="3374136"/>
            <a:ext cx="685800" cy="685800"/>
          </a:xfrm>
          <a:prstGeom prst="rect">
            <a:avLst/>
          </a:prstGeom>
          <a:solidFill>
            <a:srgbClr val="1D4ED8">
              <a:alpha val="57650"/>
            </a:srgbClr>
          </a:solidFill>
          <a:ln w="12700">
            <a:solidFill>
              <a:srgbClr val="FFFFFF"/>
            </a:solidFill>
            <a:prstDash val="solid"/>
          </a:ln>
        </p:spPr>
      </p:sp>
      <p:sp>
        <p:nvSpPr>
          <p:cNvPr id="52" name="Text 50"/>
          <p:cNvSpPr txBox="1"/>
          <p:nvPr/>
        </p:nvSpPr>
        <p:spPr>
          <a:xfrm>
            <a:off x="7516368" y="33741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31</a:t>
            </a:r>
            <a:endParaRPr lang="en-US" sz="1300" dirty="0"/>
          </a:p>
        </p:txBody>
      </p:sp>
      <p:sp>
        <p:nvSpPr>
          <p:cNvPr id="53" name="Shape 51"/>
          <p:cNvSpPr/>
          <p:nvPr/>
        </p:nvSpPr>
        <p:spPr>
          <a:xfrm>
            <a:off x="8202168" y="3374136"/>
            <a:ext cx="685800" cy="685800"/>
          </a:xfrm>
          <a:prstGeom prst="rect">
            <a:avLst/>
          </a:prstGeom>
          <a:solidFill>
            <a:srgbClr val="1D4ED8">
              <a:alpha val="31200"/>
            </a:srgbClr>
          </a:solidFill>
          <a:ln w="12700">
            <a:solidFill>
              <a:srgbClr val="FFFFFF"/>
            </a:solidFill>
            <a:prstDash val="solid"/>
          </a:ln>
        </p:spPr>
      </p:sp>
      <p:sp>
        <p:nvSpPr>
          <p:cNvPr id="54" name="Text 52"/>
          <p:cNvSpPr txBox="1"/>
          <p:nvPr/>
        </p:nvSpPr>
        <p:spPr>
          <a:xfrm>
            <a:off x="8202168" y="33741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8</a:t>
            </a:r>
            <a:endParaRPr lang="en-US" sz="1300" dirty="0"/>
          </a:p>
        </p:txBody>
      </p:sp>
      <p:sp>
        <p:nvSpPr>
          <p:cNvPr id="55" name="Shape 53"/>
          <p:cNvSpPr/>
          <p:nvPr/>
        </p:nvSpPr>
        <p:spPr>
          <a:xfrm>
            <a:off x="6144768" y="4059936"/>
            <a:ext cx="685800" cy="685800"/>
          </a:xfrm>
          <a:prstGeom prst="rect">
            <a:avLst/>
          </a:prstGeom>
          <a:solidFill>
            <a:srgbClr val="1D4ED8">
              <a:alpha val="46150"/>
            </a:srgbClr>
          </a:solidFill>
          <a:ln w="12700">
            <a:solidFill>
              <a:srgbClr val="FFFFFF"/>
            </a:solidFill>
            <a:prstDash val="solid"/>
          </a:ln>
        </p:spPr>
      </p:sp>
      <p:sp>
        <p:nvSpPr>
          <p:cNvPr id="56" name="Text 54"/>
          <p:cNvSpPr txBox="1"/>
          <p:nvPr/>
        </p:nvSpPr>
        <p:spPr>
          <a:xfrm>
            <a:off x="6144768" y="40599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21</a:t>
            </a:r>
            <a:endParaRPr lang="en-US" sz="1300" dirty="0"/>
          </a:p>
        </p:txBody>
      </p:sp>
      <p:sp>
        <p:nvSpPr>
          <p:cNvPr id="57" name="Shape 55"/>
          <p:cNvSpPr/>
          <p:nvPr/>
        </p:nvSpPr>
        <p:spPr>
          <a:xfrm>
            <a:off x="6830568" y="4059936"/>
            <a:ext cx="685800" cy="685800"/>
          </a:xfrm>
          <a:prstGeom prst="rect">
            <a:avLst/>
          </a:prstGeom>
          <a:solidFill>
            <a:srgbClr val="1D4ED8">
              <a:alpha val="56500"/>
            </a:srgbClr>
          </a:solidFill>
          <a:ln w="12700">
            <a:solidFill>
              <a:srgbClr val="FFFFFF"/>
            </a:solidFill>
            <a:prstDash val="solid"/>
          </a:ln>
        </p:spPr>
      </p:sp>
      <p:sp>
        <p:nvSpPr>
          <p:cNvPr id="58" name="Text 56"/>
          <p:cNvSpPr txBox="1"/>
          <p:nvPr/>
        </p:nvSpPr>
        <p:spPr>
          <a:xfrm>
            <a:off x="6830568" y="40599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30</a:t>
            </a:r>
            <a:endParaRPr lang="en-US" sz="1300" dirty="0"/>
          </a:p>
        </p:txBody>
      </p:sp>
      <p:sp>
        <p:nvSpPr>
          <p:cNvPr id="59" name="Shape 57"/>
          <p:cNvSpPr/>
          <p:nvPr/>
        </p:nvSpPr>
        <p:spPr>
          <a:xfrm>
            <a:off x="7516368" y="4059936"/>
            <a:ext cx="685800" cy="685800"/>
          </a:xfrm>
          <a:prstGeom prst="rect">
            <a:avLst/>
          </a:prstGeom>
          <a:solidFill>
            <a:srgbClr val="15803D">
              <a:alpha val="72600"/>
            </a:srgbClr>
          </a:solidFill>
          <a:ln w="12700">
            <a:solidFill>
              <a:srgbClr val="FFFFFF"/>
            </a:solidFill>
            <a:prstDash val="solid"/>
          </a:ln>
        </p:spPr>
      </p:sp>
      <p:sp>
        <p:nvSpPr>
          <p:cNvPr id="60" name="Text 58"/>
          <p:cNvSpPr txBox="1"/>
          <p:nvPr/>
        </p:nvSpPr>
        <p:spPr>
          <a:xfrm>
            <a:off x="7516368" y="40599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44</a:t>
            </a:r>
            <a:endParaRPr lang="en-US" sz="1300" dirty="0"/>
          </a:p>
        </p:txBody>
      </p:sp>
      <p:sp>
        <p:nvSpPr>
          <p:cNvPr id="61" name="Shape 59"/>
          <p:cNvSpPr/>
          <p:nvPr/>
        </p:nvSpPr>
        <p:spPr>
          <a:xfrm>
            <a:off x="8202168" y="4059936"/>
            <a:ext cx="685800" cy="685800"/>
          </a:xfrm>
          <a:prstGeom prst="rect">
            <a:avLst/>
          </a:prstGeom>
          <a:solidFill>
            <a:srgbClr val="1D4ED8">
              <a:alpha val="27750"/>
            </a:srgbClr>
          </a:solidFill>
          <a:ln w="12700">
            <a:solidFill>
              <a:srgbClr val="FFFFFF"/>
            </a:solidFill>
            <a:prstDash val="solid"/>
          </a:ln>
        </p:spPr>
      </p:sp>
      <p:sp>
        <p:nvSpPr>
          <p:cNvPr id="62" name="Text 60"/>
          <p:cNvSpPr txBox="1"/>
          <p:nvPr/>
        </p:nvSpPr>
        <p:spPr>
          <a:xfrm>
            <a:off x="8202168" y="40599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5</a:t>
            </a:r>
            <a:endParaRPr lang="en-US" sz="1300" dirty="0"/>
          </a:p>
        </p:txBody>
      </p:sp>
      <p:sp>
        <p:nvSpPr>
          <p:cNvPr id="63" name="Shape 61"/>
          <p:cNvSpPr/>
          <p:nvPr/>
        </p:nvSpPr>
        <p:spPr>
          <a:xfrm>
            <a:off x="6144768" y="4745736"/>
            <a:ext cx="685800" cy="685800"/>
          </a:xfrm>
          <a:prstGeom prst="rect">
            <a:avLst/>
          </a:prstGeom>
          <a:solidFill>
            <a:srgbClr val="1D4ED8">
              <a:alpha val="23150"/>
            </a:srgbClr>
          </a:solidFill>
          <a:ln w="12700">
            <a:solidFill>
              <a:srgbClr val="FFFFFF"/>
            </a:solidFill>
            <a:prstDash val="solid"/>
          </a:ln>
        </p:spPr>
      </p:sp>
      <p:sp>
        <p:nvSpPr>
          <p:cNvPr id="64" name="Text 62"/>
          <p:cNvSpPr txBox="1"/>
          <p:nvPr/>
        </p:nvSpPr>
        <p:spPr>
          <a:xfrm>
            <a:off x="6144768" y="47457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1</a:t>
            </a:r>
            <a:endParaRPr lang="en-US" sz="1300" dirty="0"/>
          </a:p>
        </p:txBody>
      </p:sp>
      <p:sp>
        <p:nvSpPr>
          <p:cNvPr id="65" name="Shape 63"/>
          <p:cNvSpPr/>
          <p:nvPr/>
        </p:nvSpPr>
        <p:spPr>
          <a:xfrm>
            <a:off x="6830568" y="4745736"/>
            <a:ext cx="685800" cy="685800"/>
          </a:xfrm>
          <a:prstGeom prst="rect">
            <a:avLst/>
          </a:prstGeom>
          <a:solidFill>
            <a:srgbClr val="1D4ED8">
              <a:alpha val="32350"/>
            </a:srgbClr>
          </a:solidFill>
          <a:ln w="12700">
            <a:solidFill>
              <a:srgbClr val="FFFFFF"/>
            </a:solidFill>
            <a:prstDash val="solid"/>
          </a:ln>
        </p:spPr>
      </p:sp>
      <p:sp>
        <p:nvSpPr>
          <p:cNvPr id="66" name="Text 64"/>
          <p:cNvSpPr txBox="1"/>
          <p:nvPr/>
        </p:nvSpPr>
        <p:spPr>
          <a:xfrm>
            <a:off x="6830568" y="47457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0F172A"/>
                </a:solidFill>
                <a:latin typeface="Arial" pitchFamily="34" charset="0"/>
                <a:ea typeface="Arial" pitchFamily="34" charset="-122"/>
                <a:cs typeface="Arial" pitchFamily="34" charset="-120"/>
              </a:rPr>
              <a:t>9</a:t>
            </a:r>
            <a:endParaRPr lang="en-US" sz="1300" dirty="0"/>
          </a:p>
        </p:txBody>
      </p:sp>
      <p:sp>
        <p:nvSpPr>
          <p:cNvPr id="67" name="Shape 65"/>
          <p:cNvSpPr/>
          <p:nvPr/>
        </p:nvSpPr>
        <p:spPr>
          <a:xfrm>
            <a:off x="7516368" y="4745736"/>
            <a:ext cx="685800" cy="685800"/>
          </a:xfrm>
          <a:prstGeom prst="rect">
            <a:avLst/>
          </a:prstGeom>
          <a:solidFill>
            <a:srgbClr val="1D4ED8">
              <a:alpha val="78350"/>
            </a:srgbClr>
          </a:solidFill>
          <a:ln w="12700">
            <a:solidFill>
              <a:srgbClr val="FFFFFF"/>
            </a:solidFill>
            <a:prstDash val="solid"/>
          </a:ln>
        </p:spPr>
      </p:sp>
      <p:sp>
        <p:nvSpPr>
          <p:cNvPr id="68" name="Text 66"/>
          <p:cNvSpPr txBox="1"/>
          <p:nvPr/>
        </p:nvSpPr>
        <p:spPr>
          <a:xfrm>
            <a:off x="7516368" y="47457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49</a:t>
            </a:r>
            <a:endParaRPr lang="en-US" sz="1300" dirty="0"/>
          </a:p>
        </p:txBody>
      </p:sp>
      <p:sp>
        <p:nvSpPr>
          <p:cNvPr id="69" name="Shape 67"/>
          <p:cNvSpPr/>
          <p:nvPr/>
        </p:nvSpPr>
        <p:spPr>
          <a:xfrm>
            <a:off x="8202168" y="4745736"/>
            <a:ext cx="685800" cy="685800"/>
          </a:xfrm>
          <a:prstGeom prst="rect">
            <a:avLst/>
          </a:prstGeom>
          <a:solidFill>
            <a:srgbClr val="15803D">
              <a:alpha val="69150"/>
            </a:srgbClr>
          </a:solidFill>
          <a:ln w="12700">
            <a:solidFill>
              <a:srgbClr val="FFFFFF"/>
            </a:solidFill>
            <a:prstDash val="solid"/>
          </a:ln>
        </p:spPr>
      </p:sp>
      <p:sp>
        <p:nvSpPr>
          <p:cNvPr id="70" name="Text 68"/>
          <p:cNvSpPr txBox="1"/>
          <p:nvPr/>
        </p:nvSpPr>
        <p:spPr>
          <a:xfrm>
            <a:off x="8202168" y="4745736"/>
            <a:ext cx="685800" cy="6858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rial" pitchFamily="34" charset="0"/>
                <a:ea typeface="Arial" pitchFamily="34" charset="-122"/>
                <a:cs typeface="Arial" pitchFamily="34" charset="-120"/>
              </a:rPr>
              <a:t>41</a:t>
            </a:r>
            <a:endParaRPr lang="en-US" sz="1300" dirty="0"/>
          </a:p>
        </p:txBody>
      </p:sp>
      <p:sp>
        <p:nvSpPr>
          <p:cNvPr id="71" name="Text 69"/>
          <p:cNvSpPr txBox="1"/>
          <p:nvPr/>
        </p:nvSpPr>
        <p:spPr>
          <a:xfrm>
            <a:off x="9253728" y="2798064"/>
            <a:ext cx="1645920" cy="384048"/>
          </a:xfrm>
          <a:prstGeom prst="rect">
            <a:avLst/>
          </a:prstGeom>
          <a:noFill/>
          <a:ln/>
        </p:spPr>
        <p:txBody>
          <a:bodyPr wrap="square" lIns="0" tIns="0" rIns="0" bIns="0" rtlCol="0" anchor="ctr">
            <a:normAutofit/>
          </a:bodyPr>
          <a:lstStyle/>
          <a:p>
            <a:pPr marL="0" indent="0" algn="ctr">
              <a:buNone/>
            </a:pPr>
            <a:r>
              <a:rPr lang="en-US" sz="1800" b="1" dirty="0">
                <a:solidFill>
                  <a:srgbClr val="1D4ED8"/>
                </a:solidFill>
                <a:latin typeface="Arial" pitchFamily="34" charset="0"/>
                <a:ea typeface="Arial" pitchFamily="34" charset="-122"/>
                <a:cs typeface="Arial" pitchFamily="34" charset="-120"/>
              </a:rPr>
              <a:t>161 đúng / 400</a:t>
            </a:r>
            <a:endParaRPr lang="en-US" sz="1800" dirty="0"/>
          </a:p>
        </p:txBody>
      </p:sp>
      <p:sp>
        <p:nvSpPr>
          <p:cNvPr id="72" name="Text 70"/>
          <p:cNvSpPr txBox="1"/>
          <p:nvPr/>
        </p:nvSpPr>
        <p:spPr>
          <a:xfrm>
            <a:off x="9253728" y="3255264"/>
            <a:ext cx="1645920" cy="274320"/>
          </a:xfrm>
          <a:prstGeom prst="rect">
            <a:avLst/>
          </a:prstGeom>
          <a:noFill/>
          <a:ln/>
        </p:spPr>
        <p:txBody>
          <a:bodyPr wrap="square" lIns="0" tIns="0" rIns="0" bIns="0" rtlCol="0" anchor="ctr">
            <a:normAutofit/>
          </a:bodyPr>
          <a:lstStyle/>
          <a:p>
            <a:pPr marL="0" indent="0" algn="ctr">
              <a:buNone/>
            </a:pPr>
            <a:r>
              <a:rPr lang="en-US" sz="1100" b="1" dirty="0">
                <a:solidFill>
                  <a:srgbClr val="334155"/>
                </a:solidFill>
                <a:latin typeface="Arial" pitchFamily="34" charset="0"/>
                <a:ea typeface="Arial" pitchFamily="34" charset="-122"/>
                <a:cs typeface="Arial" pitchFamily="34" charset="-120"/>
              </a:rPr>
              <a:t>Accuracy 40,25%</a:t>
            </a:r>
            <a:endParaRPr lang="en-US" sz="1100" dirty="0"/>
          </a:p>
        </p:txBody>
      </p:sp>
      <p:sp>
        <p:nvSpPr>
          <p:cNvPr id="73" name="Text 71"/>
          <p:cNvSpPr txBox="1"/>
          <p:nvPr/>
        </p:nvSpPr>
        <p:spPr>
          <a:xfrm>
            <a:off x="9253728" y="3639312"/>
            <a:ext cx="1645920" cy="274320"/>
          </a:xfrm>
          <a:prstGeom prst="rect">
            <a:avLst/>
          </a:prstGeom>
          <a:noFill/>
          <a:ln/>
        </p:spPr>
        <p:txBody>
          <a:bodyPr wrap="square" lIns="0" tIns="0" rIns="0" bIns="0" rtlCol="0" anchor="ctr">
            <a:normAutofit/>
          </a:bodyPr>
          <a:lstStyle/>
          <a:p>
            <a:pPr marL="0" indent="0" algn="ctr">
              <a:buNone/>
            </a:pPr>
            <a:r>
              <a:rPr lang="en-US" sz="1100" b="1" dirty="0">
                <a:solidFill>
                  <a:srgbClr val="334155"/>
                </a:solidFill>
                <a:latin typeface="Arial" pitchFamily="34" charset="0"/>
                <a:ea typeface="Arial" pitchFamily="34" charset="-122"/>
                <a:cs typeface="Arial" pitchFamily="34" charset="-120"/>
              </a:rPr>
              <a:t>Macro-F1 40,70%</a:t>
            </a:r>
            <a:endParaRPr lang="en-US" sz="1100" dirty="0"/>
          </a:p>
        </p:txBody>
      </p:sp>
      <p:sp>
        <p:nvSpPr>
          <p:cNvPr id="74" name="Shape 72"/>
          <p:cNvSpPr/>
          <p:nvPr/>
        </p:nvSpPr>
        <p:spPr>
          <a:xfrm>
            <a:off x="8906256" y="4224528"/>
            <a:ext cx="2359152" cy="1243584"/>
          </a:xfrm>
          <a:prstGeom prst="roundRect">
            <a:avLst>
              <a:gd name="adj" fmla="val 2941"/>
            </a:avLst>
          </a:prstGeom>
          <a:solidFill>
            <a:srgbClr val="FEF3C7"/>
          </a:solidFill>
          <a:ln w="12700">
            <a:solidFill>
              <a:srgbClr val="FEF3C7"/>
            </a:solidFill>
            <a:prstDash val="solid"/>
          </a:ln>
        </p:spPr>
      </p:sp>
      <p:sp>
        <p:nvSpPr>
          <p:cNvPr id="75" name="Text 73"/>
          <p:cNvSpPr txBox="1"/>
          <p:nvPr/>
        </p:nvSpPr>
        <p:spPr>
          <a:xfrm>
            <a:off x="9144000" y="4370832"/>
            <a:ext cx="1883664" cy="932688"/>
          </a:xfrm>
          <a:prstGeom prst="rect">
            <a:avLst/>
          </a:prstGeom>
          <a:noFill/>
          <a:ln/>
        </p:spPr>
        <p:txBody>
          <a:bodyPr wrap="square" lIns="0" tIns="0" rIns="0" bIns="0" rtlCol="0" anchor="ctr">
            <a:normAutofit/>
          </a:bodyPr>
          <a:lstStyle/>
          <a:p>
            <a:pPr marL="0" indent="0" algn="ctr">
              <a:buNone/>
            </a:pPr>
            <a:r>
              <a:rPr lang="en-US" sz="930" b="1" dirty="0">
                <a:solidFill>
                  <a:srgbClr val="B45309"/>
                </a:solidFill>
                <a:latin typeface="Arial" pitchFamily="34" charset="0"/>
                <a:ea typeface="Arial" pitchFamily="34" charset="-122"/>
                <a:cs typeface="Arial" pitchFamily="34" charset="-120"/>
              </a:rPr>
              <a:t>Audit: runner hiện argmax trong 4 class ViSEC. Cần rerun raw top-1 để kiểm tra quy tắc “không merge”.</a:t>
            </a:r>
            <a:endParaRPr lang="en-US" sz="930" dirty="0"/>
          </a:p>
        </p:txBody>
      </p:sp>
      <p:sp>
        <p:nvSpPr>
          <p:cNvPr id="76" name="Shape 74"/>
          <p:cNvSpPr/>
          <p:nvPr/>
        </p:nvSpPr>
        <p:spPr>
          <a:xfrm>
            <a:off x="530352" y="6382512"/>
            <a:ext cx="11128248" cy="0"/>
          </a:xfrm>
          <a:prstGeom prst="line">
            <a:avLst/>
          </a:prstGeom>
          <a:noFill/>
          <a:ln w="10160">
            <a:solidFill>
              <a:srgbClr val="E2E8F0"/>
            </a:solidFill>
            <a:prstDash val="solid"/>
          </a:ln>
        </p:spPr>
      </p:sp>
      <p:sp>
        <p:nvSpPr>
          <p:cNvPr id="77" name="Text 75"/>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meralion.json + CSV • audit code: bench/run_meralion.py:441–452 (4-class restricted argmax).</a:t>
            </a:r>
            <a:endParaRPr lang="en-US" sz="850" dirty="0"/>
          </a:p>
        </p:txBody>
      </p:sp>
      <p:sp>
        <p:nvSpPr>
          <p:cNvPr id="78"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22  /  PHÂN TÍCH LỖI</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Lỗi tập trung quanh sad và neutral</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Artifact thật cho thấy một số nhầm lẫn khác với narrative ban đầu.</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55648"/>
            <a:ext cx="6601968" cy="4315968"/>
          </a:xfrm>
          <a:prstGeom prst="roundRect">
            <a:avLst>
              <a:gd name="adj" fmla="val 1059"/>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Text 6"/>
          <p:cNvSpPr txBox="1"/>
          <p:nvPr/>
        </p:nvSpPr>
        <p:spPr>
          <a:xfrm>
            <a:off x="859536" y="2029968"/>
            <a:ext cx="2395728" cy="274320"/>
          </a:xfrm>
          <a:prstGeom prst="rect">
            <a:avLst/>
          </a:prstGeom>
          <a:noFill/>
          <a:ln/>
        </p:spPr>
        <p:txBody>
          <a:bodyPr wrap="square" lIns="0" tIns="0" rIns="0" bIns="0" rtlCol="0" anchor="ctr">
            <a:normAutofit/>
          </a:bodyPr>
          <a:lstStyle/>
          <a:p>
            <a:pPr marL="0" indent="0" algn="l">
              <a:buNone/>
            </a:pPr>
            <a:r>
              <a:rPr lang="en-US" sz="1100" b="1" dirty="0">
                <a:solidFill>
                  <a:srgbClr val="B91C1C"/>
                </a:solidFill>
                <a:latin typeface="Arial" pitchFamily="34" charset="0"/>
                <a:ea typeface="Arial" pitchFamily="34" charset="-122"/>
                <a:cs typeface="Arial" pitchFamily="34" charset="-120"/>
              </a:rPr>
              <a:t>CÁC LUỒNG NHẦM LỚN</a:t>
            </a:r>
            <a:endParaRPr lang="en-US" sz="1100" dirty="0"/>
          </a:p>
        </p:txBody>
      </p:sp>
      <p:sp>
        <p:nvSpPr>
          <p:cNvPr id="9" name="Shape 7"/>
          <p:cNvSpPr/>
          <p:nvPr/>
        </p:nvSpPr>
        <p:spPr>
          <a:xfrm>
            <a:off x="877824" y="2596896"/>
            <a:ext cx="1097280" cy="365760"/>
          </a:xfrm>
          <a:prstGeom prst="roundRect">
            <a:avLst>
              <a:gd name="adj" fmla="val 10000"/>
            </a:avLst>
          </a:prstGeom>
          <a:solidFill>
            <a:srgbClr val="FEF3C7"/>
          </a:solidFill>
          <a:ln w="12700">
            <a:solidFill>
              <a:srgbClr val="FEF3C7"/>
            </a:solidFill>
            <a:prstDash val="solid"/>
          </a:ln>
        </p:spPr>
      </p:sp>
      <p:sp>
        <p:nvSpPr>
          <p:cNvPr id="10" name="Text 8"/>
          <p:cNvSpPr txBox="1"/>
          <p:nvPr/>
        </p:nvSpPr>
        <p:spPr>
          <a:xfrm>
            <a:off x="950976" y="2596896"/>
            <a:ext cx="950976" cy="365760"/>
          </a:xfrm>
          <a:prstGeom prst="rect">
            <a:avLst/>
          </a:prstGeom>
          <a:noFill/>
          <a:ln/>
        </p:spPr>
        <p:txBody>
          <a:bodyPr wrap="square" lIns="0" tIns="0" rIns="0" bIns="0" rtlCol="0" anchor="ctr">
            <a:normAutofit/>
          </a:bodyPr>
          <a:lstStyle/>
          <a:p>
            <a:pPr marL="0" indent="0" algn="ctr">
              <a:buNone/>
            </a:pPr>
            <a:r>
              <a:rPr lang="en-US" sz="1050" b="1" dirty="0">
                <a:solidFill>
                  <a:srgbClr val="B45309"/>
                </a:solidFill>
                <a:latin typeface="Arial" pitchFamily="34" charset="0"/>
                <a:ea typeface="Arial" pitchFamily="34" charset="-122"/>
                <a:cs typeface="Arial" pitchFamily="34" charset="-120"/>
              </a:rPr>
              <a:t>happy</a:t>
            </a:r>
            <a:endParaRPr lang="en-US" sz="1050" dirty="0"/>
          </a:p>
        </p:txBody>
      </p:sp>
      <p:sp>
        <p:nvSpPr>
          <p:cNvPr id="11" name="Shape 9"/>
          <p:cNvSpPr/>
          <p:nvPr/>
        </p:nvSpPr>
        <p:spPr>
          <a:xfrm>
            <a:off x="2084832" y="2779776"/>
            <a:ext cx="1444752" cy="0"/>
          </a:xfrm>
          <a:prstGeom prst="line">
            <a:avLst/>
          </a:prstGeom>
          <a:noFill/>
          <a:ln w="22860">
            <a:solidFill>
              <a:srgbClr val="334155"/>
            </a:solidFill>
            <a:prstDash val="solid"/>
            <a:tailEnd type="triangle"/>
          </a:ln>
        </p:spPr>
      </p:sp>
      <p:sp>
        <p:nvSpPr>
          <p:cNvPr id="12" name="Shape 10"/>
          <p:cNvSpPr/>
          <p:nvPr/>
        </p:nvSpPr>
        <p:spPr>
          <a:xfrm>
            <a:off x="3657600" y="2596896"/>
            <a:ext cx="1097280" cy="365760"/>
          </a:xfrm>
          <a:prstGeom prst="roundRect">
            <a:avLst>
              <a:gd name="adj" fmla="val 10000"/>
            </a:avLst>
          </a:prstGeom>
          <a:solidFill>
            <a:srgbClr val="DBEAFE"/>
          </a:solidFill>
          <a:ln w="12700">
            <a:solidFill>
              <a:srgbClr val="DBEAFE"/>
            </a:solidFill>
            <a:prstDash val="solid"/>
          </a:ln>
        </p:spPr>
      </p:sp>
      <p:sp>
        <p:nvSpPr>
          <p:cNvPr id="13" name="Text 11"/>
          <p:cNvSpPr txBox="1"/>
          <p:nvPr/>
        </p:nvSpPr>
        <p:spPr>
          <a:xfrm>
            <a:off x="3730752" y="2596896"/>
            <a:ext cx="950976" cy="365760"/>
          </a:xfrm>
          <a:prstGeom prst="rect">
            <a:avLst/>
          </a:prstGeom>
          <a:noFill/>
          <a:ln/>
        </p:spPr>
        <p:txBody>
          <a:bodyPr wrap="square" lIns="0" tIns="0" rIns="0" bIns="0" rtlCol="0" anchor="ctr">
            <a:normAutofit/>
          </a:bodyPr>
          <a:lstStyle/>
          <a:p>
            <a:pPr marL="0" indent="0" algn="ctr">
              <a:buNone/>
            </a:pPr>
            <a:r>
              <a:rPr lang="en-US" sz="1050" b="1" dirty="0">
                <a:solidFill>
                  <a:srgbClr val="1D4ED8"/>
                </a:solidFill>
                <a:latin typeface="Arial" pitchFamily="34" charset="0"/>
                <a:ea typeface="Arial" pitchFamily="34" charset="-122"/>
                <a:cs typeface="Arial" pitchFamily="34" charset="-120"/>
              </a:rPr>
              <a:t>sad</a:t>
            </a:r>
            <a:endParaRPr lang="en-US" sz="1050" dirty="0"/>
          </a:p>
        </p:txBody>
      </p:sp>
      <p:sp>
        <p:nvSpPr>
          <p:cNvPr id="14" name="Text 12"/>
          <p:cNvSpPr txBox="1"/>
          <p:nvPr/>
        </p:nvSpPr>
        <p:spPr>
          <a:xfrm>
            <a:off x="5065776" y="2596896"/>
            <a:ext cx="1078992" cy="365760"/>
          </a:xfrm>
          <a:prstGeom prst="rect">
            <a:avLst/>
          </a:prstGeom>
          <a:noFill/>
          <a:ln/>
        </p:spPr>
        <p:txBody>
          <a:bodyPr wrap="square" lIns="0" tIns="0" rIns="0" bIns="0" rtlCol="0" anchor="ctr">
            <a:normAutofit/>
          </a:bodyPr>
          <a:lstStyle/>
          <a:p>
            <a:pPr marL="0" indent="0" algn="r">
              <a:buNone/>
            </a:pPr>
            <a:r>
              <a:rPr lang="en-US" sz="1300" b="1" dirty="0">
                <a:solidFill>
                  <a:srgbClr val="B91C1C"/>
                </a:solidFill>
                <a:latin typeface="Arial" pitchFamily="34" charset="0"/>
                <a:ea typeface="Arial" pitchFamily="34" charset="-122"/>
                <a:cs typeface="Arial" pitchFamily="34" charset="-120"/>
              </a:rPr>
              <a:t>46 / 100</a:t>
            </a:r>
            <a:endParaRPr lang="en-US" sz="1300" dirty="0"/>
          </a:p>
        </p:txBody>
      </p:sp>
      <p:sp>
        <p:nvSpPr>
          <p:cNvPr id="15" name="Shape 13"/>
          <p:cNvSpPr/>
          <p:nvPr/>
        </p:nvSpPr>
        <p:spPr>
          <a:xfrm>
            <a:off x="877824" y="3291840"/>
            <a:ext cx="1097280" cy="365760"/>
          </a:xfrm>
          <a:prstGeom prst="roundRect">
            <a:avLst>
              <a:gd name="adj" fmla="val 10000"/>
            </a:avLst>
          </a:prstGeom>
          <a:solidFill>
            <a:srgbClr val="FEE2E2"/>
          </a:solidFill>
          <a:ln w="12700">
            <a:solidFill>
              <a:srgbClr val="FEE2E2"/>
            </a:solidFill>
            <a:prstDash val="solid"/>
          </a:ln>
        </p:spPr>
      </p:sp>
      <p:sp>
        <p:nvSpPr>
          <p:cNvPr id="16" name="Text 14"/>
          <p:cNvSpPr txBox="1"/>
          <p:nvPr/>
        </p:nvSpPr>
        <p:spPr>
          <a:xfrm>
            <a:off x="950976" y="3291840"/>
            <a:ext cx="950976" cy="365760"/>
          </a:xfrm>
          <a:prstGeom prst="rect">
            <a:avLst/>
          </a:prstGeom>
          <a:noFill/>
          <a:ln/>
        </p:spPr>
        <p:txBody>
          <a:bodyPr wrap="square" lIns="0" tIns="0" rIns="0" bIns="0" rtlCol="0" anchor="ctr">
            <a:normAutofit/>
          </a:bodyPr>
          <a:lstStyle/>
          <a:p>
            <a:pPr marL="0" indent="0" algn="ctr">
              <a:buNone/>
            </a:pPr>
            <a:r>
              <a:rPr lang="en-US" sz="1050" b="1" dirty="0">
                <a:solidFill>
                  <a:srgbClr val="B91C1C"/>
                </a:solidFill>
                <a:latin typeface="Arial" pitchFamily="34" charset="0"/>
                <a:ea typeface="Arial" pitchFamily="34" charset="-122"/>
                <a:cs typeface="Arial" pitchFamily="34" charset="-120"/>
              </a:rPr>
              <a:t>angry</a:t>
            </a:r>
            <a:endParaRPr lang="en-US" sz="1050" dirty="0"/>
          </a:p>
        </p:txBody>
      </p:sp>
      <p:sp>
        <p:nvSpPr>
          <p:cNvPr id="17" name="Shape 15"/>
          <p:cNvSpPr/>
          <p:nvPr/>
        </p:nvSpPr>
        <p:spPr>
          <a:xfrm>
            <a:off x="2084832" y="3474720"/>
            <a:ext cx="1444752" cy="0"/>
          </a:xfrm>
          <a:prstGeom prst="line">
            <a:avLst/>
          </a:prstGeom>
          <a:noFill/>
          <a:ln w="22860">
            <a:solidFill>
              <a:srgbClr val="334155"/>
            </a:solidFill>
            <a:prstDash val="solid"/>
            <a:tailEnd type="triangle"/>
          </a:ln>
        </p:spPr>
      </p:sp>
      <p:sp>
        <p:nvSpPr>
          <p:cNvPr id="18" name="Shape 16"/>
          <p:cNvSpPr/>
          <p:nvPr/>
        </p:nvSpPr>
        <p:spPr>
          <a:xfrm>
            <a:off x="3657600" y="3291840"/>
            <a:ext cx="1097280" cy="365760"/>
          </a:xfrm>
          <a:prstGeom prst="roundRect">
            <a:avLst>
              <a:gd name="adj" fmla="val 10000"/>
            </a:avLst>
          </a:prstGeom>
          <a:solidFill>
            <a:srgbClr val="DBEAFE"/>
          </a:solidFill>
          <a:ln w="12700">
            <a:solidFill>
              <a:srgbClr val="DBEAFE"/>
            </a:solidFill>
            <a:prstDash val="solid"/>
          </a:ln>
        </p:spPr>
      </p:sp>
      <p:sp>
        <p:nvSpPr>
          <p:cNvPr id="19" name="Text 17"/>
          <p:cNvSpPr txBox="1"/>
          <p:nvPr/>
        </p:nvSpPr>
        <p:spPr>
          <a:xfrm>
            <a:off x="3730752" y="3291840"/>
            <a:ext cx="950976" cy="365760"/>
          </a:xfrm>
          <a:prstGeom prst="rect">
            <a:avLst/>
          </a:prstGeom>
          <a:noFill/>
          <a:ln/>
        </p:spPr>
        <p:txBody>
          <a:bodyPr wrap="square" lIns="0" tIns="0" rIns="0" bIns="0" rtlCol="0" anchor="ctr">
            <a:normAutofit/>
          </a:bodyPr>
          <a:lstStyle/>
          <a:p>
            <a:pPr marL="0" indent="0" algn="ctr">
              <a:buNone/>
            </a:pPr>
            <a:r>
              <a:rPr lang="en-US" sz="1050" b="1" dirty="0">
                <a:solidFill>
                  <a:srgbClr val="1D4ED8"/>
                </a:solidFill>
                <a:latin typeface="Arial" pitchFamily="34" charset="0"/>
                <a:ea typeface="Arial" pitchFamily="34" charset="-122"/>
                <a:cs typeface="Arial" pitchFamily="34" charset="-120"/>
              </a:rPr>
              <a:t>sad</a:t>
            </a:r>
            <a:endParaRPr lang="en-US" sz="1050" dirty="0"/>
          </a:p>
        </p:txBody>
      </p:sp>
      <p:sp>
        <p:nvSpPr>
          <p:cNvPr id="20" name="Text 18"/>
          <p:cNvSpPr txBox="1"/>
          <p:nvPr/>
        </p:nvSpPr>
        <p:spPr>
          <a:xfrm>
            <a:off x="5065776" y="3291840"/>
            <a:ext cx="1078992" cy="365760"/>
          </a:xfrm>
          <a:prstGeom prst="rect">
            <a:avLst/>
          </a:prstGeom>
          <a:noFill/>
          <a:ln/>
        </p:spPr>
        <p:txBody>
          <a:bodyPr wrap="square" lIns="0" tIns="0" rIns="0" bIns="0" rtlCol="0" anchor="ctr">
            <a:normAutofit/>
          </a:bodyPr>
          <a:lstStyle/>
          <a:p>
            <a:pPr marL="0" indent="0" algn="r">
              <a:buNone/>
            </a:pPr>
            <a:r>
              <a:rPr lang="en-US" sz="1300" b="1" dirty="0">
                <a:solidFill>
                  <a:srgbClr val="B91C1C"/>
                </a:solidFill>
                <a:latin typeface="Arial" pitchFamily="34" charset="0"/>
                <a:ea typeface="Arial" pitchFamily="34" charset="-122"/>
                <a:cs typeface="Arial" pitchFamily="34" charset="-120"/>
              </a:rPr>
              <a:t>49 / 100</a:t>
            </a:r>
            <a:endParaRPr lang="en-US" sz="1300" dirty="0"/>
          </a:p>
        </p:txBody>
      </p:sp>
      <p:sp>
        <p:nvSpPr>
          <p:cNvPr id="21" name="Shape 19"/>
          <p:cNvSpPr/>
          <p:nvPr/>
        </p:nvSpPr>
        <p:spPr>
          <a:xfrm>
            <a:off x="877824" y="3986784"/>
            <a:ext cx="1097280" cy="365760"/>
          </a:xfrm>
          <a:prstGeom prst="roundRect">
            <a:avLst>
              <a:gd name="adj" fmla="val 10000"/>
            </a:avLst>
          </a:prstGeom>
          <a:solidFill>
            <a:srgbClr val="DBEAFE"/>
          </a:solidFill>
          <a:ln w="12700">
            <a:solidFill>
              <a:srgbClr val="DBEAFE"/>
            </a:solidFill>
            <a:prstDash val="solid"/>
          </a:ln>
        </p:spPr>
      </p:sp>
      <p:sp>
        <p:nvSpPr>
          <p:cNvPr id="22" name="Text 20"/>
          <p:cNvSpPr txBox="1"/>
          <p:nvPr/>
        </p:nvSpPr>
        <p:spPr>
          <a:xfrm>
            <a:off x="950976" y="3986784"/>
            <a:ext cx="950976" cy="365760"/>
          </a:xfrm>
          <a:prstGeom prst="rect">
            <a:avLst/>
          </a:prstGeom>
          <a:noFill/>
          <a:ln/>
        </p:spPr>
        <p:txBody>
          <a:bodyPr wrap="square" lIns="0" tIns="0" rIns="0" bIns="0" rtlCol="0" anchor="ctr">
            <a:normAutofit/>
          </a:bodyPr>
          <a:lstStyle/>
          <a:p>
            <a:pPr marL="0" indent="0" algn="ctr">
              <a:buNone/>
            </a:pPr>
            <a:r>
              <a:rPr lang="en-US" sz="1050" b="1" dirty="0">
                <a:solidFill>
                  <a:srgbClr val="1D4ED8"/>
                </a:solidFill>
                <a:latin typeface="Arial" pitchFamily="34" charset="0"/>
                <a:ea typeface="Arial" pitchFamily="34" charset="-122"/>
                <a:cs typeface="Arial" pitchFamily="34" charset="-120"/>
              </a:rPr>
              <a:t>sad</a:t>
            </a:r>
            <a:endParaRPr lang="en-US" sz="1050" dirty="0"/>
          </a:p>
        </p:txBody>
      </p:sp>
      <p:sp>
        <p:nvSpPr>
          <p:cNvPr id="23" name="Shape 21"/>
          <p:cNvSpPr/>
          <p:nvPr/>
        </p:nvSpPr>
        <p:spPr>
          <a:xfrm>
            <a:off x="2084832" y="4169664"/>
            <a:ext cx="1444752" cy="0"/>
          </a:xfrm>
          <a:prstGeom prst="line">
            <a:avLst/>
          </a:prstGeom>
          <a:noFill/>
          <a:ln w="22860">
            <a:solidFill>
              <a:srgbClr val="334155"/>
            </a:solidFill>
            <a:prstDash val="solid"/>
            <a:tailEnd type="triangle"/>
          </a:ln>
        </p:spPr>
      </p:sp>
      <p:sp>
        <p:nvSpPr>
          <p:cNvPr id="24" name="Shape 22"/>
          <p:cNvSpPr/>
          <p:nvPr/>
        </p:nvSpPr>
        <p:spPr>
          <a:xfrm>
            <a:off x="3657600" y="3986784"/>
            <a:ext cx="1097280" cy="365760"/>
          </a:xfrm>
          <a:prstGeom prst="roundRect">
            <a:avLst>
              <a:gd name="adj" fmla="val 10000"/>
            </a:avLst>
          </a:prstGeom>
          <a:solidFill>
            <a:srgbClr val="F1F5F9"/>
          </a:solidFill>
          <a:ln w="12700">
            <a:solidFill>
              <a:srgbClr val="F1F5F9"/>
            </a:solidFill>
            <a:prstDash val="solid"/>
          </a:ln>
        </p:spPr>
      </p:sp>
      <p:sp>
        <p:nvSpPr>
          <p:cNvPr id="25" name="Text 23"/>
          <p:cNvSpPr txBox="1"/>
          <p:nvPr/>
        </p:nvSpPr>
        <p:spPr>
          <a:xfrm>
            <a:off x="3730752" y="3986784"/>
            <a:ext cx="950976" cy="365760"/>
          </a:xfrm>
          <a:prstGeom prst="rect">
            <a:avLst/>
          </a:prstGeom>
          <a:noFill/>
          <a:ln/>
        </p:spPr>
        <p:txBody>
          <a:bodyPr wrap="square" lIns="0" tIns="0" rIns="0" bIns="0" rtlCol="0" anchor="ctr">
            <a:normAutofit/>
          </a:bodyPr>
          <a:lstStyle/>
          <a:p>
            <a:pPr marL="0" indent="0" algn="ctr">
              <a:buNone/>
            </a:pPr>
            <a:r>
              <a:rPr lang="en-US" sz="1050" b="1" dirty="0">
                <a:solidFill>
                  <a:srgbClr val="334155"/>
                </a:solidFill>
                <a:latin typeface="Arial" pitchFamily="34" charset="0"/>
                <a:ea typeface="Arial" pitchFamily="34" charset="-122"/>
                <a:cs typeface="Arial" pitchFamily="34" charset="-120"/>
              </a:rPr>
              <a:t>neutral</a:t>
            </a:r>
            <a:endParaRPr lang="en-US" sz="1050" dirty="0"/>
          </a:p>
        </p:txBody>
      </p:sp>
      <p:sp>
        <p:nvSpPr>
          <p:cNvPr id="26" name="Text 24"/>
          <p:cNvSpPr txBox="1"/>
          <p:nvPr/>
        </p:nvSpPr>
        <p:spPr>
          <a:xfrm>
            <a:off x="5065776" y="3986784"/>
            <a:ext cx="1078992" cy="365760"/>
          </a:xfrm>
          <a:prstGeom prst="rect">
            <a:avLst/>
          </a:prstGeom>
          <a:noFill/>
          <a:ln/>
        </p:spPr>
        <p:txBody>
          <a:bodyPr wrap="square" lIns="0" tIns="0" rIns="0" bIns="0" rtlCol="0" anchor="ctr">
            <a:normAutofit/>
          </a:bodyPr>
          <a:lstStyle/>
          <a:p>
            <a:pPr marL="0" indent="0" algn="r">
              <a:buNone/>
            </a:pPr>
            <a:r>
              <a:rPr lang="en-US" sz="1300" b="1" dirty="0">
                <a:solidFill>
                  <a:srgbClr val="B91C1C"/>
                </a:solidFill>
                <a:latin typeface="Arial" pitchFamily="34" charset="0"/>
                <a:ea typeface="Arial" pitchFamily="34" charset="-122"/>
                <a:cs typeface="Arial" pitchFamily="34" charset="-120"/>
              </a:rPr>
              <a:t>30 / 100</a:t>
            </a:r>
            <a:endParaRPr lang="en-US" sz="1300" dirty="0"/>
          </a:p>
        </p:txBody>
      </p:sp>
      <p:sp>
        <p:nvSpPr>
          <p:cNvPr id="27" name="Shape 25"/>
          <p:cNvSpPr/>
          <p:nvPr/>
        </p:nvSpPr>
        <p:spPr>
          <a:xfrm>
            <a:off x="877824" y="4681728"/>
            <a:ext cx="1097280" cy="365760"/>
          </a:xfrm>
          <a:prstGeom prst="roundRect">
            <a:avLst>
              <a:gd name="adj" fmla="val 10000"/>
            </a:avLst>
          </a:prstGeom>
          <a:solidFill>
            <a:srgbClr val="FEF3C7"/>
          </a:solidFill>
          <a:ln w="12700">
            <a:solidFill>
              <a:srgbClr val="FEF3C7"/>
            </a:solidFill>
            <a:prstDash val="solid"/>
          </a:ln>
        </p:spPr>
      </p:sp>
      <p:sp>
        <p:nvSpPr>
          <p:cNvPr id="28" name="Text 26"/>
          <p:cNvSpPr txBox="1"/>
          <p:nvPr/>
        </p:nvSpPr>
        <p:spPr>
          <a:xfrm>
            <a:off x="950976" y="4681728"/>
            <a:ext cx="950976" cy="365760"/>
          </a:xfrm>
          <a:prstGeom prst="rect">
            <a:avLst/>
          </a:prstGeom>
          <a:noFill/>
          <a:ln/>
        </p:spPr>
        <p:txBody>
          <a:bodyPr wrap="square" lIns="0" tIns="0" rIns="0" bIns="0" rtlCol="0" anchor="ctr">
            <a:normAutofit/>
          </a:bodyPr>
          <a:lstStyle/>
          <a:p>
            <a:pPr marL="0" indent="0" algn="ctr">
              <a:buNone/>
            </a:pPr>
            <a:r>
              <a:rPr lang="en-US" sz="1050" b="1" dirty="0">
                <a:solidFill>
                  <a:srgbClr val="B45309"/>
                </a:solidFill>
                <a:latin typeface="Arial" pitchFamily="34" charset="0"/>
                <a:ea typeface="Arial" pitchFamily="34" charset="-122"/>
                <a:cs typeface="Arial" pitchFamily="34" charset="-120"/>
              </a:rPr>
              <a:t>happy</a:t>
            </a:r>
            <a:endParaRPr lang="en-US" sz="1050" dirty="0"/>
          </a:p>
        </p:txBody>
      </p:sp>
      <p:sp>
        <p:nvSpPr>
          <p:cNvPr id="29" name="Shape 27"/>
          <p:cNvSpPr/>
          <p:nvPr/>
        </p:nvSpPr>
        <p:spPr>
          <a:xfrm>
            <a:off x="2084832" y="4864608"/>
            <a:ext cx="1444752" cy="0"/>
          </a:xfrm>
          <a:prstGeom prst="line">
            <a:avLst/>
          </a:prstGeom>
          <a:noFill/>
          <a:ln w="22860">
            <a:solidFill>
              <a:srgbClr val="334155"/>
            </a:solidFill>
            <a:prstDash val="solid"/>
            <a:tailEnd type="triangle"/>
          </a:ln>
        </p:spPr>
      </p:sp>
      <p:sp>
        <p:nvSpPr>
          <p:cNvPr id="30" name="Shape 28"/>
          <p:cNvSpPr/>
          <p:nvPr/>
        </p:nvSpPr>
        <p:spPr>
          <a:xfrm>
            <a:off x="3657600" y="4681728"/>
            <a:ext cx="1097280" cy="365760"/>
          </a:xfrm>
          <a:prstGeom prst="roundRect">
            <a:avLst>
              <a:gd name="adj" fmla="val 10000"/>
            </a:avLst>
          </a:prstGeom>
          <a:solidFill>
            <a:srgbClr val="F1F5F9"/>
          </a:solidFill>
          <a:ln w="12700">
            <a:solidFill>
              <a:srgbClr val="F1F5F9"/>
            </a:solidFill>
            <a:prstDash val="solid"/>
          </a:ln>
        </p:spPr>
      </p:sp>
      <p:sp>
        <p:nvSpPr>
          <p:cNvPr id="31" name="Text 29"/>
          <p:cNvSpPr txBox="1"/>
          <p:nvPr/>
        </p:nvSpPr>
        <p:spPr>
          <a:xfrm>
            <a:off x="3730752" y="4681728"/>
            <a:ext cx="950976" cy="365760"/>
          </a:xfrm>
          <a:prstGeom prst="rect">
            <a:avLst/>
          </a:prstGeom>
          <a:noFill/>
          <a:ln/>
        </p:spPr>
        <p:txBody>
          <a:bodyPr wrap="square" lIns="0" tIns="0" rIns="0" bIns="0" rtlCol="0" anchor="ctr">
            <a:normAutofit/>
          </a:bodyPr>
          <a:lstStyle/>
          <a:p>
            <a:pPr marL="0" indent="0" algn="ctr">
              <a:buNone/>
            </a:pPr>
            <a:r>
              <a:rPr lang="en-US" sz="1050" b="1" dirty="0">
                <a:solidFill>
                  <a:srgbClr val="334155"/>
                </a:solidFill>
                <a:latin typeface="Arial" pitchFamily="34" charset="0"/>
                <a:ea typeface="Arial" pitchFamily="34" charset="-122"/>
                <a:cs typeface="Arial" pitchFamily="34" charset="-120"/>
              </a:rPr>
              <a:t>neutral</a:t>
            </a:r>
            <a:endParaRPr lang="en-US" sz="1050" dirty="0"/>
          </a:p>
        </p:txBody>
      </p:sp>
      <p:sp>
        <p:nvSpPr>
          <p:cNvPr id="32" name="Text 30"/>
          <p:cNvSpPr txBox="1"/>
          <p:nvPr/>
        </p:nvSpPr>
        <p:spPr>
          <a:xfrm>
            <a:off x="5065776" y="4681728"/>
            <a:ext cx="1078992" cy="365760"/>
          </a:xfrm>
          <a:prstGeom prst="rect">
            <a:avLst/>
          </a:prstGeom>
          <a:noFill/>
          <a:ln/>
        </p:spPr>
        <p:txBody>
          <a:bodyPr wrap="square" lIns="0" tIns="0" rIns="0" bIns="0" rtlCol="0" anchor="ctr">
            <a:normAutofit/>
          </a:bodyPr>
          <a:lstStyle/>
          <a:p>
            <a:pPr marL="0" indent="0" algn="r">
              <a:buNone/>
            </a:pPr>
            <a:r>
              <a:rPr lang="en-US" sz="1300" b="1" dirty="0">
                <a:solidFill>
                  <a:srgbClr val="B91C1C"/>
                </a:solidFill>
                <a:latin typeface="Arial" pitchFamily="34" charset="0"/>
                <a:ea typeface="Arial" pitchFamily="34" charset="-122"/>
                <a:cs typeface="Arial" pitchFamily="34" charset="-120"/>
              </a:rPr>
              <a:t>19 / 100</a:t>
            </a:r>
            <a:endParaRPr lang="en-US" sz="1300" dirty="0"/>
          </a:p>
        </p:txBody>
      </p:sp>
      <p:sp>
        <p:nvSpPr>
          <p:cNvPr id="33" name="Shape 31"/>
          <p:cNvSpPr/>
          <p:nvPr/>
        </p:nvSpPr>
        <p:spPr>
          <a:xfrm>
            <a:off x="877824" y="5541264"/>
            <a:ext cx="5815584" cy="365760"/>
          </a:xfrm>
          <a:prstGeom prst="roundRect">
            <a:avLst>
              <a:gd name="adj" fmla="val 10000"/>
            </a:avLst>
          </a:prstGeom>
          <a:solidFill>
            <a:srgbClr val="FEF3C7"/>
          </a:solidFill>
          <a:ln w="12700">
            <a:solidFill>
              <a:srgbClr val="FEF3C7"/>
            </a:solidFill>
            <a:prstDash val="solid"/>
          </a:ln>
        </p:spPr>
      </p:sp>
      <p:sp>
        <p:nvSpPr>
          <p:cNvPr id="34" name="Text 32"/>
          <p:cNvSpPr txBox="1"/>
          <p:nvPr/>
        </p:nvSpPr>
        <p:spPr>
          <a:xfrm>
            <a:off x="950976" y="5541264"/>
            <a:ext cx="5669280" cy="365760"/>
          </a:xfrm>
          <a:prstGeom prst="rect">
            <a:avLst/>
          </a:prstGeom>
          <a:noFill/>
          <a:ln/>
        </p:spPr>
        <p:txBody>
          <a:bodyPr wrap="square" lIns="0" tIns="0" rIns="0" bIns="0" rtlCol="0" anchor="ctr">
            <a:normAutofit/>
          </a:bodyPr>
          <a:lstStyle/>
          <a:p>
            <a:pPr marL="0" indent="0" algn="ctr">
              <a:buNone/>
            </a:pPr>
            <a:r>
              <a:rPr lang="en-US" sz="950" b="1" dirty="0">
                <a:solidFill>
                  <a:srgbClr val="B45309"/>
                </a:solidFill>
                <a:latin typeface="Arial" pitchFamily="34" charset="0"/>
                <a:ea typeface="Arial" pitchFamily="34" charset="-122"/>
                <a:cs typeface="Arial" pitchFamily="34" charset="-120"/>
              </a:rPr>
              <a:t>Neutral là đối thủ thường gặp của happy/sad, nhưng không phải lỗi lớn nhất.</a:t>
            </a:r>
            <a:endParaRPr lang="en-US" sz="950" dirty="0"/>
          </a:p>
        </p:txBody>
      </p:sp>
      <p:sp>
        <p:nvSpPr>
          <p:cNvPr id="35" name="Shape 33"/>
          <p:cNvSpPr/>
          <p:nvPr/>
        </p:nvSpPr>
        <p:spPr>
          <a:xfrm>
            <a:off x="7443216" y="1755648"/>
            <a:ext cx="4197096" cy="4315968"/>
          </a:xfrm>
          <a:prstGeom prst="roundRect">
            <a:avLst>
              <a:gd name="adj" fmla="val 1089"/>
            </a:avLst>
          </a:prstGeom>
          <a:solidFill>
            <a:srgbClr val="0F172A"/>
          </a:solidFill>
          <a:ln w="12700">
            <a:solidFill>
              <a:srgbClr val="0F172A"/>
            </a:solidFill>
            <a:prstDash val="solid"/>
          </a:ln>
        </p:spPr>
      </p:sp>
      <p:sp>
        <p:nvSpPr>
          <p:cNvPr id="36" name="Text 34"/>
          <p:cNvSpPr txBox="1"/>
          <p:nvPr/>
        </p:nvSpPr>
        <p:spPr>
          <a:xfrm>
            <a:off x="7772400" y="2048256"/>
            <a:ext cx="3310128" cy="274320"/>
          </a:xfrm>
          <a:prstGeom prst="rect">
            <a:avLst/>
          </a:prstGeom>
          <a:noFill/>
          <a:ln/>
        </p:spPr>
        <p:txBody>
          <a:bodyPr wrap="square" lIns="0" tIns="0" rIns="0" bIns="0" rtlCol="0" anchor="ctr">
            <a:normAutofit/>
          </a:bodyPr>
          <a:lstStyle/>
          <a:p>
            <a:pPr marL="0" indent="0" algn="l">
              <a:buNone/>
            </a:pPr>
            <a:r>
              <a:rPr lang="en-US" sz="1100" b="1" dirty="0">
                <a:solidFill>
                  <a:srgbClr val="7DD3FC"/>
                </a:solidFill>
                <a:latin typeface="Arial" pitchFamily="34" charset="0"/>
                <a:ea typeface="Arial" pitchFamily="34" charset="-122"/>
                <a:cs typeface="Arial" pitchFamily="34" charset="-120"/>
              </a:rPr>
              <a:t>DIỄN GIẢI THẬN TRỌNG</a:t>
            </a:r>
            <a:endParaRPr lang="en-US" sz="1100" dirty="0"/>
          </a:p>
        </p:txBody>
      </p:sp>
      <p:pic>
        <p:nvPicPr>
          <p:cNvPr id="3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90688" y="2724912"/>
            <a:ext cx="329184" cy="329184"/>
          </a:xfrm>
          <a:prstGeom prst="rect">
            <a:avLst/>
          </a:prstGeom>
        </p:spPr>
      </p:pic>
      <p:sp>
        <p:nvSpPr>
          <p:cNvPr id="38" name="Text 35"/>
          <p:cNvSpPr txBox="1"/>
          <p:nvPr/>
        </p:nvSpPr>
        <p:spPr>
          <a:xfrm>
            <a:off x="8284464" y="2670048"/>
            <a:ext cx="2761488" cy="292608"/>
          </a:xfrm>
          <a:prstGeom prst="rect">
            <a:avLst/>
          </a:prstGeom>
          <a:noFill/>
          <a:ln/>
        </p:spPr>
        <p:txBody>
          <a:bodyPr wrap="square" lIns="0" tIns="0" rIns="0" bIns="0" rtlCol="0" anchor="ctr">
            <a:normAutofit/>
          </a:bodyPr>
          <a:lstStyle/>
          <a:p>
            <a:pPr marL="0" indent="0" algn="l">
              <a:buNone/>
            </a:pPr>
            <a:r>
              <a:rPr lang="en-US" sz="1250" b="1" dirty="0">
                <a:solidFill>
                  <a:srgbClr val="FFFFFF"/>
                </a:solidFill>
                <a:latin typeface="Arial" pitchFamily="34" charset="0"/>
                <a:ea typeface="Arial" pitchFamily="34" charset="-122"/>
                <a:cs typeface="Arial" pitchFamily="34" charset="-120"/>
              </a:rPr>
              <a:t>Angry / neutral dễ hơn</a:t>
            </a:r>
            <a:endParaRPr lang="en-US" sz="1250" dirty="0"/>
          </a:p>
        </p:txBody>
      </p:sp>
      <p:sp>
        <p:nvSpPr>
          <p:cNvPr id="39" name="Text 36"/>
          <p:cNvSpPr txBox="1"/>
          <p:nvPr/>
        </p:nvSpPr>
        <p:spPr>
          <a:xfrm>
            <a:off x="8284464" y="3017520"/>
            <a:ext cx="2761488" cy="475488"/>
          </a:xfrm>
          <a:prstGeom prst="rect">
            <a:avLst/>
          </a:prstGeom>
          <a:noFill/>
          <a:ln/>
        </p:spPr>
        <p:txBody>
          <a:bodyPr wrap="square" lIns="0" tIns="0" rIns="0" bIns="0" rtlCol="0" anchor="t">
            <a:normAutofit/>
          </a:bodyPr>
          <a:lstStyle/>
          <a:p>
            <a:pPr marL="0" indent="0" algn="l">
              <a:buNone/>
            </a:pPr>
            <a:r>
              <a:rPr lang="en-US" sz="980" dirty="0">
                <a:solidFill>
                  <a:srgbClr val="CBD5E1"/>
                </a:solidFill>
                <a:latin typeface="Arial" pitchFamily="34" charset="0"/>
                <a:ea typeface="Arial" pitchFamily="34" charset="-122"/>
                <a:cs typeface="Arial" pitchFamily="34" charset="-120"/>
              </a:rPr>
              <a:t>F1 ≈ 0,50, nhưng angry vẫn hay trượt sang sad.</a:t>
            </a:r>
            <a:endParaRPr lang="en-US" sz="980" dirty="0"/>
          </a:p>
        </p:txBody>
      </p:sp>
      <p:pic>
        <p:nvPicPr>
          <p:cNvPr id="4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90688" y="3712464"/>
            <a:ext cx="329184" cy="329184"/>
          </a:xfrm>
          <a:prstGeom prst="rect">
            <a:avLst/>
          </a:prstGeom>
        </p:spPr>
      </p:pic>
      <p:sp>
        <p:nvSpPr>
          <p:cNvPr id="41" name="Text 37"/>
          <p:cNvSpPr txBox="1"/>
          <p:nvPr/>
        </p:nvSpPr>
        <p:spPr>
          <a:xfrm>
            <a:off x="8284464" y="3657600"/>
            <a:ext cx="2761488" cy="292608"/>
          </a:xfrm>
          <a:prstGeom prst="rect">
            <a:avLst/>
          </a:prstGeom>
          <a:noFill/>
          <a:ln/>
        </p:spPr>
        <p:txBody>
          <a:bodyPr wrap="square" lIns="0" tIns="0" rIns="0" bIns="0" rtlCol="0" anchor="ctr">
            <a:normAutofit/>
          </a:bodyPr>
          <a:lstStyle/>
          <a:p>
            <a:pPr marL="0" indent="0" algn="l">
              <a:buNone/>
            </a:pPr>
            <a:r>
              <a:rPr lang="en-US" sz="1250" b="1" dirty="0">
                <a:solidFill>
                  <a:srgbClr val="FFFFFF"/>
                </a:solidFill>
                <a:latin typeface="Arial" pitchFamily="34" charset="0"/>
                <a:ea typeface="Arial" pitchFamily="34" charset="-122"/>
                <a:cs typeface="Arial" pitchFamily="34" charset="-120"/>
              </a:rPr>
              <a:t>Tone và accent là giả thuyết</a:t>
            </a:r>
            <a:endParaRPr lang="en-US" sz="1250" dirty="0"/>
          </a:p>
        </p:txBody>
      </p:sp>
      <p:sp>
        <p:nvSpPr>
          <p:cNvPr id="42" name="Text 38"/>
          <p:cNvSpPr txBox="1"/>
          <p:nvPr/>
        </p:nvSpPr>
        <p:spPr>
          <a:xfrm>
            <a:off x="8284464" y="4005072"/>
            <a:ext cx="2761488" cy="475488"/>
          </a:xfrm>
          <a:prstGeom prst="rect">
            <a:avLst/>
          </a:prstGeom>
          <a:noFill/>
          <a:ln/>
        </p:spPr>
        <p:txBody>
          <a:bodyPr wrap="square" lIns="0" tIns="0" rIns="0" bIns="0" rtlCol="0" anchor="t">
            <a:normAutofit/>
          </a:bodyPr>
          <a:lstStyle/>
          <a:p>
            <a:pPr marL="0" indent="0" algn="l">
              <a:buNone/>
            </a:pPr>
            <a:r>
              <a:rPr lang="en-US" sz="980" dirty="0">
                <a:solidFill>
                  <a:srgbClr val="CBD5E1"/>
                </a:solidFill>
                <a:latin typeface="Arial" pitchFamily="34" charset="0"/>
                <a:ea typeface="Arial" pitchFamily="34" charset="-122"/>
                <a:cs typeface="Arial" pitchFamily="34" charset="-120"/>
              </a:rPr>
              <a:t>Có lý về mặt prosody, chưa được ablation xác nhận.</a:t>
            </a:r>
            <a:endParaRPr lang="en-US" sz="980" dirty="0"/>
          </a:p>
        </p:txBody>
      </p:sp>
      <p:pic>
        <p:nvPicPr>
          <p:cNvPr id="4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90688" y="4700016"/>
            <a:ext cx="329184" cy="329184"/>
          </a:xfrm>
          <a:prstGeom prst="rect">
            <a:avLst/>
          </a:prstGeom>
        </p:spPr>
      </p:pic>
      <p:sp>
        <p:nvSpPr>
          <p:cNvPr id="44" name="Text 39"/>
          <p:cNvSpPr txBox="1"/>
          <p:nvPr/>
        </p:nvSpPr>
        <p:spPr>
          <a:xfrm>
            <a:off x="8284464" y="4645152"/>
            <a:ext cx="2761488" cy="292608"/>
          </a:xfrm>
          <a:prstGeom prst="rect">
            <a:avLst/>
          </a:prstGeom>
          <a:noFill/>
          <a:ln/>
        </p:spPr>
        <p:txBody>
          <a:bodyPr wrap="square" lIns="0" tIns="0" rIns="0" bIns="0" rtlCol="0" anchor="ctr">
            <a:normAutofit/>
          </a:bodyPr>
          <a:lstStyle/>
          <a:p>
            <a:pPr marL="0" indent="0" algn="l">
              <a:buNone/>
            </a:pPr>
            <a:r>
              <a:rPr lang="en-US" sz="1250" b="1" dirty="0">
                <a:solidFill>
                  <a:srgbClr val="FFFFFF"/>
                </a:solidFill>
                <a:latin typeface="Arial" pitchFamily="34" charset="0"/>
                <a:ea typeface="Arial" pitchFamily="34" charset="-122"/>
                <a:cs typeface="Arial" pitchFamily="34" charset="-120"/>
              </a:rPr>
              <a:t>Không suy diễn tâm lý</a:t>
            </a:r>
            <a:endParaRPr lang="en-US" sz="1250" dirty="0"/>
          </a:p>
        </p:txBody>
      </p:sp>
      <p:sp>
        <p:nvSpPr>
          <p:cNvPr id="45" name="Text 40"/>
          <p:cNvSpPr txBox="1"/>
          <p:nvPr/>
        </p:nvSpPr>
        <p:spPr>
          <a:xfrm>
            <a:off x="8284464" y="4992624"/>
            <a:ext cx="2761488" cy="475488"/>
          </a:xfrm>
          <a:prstGeom prst="rect">
            <a:avLst/>
          </a:prstGeom>
          <a:noFill/>
          <a:ln/>
        </p:spPr>
        <p:txBody>
          <a:bodyPr wrap="square" lIns="0" tIns="0" rIns="0" bIns="0" rtlCol="0" anchor="t">
            <a:normAutofit/>
          </a:bodyPr>
          <a:lstStyle/>
          <a:p>
            <a:pPr marL="0" indent="0" algn="l">
              <a:buNone/>
            </a:pPr>
            <a:r>
              <a:rPr lang="en-US" sz="980" dirty="0">
                <a:solidFill>
                  <a:srgbClr val="CBD5E1"/>
                </a:solidFill>
                <a:latin typeface="Arial" pitchFamily="34" charset="0"/>
                <a:ea typeface="Arial" pitchFamily="34" charset="-122"/>
                <a:cs typeface="Arial" pitchFamily="34" charset="-120"/>
              </a:rPr>
              <a:t>Model học pattern âm học, không đọc trạng thái nội tâm.</a:t>
            </a:r>
            <a:endParaRPr lang="en-US" sz="980" dirty="0"/>
          </a:p>
        </p:txBody>
      </p:sp>
      <p:sp>
        <p:nvSpPr>
          <p:cNvPr id="46" name="Shape 41"/>
          <p:cNvSpPr/>
          <p:nvPr/>
        </p:nvSpPr>
        <p:spPr>
          <a:xfrm>
            <a:off x="530352" y="6382512"/>
            <a:ext cx="11128248" cy="0"/>
          </a:xfrm>
          <a:prstGeom prst="line">
            <a:avLst/>
          </a:prstGeom>
          <a:noFill/>
          <a:ln w="10160">
            <a:solidFill>
              <a:srgbClr val="E2E8F0"/>
            </a:solidFill>
            <a:prstDash val="solid"/>
          </a:ln>
        </p:spPr>
      </p:sp>
      <p:sp>
        <p:nvSpPr>
          <p:cNvPr id="47" name="Text 42"/>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meralion.json confusion matrix • interpretive hypotheses được ghi rõ là giả thuyết.</a:t>
            </a:r>
            <a:endParaRPr lang="en-US" sz="850" dirty="0"/>
          </a:p>
        </p:txBody>
      </p:sp>
      <p:sp>
        <p:nvSpPr>
          <p:cNvPr id="48"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23  /  GIỚI HẠN</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Đây là baseline, chưa phải production</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Hạn chế được công khai để tránh dùng sai mục đích hoặc đọc quá mức kết quả.</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92224"/>
            <a:ext cx="3456432" cy="1719072"/>
          </a:xfrm>
          <a:prstGeom prst="roundRect">
            <a:avLst>
              <a:gd name="adj" fmla="val 2660"/>
            </a:avLst>
          </a:prstGeom>
          <a:solidFill>
            <a:srgbClr val="FEE2E2"/>
          </a:solidFill>
          <a:ln w="12700">
            <a:solidFill>
              <a:srgbClr val="FEE2E2"/>
            </a:solidFill>
            <a:prstDash val="solid"/>
          </a:ln>
        </p:spPr>
      </p:sp>
      <p:sp>
        <p:nvSpPr>
          <p:cNvPr id="8" name="Shape 6"/>
          <p:cNvSpPr/>
          <p:nvPr/>
        </p:nvSpPr>
        <p:spPr>
          <a:xfrm>
            <a:off x="804672" y="2048256"/>
            <a:ext cx="457200" cy="457200"/>
          </a:xfrm>
          <a:prstGeom prst="ellipse">
            <a:avLst/>
          </a:prstGeom>
          <a:solidFill>
            <a:srgbClr val="FFFFFF"/>
          </a:solidFill>
          <a:ln w="12700">
            <a:solidFill>
              <a:srgbClr val="FFFFFF"/>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8972" y="2162556"/>
            <a:ext cx="228600" cy="228600"/>
          </a:xfrm>
          <a:prstGeom prst="rect">
            <a:avLst/>
          </a:prstGeom>
        </p:spPr>
      </p:pic>
      <p:sp>
        <p:nvSpPr>
          <p:cNvPr id="10" name="Text 7"/>
          <p:cNvSpPr txBox="1"/>
          <p:nvPr/>
        </p:nvSpPr>
        <p:spPr>
          <a:xfrm>
            <a:off x="1426464" y="2011680"/>
            <a:ext cx="2286000" cy="347472"/>
          </a:xfrm>
          <a:prstGeom prst="rect">
            <a:avLst/>
          </a:prstGeom>
          <a:noFill/>
          <a:ln/>
        </p:spPr>
        <p:txBody>
          <a:bodyPr wrap="square" lIns="0" tIns="0" rIns="0" bIns="0" rtlCol="0" anchor="ctr">
            <a:normAutofit/>
          </a:bodyPr>
          <a:lstStyle/>
          <a:p>
            <a:pPr marL="0" indent="0" algn="l">
              <a:buNone/>
            </a:pPr>
            <a:r>
              <a:rPr lang="en-US" sz="1450" b="1" dirty="0">
                <a:solidFill>
                  <a:srgbClr val="B91C1C"/>
                </a:solidFill>
                <a:latin typeface="Arial" pitchFamily="34" charset="0"/>
                <a:ea typeface="Arial" pitchFamily="34" charset="-122"/>
                <a:cs typeface="Arial" pitchFamily="34" charset="-120"/>
              </a:rPr>
              <a:t>40,25% &lt; 65%</a:t>
            </a:r>
            <a:endParaRPr lang="en-US" sz="1450" dirty="0"/>
          </a:p>
        </p:txBody>
      </p:sp>
      <p:sp>
        <p:nvSpPr>
          <p:cNvPr id="11" name="Text 8"/>
          <p:cNvSpPr txBox="1"/>
          <p:nvPr/>
        </p:nvSpPr>
        <p:spPr>
          <a:xfrm>
            <a:off x="804672" y="2651760"/>
            <a:ext cx="2926080" cy="493776"/>
          </a:xfrm>
          <a:prstGeom prst="rect">
            <a:avLst/>
          </a:prstGeom>
          <a:noFill/>
          <a:ln/>
        </p:spPr>
        <p:txBody>
          <a:bodyPr wrap="square" lIns="0" tIns="0" rIns="0" bIns="0" rtlCol="0" anchor="t">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Accuracy chưa đạt stop criterion</a:t>
            </a:r>
            <a:endParaRPr lang="en-US" sz="1080" dirty="0"/>
          </a:p>
        </p:txBody>
      </p:sp>
      <p:sp>
        <p:nvSpPr>
          <p:cNvPr id="12" name="Shape 9"/>
          <p:cNvSpPr/>
          <p:nvPr/>
        </p:nvSpPr>
        <p:spPr>
          <a:xfrm>
            <a:off x="4315968" y="1792224"/>
            <a:ext cx="3456432" cy="1719072"/>
          </a:xfrm>
          <a:prstGeom prst="roundRect">
            <a:avLst>
              <a:gd name="adj" fmla="val 2660"/>
            </a:avLst>
          </a:prstGeom>
          <a:solidFill>
            <a:srgbClr val="FEF3C7"/>
          </a:solidFill>
          <a:ln w="12700">
            <a:solidFill>
              <a:srgbClr val="FEF3C7"/>
            </a:solidFill>
            <a:prstDash val="solid"/>
          </a:ln>
        </p:spPr>
      </p:sp>
      <p:sp>
        <p:nvSpPr>
          <p:cNvPr id="13" name="Shape 10"/>
          <p:cNvSpPr/>
          <p:nvPr/>
        </p:nvSpPr>
        <p:spPr>
          <a:xfrm>
            <a:off x="4553712" y="2048256"/>
            <a:ext cx="457200" cy="457200"/>
          </a:xfrm>
          <a:prstGeom prst="ellipse">
            <a:avLst/>
          </a:prstGeom>
          <a:solidFill>
            <a:srgbClr val="FFFFFF"/>
          </a:solidFill>
          <a:ln w="12700">
            <a:solidFill>
              <a:srgbClr val="FFFFFF"/>
            </a:solidFill>
            <a:prstDash val="solid"/>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8012" y="2162556"/>
            <a:ext cx="228600" cy="228600"/>
          </a:xfrm>
          <a:prstGeom prst="rect">
            <a:avLst/>
          </a:prstGeom>
        </p:spPr>
      </p:pic>
      <p:sp>
        <p:nvSpPr>
          <p:cNvPr id="15" name="Text 11"/>
          <p:cNvSpPr txBox="1"/>
          <p:nvPr/>
        </p:nvSpPr>
        <p:spPr>
          <a:xfrm>
            <a:off x="5175504" y="2011680"/>
            <a:ext cx="2286000" cy="347472"/>
          </a:xfrm>
          <a:prstGeom prst="rect">
            <a:avLst/>
          </a:prstGeom>
          <a:noFill/>
          <a:ln/>
        </p:spPr>
        <p:txBody>
          <a:bodyPr wrap="square" lIns="0" tIns="0" rIns="0" bIns="0" rtlCol="0" anchor="ctr">
            <a:normAutofit/>
          </a:bodyPr>
          <a:lstStyle/>
          <a:p>
            <a:pPr marL="0" indent="0" algn="l">
              <a:buNone/>
            </a:pPr>
            <a:r>
              <a:rPr lang="en-US" sz="1450" b="1" dirty="0">
                <a:solidFill>
                  <a:srgbClr val="B45309"/>
                </a:solidFill>
                <a:latin typeface="Arial" pitchFamily="34" charset="0"/>
                <a:ea typeface="Arial" pitchFamily="34" charset="-122"/>
                <a:cs typeface="Arial" pitchFamily="34" charset="-120"/>
              </a:rPr>
              <a:t>Chưa fine-tune</a:t>
            </a:r>
            <a:endParaRPr lang="en-US" sz="1450" dirty="0"/>
          </a:p>
        </p:txBody>
      </p:sp>
      <p:sp>
        <p:nvSpPr>
          <p:cNvPr id="16" name="Text 12"/>
          <p:cNvSpPr txBox="1"/>
          <p:nvPr/>
        </p:nvSpPr>
        <p:spPr>
          <a:xfrm>
            <a:off x="4553712" y="2651760"/>
            <a:ext cx="2926080" cy="493776"/>
          </a:xfrm>
          <a:prstGeom prst="rect">
            <a:avLst/>
          </a:prstGeom>
          <a:noFill/>
          <a:ln/>
        </p:spPr>
        <p:txBody>
          <a:bodyPr wrap="square" lIns="0" tIns="0" rIns="0" bIns="0" rtlCol="0" anchor="t">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Dùng MERaLiON nguyên bản trên ViSEC</a:t>
            </a:r>
            <a:endParaRPr lang="en-US" sz="1080" dirty="0"/>
          </a:p>
        </p:txBody>
      </p:sp>
      <p:sp>
        <p:nvSpPr>
          <p:cNvPr id="17" name="Shape 13"/>
          <p:cNvSpPr/>
          <p:nvPr/>
        </p:nvSpPr>
        <p:spPr>
          <a:xfrm>
            <a:off x="8065008" y="1792224"/>
            <a:ext cx="3456432" cy="1719072"/>
          </a:xfrm>
          <a:prstGeom prst="roundRect">
            <a:avLst>
              <a:gd name="adj" fmla="val 2660"/>
            </a:avLst>
          </a:prstGeom>
          <a:solidFill>
            <a:srgbClr val="DBEAFE"/>
          </a:solidFill>
          <a:ln w="12700">
            <a:solidFill>
              <a:srgbClr val="DBEAFE"/>
            </a:solidFill>
            <a:prstDash val="solid"/>
          </a:ln>
        </p:spPr>
      </p:sp>
      <p:sp>
        <p:nvSpPr>
          <p:cNvPr id="18" name="Shape 14"/>
          <p:cNvSpPr/>
          <p:nvPr/>
        </p:nvSpPr>
        <p:spPr>
          <a:xfrm>
            <a:off x="8302752" y="2048256"/>
            <a:ext cx="457200" cy="457200"/>
          </a:xfrm>
          <a:prstGeom prst="ellipse">
            <a:avLst/>
          </a:prstGeom>
          <a:solidFill>
            <a:srgbClr val="FFFFFF"/>
          </a:solidFill>
          <a:ln w="12700">
            <a:solidFill>
              <a:srgbClr val="FFFFFF"/>
            </a:solidFill>
            <a:prstDash val="solid"/>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7052" y="2162556"/>
            <a:ext cx="228600" cy="228600"/>
          </a:xfrm>
          <a:prstGeom prst="rect">
            <a:avLst/>
          </a:prstGeom>
        </p:spPr>
      </p:pic>
      <p:sp>
        <p:nvSpPr>
          <p:cNvPr id="20" name="Text 15"/>
          <p:cNvSpPr txBox="1"/>
          <p:nvPr/>
        </p:nvSpPr>
        <p:spPr>
          <a:xfrm>
            <a:off x="8924544" y="2011680"/>
            <a:ext cx="2286000" cy="347472"/>
          </a:xfrm>
          <a:prstGeom prst="rect">
            <a:avLst/>
          </a:prstGeom>
          <a:noFill/>
          <a:ln/>
        </p:spPr>
        <p:txBody>
          <a:bodyPr wrap="square" lIns="0" tIns="0" rIns="0" bIns="0" rtlCol="0" anchor="ctr">
            <a:normAutofit/>
          </a:bodyPr>
          <a:lstStyle/>
          <a:p>
            <a:pPr marL="0" indent="0" algn="l">
              <a:buNone/>
            </a:pPr>
            <a:r>
              <a:rPr lang="en-US" sz="1450" b="1" dirty="0">
                <a:solidFill>
                  <a:srgbClr val="1D4ED8"/>
                </a:solidFill>
                <a:latin typeface="Arial" pitchFamily="34" charset="0"/>
                <a:ea typeface="Arial" pitchFamily="34" charset="-122"/>
                <a:cs typeface="Arial" pitchFamily="34" charset="-120"/>
              </a:rPr>
              <a:t>Chưa cross-validation</a:t>
            </a:r>
            <a:endParaRPr lang="en-US" sz="1450" dirty="0"/>
          </a:p>
        </p:txBody>
      </p:sp>
      <p:sp>
        <p:nvSpPr>
          <p:cNvPr id="21" name="Text 16"/>
          <p:cNvSpPr txBox="1"/>
          <p:nvPr/>
        </p:nvSpPr>
        <p:spPr>
          <a:xfrm>
            <a:off x="8302752" y="2651760"/>
            <a:ext cx="2926080" cy="493776"/>
          </a:xfrm>
          <a:prstGeom prst="rect">
            <a:avLst/>
          </a:prstGeom>
          <a:noFill/>
          <a:ln/>
        </p:spPr>
        <p:txBody>
          <a:bodyPr wrap="square" lIns="0" tIns="0" rIns="0" bIns="0" rtlCol="0" anchor="t">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400 clips • một seed cố định</a:t>
            </a:r>
            <a:endParaRPr lang="en-US" sz="1080" dirty="0"/>
          </a:p>
        </p:txBody>
      </p:sp>
      <p:sp>
        <p:nvSpPr>
          <p:cNvPr id="22" name="Shape 17"/>
          <p:cNvSpPr/>
          <p:nvPr/>
        </p:nvSpPr>
        <p:spPr>
          <a:xfrm>
            <a:off x="566928" y="3840480"/>
            <a:ext cx="3456432" cy="1719072"/>
          </a:xfrm>
          <a:prstGeom prst="roundRect">
            <a:avLst>
              <a:gd name="adj" fmla="val 2660"/>
            </a:avLst>
          </a:prstGeom>
          <a:solidFill>
            <a:srgbClr val="CCFBF1"/>
          </a:solidFill>
          <a:ln w="12700">
            <a:solidFill>
              <a:srgbClr val="CCFBF1"/>
            </a:solidFill>
            <a:prstDash val="solid"/>
          </a:ln>
        </p:spPr>
      </p:sp>
      <p:sp>
        <p:nvSpPr>
          <p:cNvPr id="23" name="Shape 18"/>
          <p:cNvSpPr/>
          <p:nvPr/>
        </p:nvSpPr>
        <p:spPr>
          <a:xfrm>
            <a:off x="804672" y="4096512"/>
            <a:ext cx="457200" cy="457200"/>
          </a:xfrm>
          <a:prstGeom prst="ellipse">
            <a:avLst/>
          </a:prstGeom>
          <a:solidFill>
            <a:srgbClr val="FFFFFF"/>
          </a:solidFill>
          <a:ln w="12700">
            <a:solidFill>
              <a:srgbClr val="FFFFFF"/>
            </a:solidFill>
            <a:prstDash val="solid"/>
          </a:ln>
        </p:spPr>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8972" y="4210812"/>
            <a:ext cx="228600" cy="228600"/>
          </a:xfrm>
          <a:prstGeom prst="rect">
            <a:avLst/>
          </a:prstGeom>
        </p:spPr>
      </p:pic>
      <p:sp>
        <p:nvSpPr>
          <p:cNvPr id="25" name="Text 19"/>
          <p:cNvSpPr txBox="1"/>
          <p:nvPr/>
        </p:nvSpPr>
        <p:spPr>
          <a:xfrm>
            <a:off x="1426464" y="4059936"/>
            <a:ext cx="2286000" cy="347472"/>
          </a:xfrm>
          <a:prstGeom prst="rect">
            <a:avLst/>
          </a:prstGeom>
          <a:noFill/>
          <a:ln/>
        </p:spPr>
        <p:txBody>
          <a:bodyPr wrap="square" lIns="0" tIns="0" rIns="0" bIns="0" rtlCol="0" anchor="ctr">
            <a:normAutofit/>
          </a:bodyPr>
          <a:lstStyle/>
          <a:p>
            <a:pPr marL="0" indent="0" algn="l">
              <a:buNone/>
            </a:pPr>
            <a:r>
              <a:rPr lang="en-US" sz="1450" b="1" dirty="0">
                <a:solidFill>
                  <a:srgbClr val="0F766E"/>
                </a:solidFill>
                <a:latin typeface="Arial" pitchFamily="34" charset="0"/>
                <a:ea typeface="Arial" pitchFamily="34" charset="-122"/>
                <a:cs typeface="Arial" pitchFamily="34" charset="-120"/>
              </a:rPr>
              <a:t>Data còn nhỏ</a:t>
            </a:r>
            <a:endParaRPr lang="en-US" sz="1450" dirty="0"/>
          </a:p>
        </p:txBody>
      </p:sp>
      <p:sp>
        <p:nvSpPr>
          <p:cNvPr id="26" name="Text 20"/>
          <p:cNvSpPr txBox="1"/>
          <p:nvPr/>
        </p:nvSpPr>
        <p:spPr>
          <a:xfrm>
            <a:off x="804672" y="4700016"/>
            <a:ext cx="2926080" cy="493776"/>
          </a:xfrm>
          <a:prstGeom prst="rect">
            <a:avLst/>
          </a:prstGeom>
          <a:noFill/>
          <a:ln/>
        </p:spPr>
        <p:txBody>
          <a:bodyPr wrap="square" lIns="0" tIns="0" rIns="0" bIns="0" rtlCol="0" anchor="t">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Subset chưa bao phủ mọi accent / speaker</a:t>
            </a:r>
            <a:endParaRPr lang="en-US" sz="1080" dirty="0"/>
          </a:p>
        </p:txBody>
      </p:sp>
      <p:sp>
        <p:nvSpPr>
          <p:cNvPr id="27" name="Shape 21"/>
          <p:cNvSpPr/>
          <p:nvPr/>
        </p:nvSpPr>
        <p:spPr>
          <a:xfrm>
            <a:off x="4315968" y="3840480"/>
            <a:ext cx="3456432" cy="1719072"/>
          </a:xfrm>
          <a:prstGeom prst="roundRect">
            <a:avLst>
              <a:gd name="adj" fmla="val 2660"/>
            </a:avLst>
          </a:prstGeom>
          <a:solidFill>
            <a:srgbClr val="F1F5F9"/>
          </a:solidFill>
          <a:ln w="12700">
            <a:solidFill>
              <a:srgbClr val="F1F5F9"/>
            </a:solidFill>
            <a:prstDash val="solid"/>
          </a:ln>
        </p:spPr>
      </p:sp>
      <p:sp>
        <p:nvSpPr>
          <p:cNvPr id="28" name="Shape 22"/>
          <p:cNvSpPr/>
          <p:nvPr/>
        </p:nvSpPr>
        <p:spPr>
          <a:xfrm>
            <a:off x="4553712" y="4096512"/>
            <a:ext cx="457200" cy="457200"/>
          </a:xfrm>
          <a:prstGeom prst="ellipse">
            <a:avLst/>
          </a:prstGeom>
          <a:solidFill>
            <a:srgbClr val="FFFFFF"/>
          </a:solidFill>
          <a:ln w="12700">
            <a:solidFill>
              <a:srgbClr val="FFFFFF"/>
            </a:solidFill>
            <a:prstDash val="solid"/>
          </a:ln>
        </p:spPr>
      </p:sp>
      <p:pic>
        <p:nvPicPr>
          <p:cNvPr id="2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68012" y="4210812"/>
            <a:ext cx="228600" cy="228600"/>
          </a:xfrm>
          <a:prstGeom prst="rect">
            <a:avLst/>
          </a:prstGeom>
        </p:spPr>
      </p:pic>
      <p:sp>
        <p:nvSpPr>
          <p:cNvPr id="30" name="Text 23"/>
          <p:cNvSpPr txBox="1"/>
          <p:nvPr/>
        </p:nvSpPr>
        <p:spPr>
          <a:xfrm>
            <a:off x="5175504" y="4059936"/>
            <a:ext cx="2286000" cy="347472"/>
          </a:xfrm>
          <a:prstGeom prst="rect">
            <a:avLst/>
          </a:prstGeom>
          <a:noFill/>
          <a:ln/>
        </p:spPr>
        <p:txBody>
          <a:bodyPr wrap="square" lIns="0" tIns="0" rIns="0" bIns="0" rtlCol="0" anchor="ctr">
            <a:normAutofit/>
          </a:bodyPr>
          <a:lstStyle/>
          <a:p>
            <a:pPr marL="0" indent="0" algn="l">
              <a:buNone/>
            </a:pPr>
            <a:r>
              <a:rPr lang="en-US" sz="1450" b="1" dirty="0">
                <a:solidFill>
                  <a:srgbClr val="334155"/>
                </a:solidFill>
                <a:latin typeface="Arial" pitchFamily="34" charset="0"/>
                <a:ea typeface="Arial" pitchFamily="34" charset="-122"/>
                <a:cs typeface="Arial" pitchFamily="34" charset="-120"/>
              </a:rPr>
              <a:t>Vietnamese secondary</a:t>
            </a:r>
            <a:endParaRPr lang="en-US" sz="1450" dirty="0"/>
          </a:p>
        </p:txBody>
      </p:sp>
      <p:sp>
        <p:nvSpPr>
          <p:cNvPr id="31" name="Text 24"/>
          <p:cNvSpPr txBox="1"/>
          <p:nvPr/>
        </p:nvSpPr>
        <p:spPr>
          <a:xfrm>
            <a:off x="4553712" y="4700016"/>
            <a:ext cx="2926080" cy="493776"/>
          </a:xfrm>
          <a:prstGeom prst="rect">
            <a:avLst/>
          </a:prstGeom>
          <a:noFill/>
          <a:ln/>
        </p:spPr>
        <p:txBody>
          <a:bodyPr wrap="square" lIns="0" tIns="0" rIns="0" bIns="0" rtlCol="0" anchor="t">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Không phải model Việt chuyên biệt</a:t>
            </a:r>
            <a:endParaRPr lang="en-US" sz="1080" dirty="0"/>
          </a:p>
        </p:txBody>
      </p:sp>
      <p:sp>
        <p:nvSpPr>
          <p:cNvPr id="32" name="Shape 25"/>
          <p:cNvSpPr/>
          <p:nvPr/>
        </p:nvSpPr>
        <p:spPr>
          <a:xfrm>
            <a:off x="8065008" y="3840480"/>
            <a:ext cx="3456432" cy="1719072"/>
          </a:xfrm>
          <a:prstGeom prst="roundRect">
            <a:avLst>
              <a:gd name="adj" fmla="val 2660"/>
            </a:avLst>
          </a:prstGeom>
          <a:solidFill>
            <a:srgbClr val="FEE2E2"/>
          </a:solidFill>
          <a:ln w="12700">
            <a:solidFill>
              <a:srgbClr val="FEE2E2"/>
            </a:solidFill>
            <a:prstDash val="solid"/>
          </a:ln>
        </p:spPr>
      </p:sp>
      <p:sp>
        <p:nvSpPr>
          <p:cNvPr id="33" name="Shape 26"/>
          <p:cNvSpPr/>
          <p:nvPr/>
        </p:nvSpPr>
        <p:spPr>
          <a:xfrm>
            <a:off x="8302752" y="4096512"/>
            <a:ext cx="457200" cy="457200"/>
          </a:xfrm>
          <a:prstGeom prst="ellipse">
            <a:avLst/>
          </a:prstGeom>
          <a:solidFill>
            <a:srgbClr val="FFFFFF"/>
          </a:solidFill>
          <a:ln w="12700">
            <a:solidFill>
              <a:srgbClr val="FFFFFF"/>
            </a:solidFill>
            <a:prstDash val="solid"/>
          </a:ln>
        </p:spPr>
      </p:sp>
      <p:pic>
        <p:nvPicPr>
          <p:cNvPr id="3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17052" y="4210812"/>
            <a:ext cx="228600" cy="228600"/>
          </a:xfrm>
          <a:prstGeom prst="rect">
            <a:avLst/>
          </a:prstGeom>
        </p:spPr>
      </p:pic>
      <p:sp>
        <p:nvSpPr>
          <p:cNvPr id="35" name="Text 27"/>
          <p:cNvSpPr txBox="1"/>
          <p:nvPr/>
        </p:nvSpPr>
        <p:spPr>
          <a:xfrm>
            <a:off x="8924544" y="4059936"/>
            <a:ext cx="2286000" cy="347472"/>
          </a:xfrm>
          <a:prstGeom prst="rect">
            <a:avLst/>
          </a:prstGeom>
          <a:noFill/>
          <a:ln/>
        </p:spPr>
        <p:txBody>
          <a:bodyPr wrap="square" lIns="0" tIns="0" rIns="0" bIns="0" rtlCol="0" anchor="ctr">
            <a:normAutofit/>
          </a:bodyPr>
          <a:lstStyle/>
          <a:p>
            <a:pPr marL="0" indent="0" algn="l">
              <a:buNone/>
            </a:pPr>
            <a:r>
              <a:rPr lang="en-US" sz="1450" b="1" dirty="0">
                <a:solidFill>
                  <a:srgbClr val="B91C1C"/>
                </a:solidFill>
                <a:latin typeface="Arial" pitchFamily="34" charset="0"/>
                <a:ea typeface="Arial" pitchFamily="34" charset="-122"/>
                <a:cs typeface="Arial" pitchFamily="34" charset="-120"/>
              </a:rPr>
              <a:t>Không dùng nhạy cảm</a:t>
            </a:r>
            <a:endParaRPr lang="en-US" sz="1450" dirty="0"/>
          </a:p>
        </p:txBody>
      </p:sp>
      <p:sp>
        <p:nvSpPr>
          <p:cNvPr id="36" name="Text 28"/>
          <p:cNvSpPr txBox="1"/>
          <p:nvPr/>
        </p:nvSpPr>
        <p:spPr>
          <a:xfrm>
            <a:off x="8302752" y="4700016"/>
            <a:ext cx="2926080" cy="493776"/>
          </a:xfrm>
          <a:prstGeom prst="rect">
            <a:avLst/>
          </a:prstGeom>
          <a:noFill/>
          <a:ln/>
        </p:spPr>
        <p:txBody>
          <a:bodyPr wrap="square" lIns="0" tIns="0" rIns="0" bIns="0" rtlCol="0" anchor="t">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Không chẩn đoán hay ra quyết định con người</a:t>
            </a:r>
            <a:endParaRPr lang="en-US" sz="1080" dirty="0"/>
          </a:p>
        </p:txBody>
      </p:sp>
      <p:sp>
        <p:nvSpPr>
          <p:cNvPr id="37" name="Shape 29"/>
          <p:cNvSpPr/>
          <p:nvPr/>
        </p:nvSpPr>
        <p:spPr>
          <a:xfrm>
            <a:off x="566928" y="5925312"/>
            <a:ext cx="11073384" cy="256032"/>
          </a:xfrm>
          <a:prstGeom prst="roundRect">
            <a:avLst>
              <a:gd name="adj" fmla="val 10714"/>
            </a:avLst>
          </a:prstGeom>
          <a:solidFill>
            <a:srgbClr val="0F172A"/>
          </a:solidFill>
          <a:ln w="12700">
            <a:solidFill>
              <a:srgbClr val="0F172A"/>
            </a:solidFill>
            <a:prstDash val="solid"/>
          </a:ln>
        </p:spPr>
      </p:sp>
      <p:sp>
        <p:nvSpPr>
          <p:cNvPr id="38" name="Text 30"/>
          <p:cNvSpPr txBox="1"/>
          <p:nvPr/>
        </p:nvSpPr>
        <p:spPr>
          <a:xfrm>
            <a:off x="786384" y="5925312"/>
            <a:ext cx="10625328" cy="25603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rial" pitchFamily="34" charset="0"/>
                <a:ea typeface="Arial" pitchFamily="34" charset="-122"/>
                <a:cs typeface="Arial" pitchFamily="34" charset="-120"/>
              </a:rPr>
              <a:t>Kết luận đúng mức: runnable demo / research baseline, chưa phải hệ thống đủ độ tin cậy để vận hành thực tế.</a:t>
            </a:r>
            <a:endParaRPr lang="en-US" sz="1000" dirty="0"/>
          </a:p>
        </p:txBody>
      </p:sp>
      <p:sp>
        <p:nvSpPr>
          <p:cNvPr id="39" name="Shape 31"/>
          <p:cNvSpPr/>
          <p:nvPr/>
        </p:nvSpPr>
        <p:spPr>
          <a:xfrm>
            <a:off x="530352" y="6382512"/>
            <a:ext cx="11128248" cy="0"/>
          </a:xfrm>
          <a:prstGeom prst="line">
            <a:avLst/>
          </a:prstGeom>
          <a:noFill/>
          <a:ln w="10160">
            <a:solidFill>
              <a:srgbClr val="E2E8F0"/>
            </a:solidFill>
            <a:prstDash val="solid"/>
          </a:ln>
        </p:spPr>
      </p:sp>
      <p:sp>
        <p:nvSpPr>
          <p:cNvPr id="40" name="Text 32"/>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README.md (project Gradio) • docs/BENCHMARK.md • scores.json eligible_for_deploy=false.</a:t>
            </a:r>
            <a:endParaRPr lang="en-US" sz="850" dirty="0"/>
          </a:p>
        </p:txBody>
      </p:sp>
      <p:sp>
        <p:nvSpPr>
          <p:cNvPr id="41"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24  /  KẾT LUẬN</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Giá trị nằm ở pipeline minh bạch</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Đóng góp của đồ án là khả năng chạy, tái lập và audit — không phải một con số được tô hồng.</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773936"/>
            <a:ext cx="6419088" cy="768096"/>
          </a:xfrm>
          <a:prstGeom prst="roundRect">
            <a:avLst>
              <a:gd name="adj" fmla="val 4762"/>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768096" y="1929384"/>
            <a:ext cx="457200" cy="457200"/>
          </a:xfrm>
          <a:prstGeom prst="ellipse">
            <a:avLst/>
          </a:prstGeom>
          <a:solidFill>
            <a:srgbClr val="DBEAFE"/>
          </a:solidFill>
          <a:ln w="12700">
            <a:solidFill>
              <a:srgbClr val="DBEAFE"/>
            </a:solidFill>
            <a:prstDash val="solid"/>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2396" y="2043684"/>
            <a:ext cx="228600" cy="228600"/>
          </a:xfrm>
          <a:prstGeom prst="rect">
            <a:avLst/>
          </a:prstGeom>
        </p:spPr>
      </p:pic>
      <p:sp>
        <p:nvSpPr>
          <p:cNvPr id="10" name="Text 7"/>
          <p:cNvSpPr txBox="1"/>
          <p:nvPr/>
        </p:nvSpPr>
        <p:spPr>
          <a:xfrm>
            <a:off x="1408176" y="1883664"/>
            <a:ext cx="2011680" cy="292608"/>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End-to-end app</a:t>
            </a:r>
            <a:endParaRPr lang="en-US" sz="1300" dirty="0"/>
          </a:p>
        </p:txBody>
      </p:sp>
      <p:sp>
        <p:nvSpPr>
          <p:cNvPr id="11" name="Text 8"/>
          <p:cNvSpPr txBox="1"/>
          <p:nvPr/>
        </p:nvSpPr>
        <p:spPr>
          <a:xfrm>
            <a:off x="3493008" y="1883664"/>
            <a:ext cx="3127248" cy="420624"/>
          </a:xfrm>
          <a:prstGeom prst="rect">
            <a:avLst/>
          </a:prstGeom>
          <a:noFill/>
          <a:ln/>
        </p:spPr>
        <p:txBody>
          <a:bodyPr wrap="square" lIns="0" tIns="0" rIns="0" bIns="0" rtlCol="0" anchor="ctr">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Audio → model → UI chạy được</a:t>
            </a:r>
            <a:endParaRPr lang="en-US" sz="1080" dirty="0"/>
          </a:p>
        </p:txBody>
      </p:sp>
      <p:sp>
        <p:nvSpPr>
          <p:cNvPr id="12" name="Shape 9"/>
          <p:cNvSpPr/>
          <p:nvPr/>
        </p:nvSpPr>
        <p:spPr>
          <a:xfrm>
            <a:off x="566928" y="2761488"/>
            <a:ext cx="6419088" cy="768096"/>
          </a:xfrm>
          <a:prstGeom prst="roundRect">
            <a:avLst>
              <a:gd name="adj" fmla="val 4762"/>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3" name="Shape 10"/>
          <p:cNvSpPr/>
          <p:nvPr/>
        </p:nvSpPr>
        <p:spPr>
          <a:xfrm>
            <a:off x="768096" y="2916936"/>
            <a:ext cx="457200" cy="457200"/>
          </a:xfrm>
          <a:prstGeom prst="ellipse">
            <a:avLst/>
          </a:prstGeom>
          <a:solidFill>
            <a:srgbClr val="DCFCE7"/>
          </a:solidFill>
          <a:ln w="12700">
            <a:solidFill>
              <a:srgbClr val="DCFCE7"/>
            </a:solidFill>
            <a:prstDash val="solid"/>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2396" y="3031236"/>
            <a:ext cx="228600" cy="228600"/>
          </a:xfrm>
          <a:prstGeom prst="rect">
            <a:avLst/>
          </a:prstGeom>
        </p:spPr>
      </p:pic>
      <p:sp>
        <p:nvSpPr>
          <p:cNvPr id="15" name="Text 11"/>
          <p:cNvSpPr txBox="1"/>
          <p:nvPr/>
        </p:nvSpPr>
        <p:spPr>
          <a:xfrm>
            <a:off x="1408176" y="2871216"/>
            <a:ext cx="2011680" cy="292608"/>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Benchmark minh bạch</a:t>
            </a:r>
            <a:endParaRPr lang="en-US" sz="1300" dirty="0"/>
          </a:p>
        </p:txBody>
      </p:sp>
      <p:sp>
        <p:nvSpPr>
          <p:cNvPr id="16" name="Text 12"/>
          <p:cNvSpPr txBox="1"/>
          <p:nvPr/>
        </p:nvSpPr>
        <p:spPr>
          <a:xfrm>
            <a:off x="3493008" y="2871216"/>
            <a:ext cx="3127248" cy="420624"/>
          </a:xfrm>
          <a:prstGeom prst="rect">
            <a:avLst/>
          </a:prstGeom>
          <a:noFill/>
          <a:ln/>
        </p:spPr>
        <p:txBody>
          <a:bodyPr wrap="square" lIns="0" tIns="0" rIns="0" bIns="0" rtlCol="0" anchor="ctr">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scores.json + CSV per-clip</a:t>
            </a:r>
            <a:endParaRPr lang="en-US" sz="1080" dirty="0"/>
          </a:p>
        </p:txBody>
      </p:sp>
      <p:sp>
        <p:nvSpPr>
          <p:cNvPr id="17" name="Shape 13"/>
          <p:cNvSpPr/>
          <p:nvPr/>
        </p:nvSpPr>
        <p:spPr>
          <a:xfrm>
            <a:off x="566928" y="3749040"/>
            <a:ext cx="6419088" cy="768096"/>
          </a:xfrm>
          <a:prstGeom prst="roundRect">
            <a:avLst>
              <a:gd name="adj" fmla="val 4762"/>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18" name="Shape 14"/>
          <p:cNvSpPr/>
          <p:nvPr/>
        </p:nvSpPr>
        <p:spPr>
          <a:xfrm>
            <a:off x="768096" y="3904488"/>
            <a:ext cx="457200" cy="457200"/>
          </a:xfrm>
          <a:prstGeom prst="ellipse">
            <a:avLst/>
          </a:prstGeom>
          <a:solidFill>
            <a:srgbClr val="CCFBF1"/>
          </a:solidFill>
          <a:ln w="12700">
            <a:solidFill>
              <a:srgbClr val="CCFBF1"/>
            </a:solidFill>
            <a:prstDash val="solid"/>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2396" y="4018788"/>
            <a:ext cx="228600" cy="228600"/>
          </a:xfrm>
          <a:prstGeom prst="rect">
            <a:avLst/>
          </a:prstGeom>
        </p:spPr>
      </p:pic>
      <p:sp>
        <p:nvSpPr>
          <p:cNvPr id="20" name="Text 15"/>
          <p:cNvSpPr txBox="1"/>
          <p:nvPr/>
        </p:nvSpPr>
        <p:spPr>
          <a:xfrm>
            <a:off x="1408176" y="3858768"/>
            <a:ext cx="2011680" cy="292608"/>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Kiến trúc rõ ràng</a:t>
            </a:r>
            <a:endParaRPr lang="en-US" sz="1300" dirty="0"/>
          </a:p>
        </p:txBody>
      </p:sp>
      <p:sp>
        <p:nvSpPr>
          <p:cNvPr id="21" name="Text 16"/>
          <p:cNvSpPr txBox="1"/>
          <p:nvPr/>
        </p:nvSpPr>
        <p:spPr>
          <a:xfrm>
            <a:off x="3493008" y="3858768"/>
            <a:ext cx="3127248" cy="420624"/>
          </a:xfrm>
          <a:prstGeom prst="rect">
            <a:avLst/>
          </a:prstGeom>
          <a:noFill/>
          <a:ln/>
        </p:spPr>
        <p:txBody>
          <a:bodyPr wrap="square" lIns="0" tIns="0" rIns="0" bIns="0" rtlCol="0" anchor="ctr">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3 tầng + Adapter Pattern</a:t>
            </a:r>
            <a:endParaRPr lang="en-US" sz="1080" dirty="0"/>
          </a:p>
        </p:txBody>
      </p:sp>
      <p:sp>
        <p:nvSpPr>
          <p:cNvPr id="22" name="Shape 17"/>
          <p:cNvSpPr/>
          <p:nvPr/>
        </p:nvSpPr>
        <p:spPr>
          <a:xfrm>
            <a:off x="566928" y="4736592"/>
            <a:ext cx="6419088" cy="768096"/>
          </a:xfrm>
          <a:prstGeom prst="roundRect">
            <a:avLst>
              <a:gd name="adj" fmla="val 4762"/>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3" name="Shape 18"/>
          <p:cNvSpPr/>
          <p:nvPr/>
        </p:nvSpPr>
        <p:spPr>
          <a:xfrm>
            <a:off x="768096" y="4892040"/>
            <a:ext cx="457200" cy="457200"/>
          </a:xfrm>
          <a:prstGeom prst="ellipse">
            <a:avLst/>
          </a:prstGeom>
          <a:solidFill>
            <a:srgbClr val="FEE2E2"/>
          </a:solidFill>
          <a:ln w="12700">
            <a:solidFill>
              <a:srgbClr val="FEE2E2"/>
            </a:solidFill>
            <a:prstDash val="solid"/>
          </a:ln>
        </p:spPr>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82396" y="5006340"/>
            <a:ext cx="228600" cy="228600"/>
          </a:xfrm>
          <a:prstGeom prst="rect">
            <a:avLst/>
          </a:prstGeom>
        </p:spPr>
      </p:pic>
      <p:sp>
        <p:nvSpPr>
          <p:cNvPr id="25" name="Text 19"/>
          <p:cNvSpPr txBox="1"/>
          <p:nvPr/>
        </p:nvSpPr>
        <p:spPr>
          <a:xfrm>
            <a:off x="1408176" y="4846320"/>
            <a:ext cx="2011680" cy="292608"/>
          </a:xfrm>
          <a:prstGeom prst="rect">
            <a:avLst/>
          </a:prstGeom>
          <a:noFill/>
          <a:ln/>
        </p:spPr>
        <p:txBody>
          <a:bodyPr wrap="square" lIns="0" tIns="0" rIns="0" bIns="0" rtlCol="0" anchor="ctr">
            <a:normAutofit/>
          </a:bodyPr>
          <a:lstStyle/>
          <a:p>
            <a:pPr marL="0" indent="0" algn="l">
              <a:buNone/>
            </a:pPr>
            <a:r>
              <a:rPr lang="en-US" sz="1300" b="1" dirty="0">
                <a:solidFill>
                  <a:srgbClr val="0F172A"/>
                </a:solidFill>
                <a:latin typeface="Arial" pitchFamily="34" charset="0"/>
                <a:ea typeface="Arial" pitchFamily="34" charset="-122"/>
                <a:cs typeface="Arial" pitchFamily="34" charset="-120"/>
              </a:rPr>
              <a:t>Safety guard</a:t>
            </a:r>
            <a:endParaRPr lang="en-US" sz="1300" dirty="0"/>
          </a:p>
        </p:txBody>
      </p:sp>
      <p:sp>
        <p:nvSpPr>
          <p:cNvPr id="26" name="Text 20"/>
          <p:cNvSpPr txBox="1"/>
          <p:nvPr/>
        </p:nvSpPr>
        <p:spPr>
          <a:xfrm>
            <a:off x="3493008" y="4846320"/>
            <a:ext cx="3127248" cy="420624"/>
          </a:xfrm>
          <a:prstGeom prst="rect">
            <a:avLst/>
          </a:prstGeom>
          <a:noFill/>
          <a:ln/>
        </p:spPr>
        <p:txBody>
          <a:bodyPr wrap="square" lIns="0" tIns="0" rIns="0" bIns="0" rtlCol="0" anchor="ctr">
            <a:normAutofit/>
          </a:bodyPr>
          <a:lstStyle/>
          <a:p>
            <a:pPr marL="0" indent="0" algn="l">
              <a:buNone/>
            </a:pPr>
            <a:r>
              <a:rPr lang="en-US" sz="1080" dirty="0">
                <a:solidFill>
                  <a:srgbClr val="334155"/>
                </a:solidFill>
                <a:latin typeface="Arial" pitchFamily="34" charset="0"/>
                <a:ea typeface="Arial" pitchFamily="34" charset="-122"/>
                <a:cs typeface="Arial" pitchFamily="34" charset="-120"/>
              </a:rPr>
              <a:t>raw scores thật • raw labels không đổi ở runtime</a:t>
            </a:r>
            <a:endParaRPr lang="en-US" sz="1080" dirty="0"/>
          </a:p>
        </p:txBody>
      </p:sp>
      <p:sp>
        <p:nvSpPr>
          <p:cNvPr id="27" name="Shape 21"/>
          <p:cNvSpPr/>
          <p:nvPr/>
        </p:nvSpPr>
        <p:spPr>
          <a:xfrm>
            <a:off x="7278624" y="1773936"/>
            <a:ext cx="4361688" cy="3730752"/>
          </a:xfrm>
          <a:prstGeom prst="roundRect">
            <a:avLst>
              <a:gd name="adj" fmla="val 1225"/>
            </a:avLst>
          </a:prstGeom>
          <a:solidFill>
            <a:srgbClr val="0F172A"/>
          </a:solidFill>
          <a:ln w="12700">
            <a:solidFill>
              <a:srgbClr val="0F172A"/>
            </a:solidFill>
            <a:prstDash val="solid"/>
          </a:ln>
        </p:spPr>
      </p:sp>
      <p:sp>
        <p:nvSpPr>
          <p:cNvPr id="28" name="Text 22"/>
          <p:cNvSpPr txBox="1"/>
          <p:nvPr/>
        </p:nvSpPr>
        <p:spPr>
          <a:xfrm>
            <a:off x="7626096" y="2084832"/>
            <a:ext cx="3364992" cy="274320"/>
          </a:xfrm>
          <a:prstGeom prst="rect">
            <a:avLst/>
          </a:prstGeom>
          <a:noFill/>
          <a:ln/>
        </p:spPr>
        <p:txBody>
          <a:bodyPr wrap="square" lIns="0" tIns="0" rIns="0" bIns="0" rtlCol="0" anchor="ctr">
            <a:normAutofit/>
          </a:bodyPr>
          <a:lstStyle/>
          <a:p>
            <a:pPr marL="0" indent="0" algn="l">
              <a:buNone/>
            </a:pPr>
            <a:r>
              <a:rPr lang="en-US" sz="1100" b="1" dirty="0">
                <a:solidFill>
                  <a:srgbClr val="7DD3FC"/>
                </a:solidFill>
                <a:latin typeface="Arial" pitchFamily="34" charset="0"/>
                <a:ea typeface="Arial" pitchFamily="34" charset="-122"/>
                <a:cs typeface="Arial" pitchFamily="34" charset="-120"/>
              </a:rPr>
              <a:t>BÀI HỌC CỐT LÕI</a:t>
            </a:r>
            <a:endParaRPr lang="en-US" sz="1100" dirty="0"/>
          </a:p>
        </p:txBody>
      </p:sp>
      <p:sp>
        <p:nvSpPr>
          <p:cNvPr id="29" name="Text 23"/>
          <p:cNvSpPr txBox="1"/>
          <p:nvPr/>
        </p:nvSpPr>
        <p:spPr>
          <a:xfrm>
            <a:off x="7626096" y="2724912"/>
            <a:ext cx="3364992" cy="420624"/>
          </a:xfrm>
          <a:prstGeom prst="rect">
            <a:avLst/>
          </a:prstGeom>
          <a:noFill/>
          <a:ln/>
        </p:spPr>
        <p:txBody>
          <a:bodyPr wrap="square" lIns="0" tIns="0" rIns="0" bIns="0" rtlCol="0" anchor="ctr">
            <a:normAutofit/>
          </a:bodyPr>
          <a:lstStyle/>
          <a:p>
            <a:pPr marL="0" indent="0" algn="ctr">
              <a:buNone/>
            </a:pPr>
            <a:r>
              <a:rPr lang="en-US" sz="2100" b="1" dirty="0">
                <a:solidFill>
                  <a:srgbClr val="FFFFFF"/>
                </a:solidFill>
                <a:latin typeface="Arial" pitchFamily="34" charset="0"/>
                <a:ea typeface="Arial" pitchFamily="34" charset="-122"/>
                <a:cs typeface="Arial" pitchFamily="34" charset="-120"/>
              </a:rPr>
              <a:t>Demo chạy được</a:t>
            </a:r>
            <a:endParaRPr lang="en-US" sz="2100" dirty="0"/>
          </a:p>
        </p:txBody>
      </p:sp>
      <p:sp>
        <p:nvSpPr>
          <p:cNvPr id="30" name="Text 24"/>
          <p:cNvSpPr txBox="1"/>
          <p:nvPr/>
        </p:nvSpPr>
        <p:spPr>
          <a:xfrm>
            <a:off x="7626096" y="3218688"/>
            <a:ext cx="3364992" cy="438912"/>
          </a:xfrm>
          <a:prstGeom prst="rect">
            <a:avLst/>
          </a:prstGeom>
          <a:noFill/>
          <a:ln/>
        </p:spPr>
        <p:txBody>
          <a:bodyPr wrap="square" lIns="0" tIns="0" rIns="0" bIns="0" rtlCol="0" anchor="ctr">
            <a:normAutofit/>
          </a:bodyPr>
          <a:lstStyle/>
          <a:p>
            <a:pPr marL="0" indent="0" algn="ctr">
              <a:buNone/>
            </a:pPr>
            <a:r>
              <a:rPr lang="en-US" sz="2600" b="1" dirty="0">
                <a:solidFill>
                  <a:srgbClr val="FDE68A"/>
                </a:solidFill>
                <a:latin typeface="Arial" pitchFamily="34" charset="0"/>
                <a:ea typeface="Arial" pitchFamily="34" charset="-122"/>
                <a:cs typeface="Arial" pitchFamily="34" charset="-120"/>
              </a:rPr>
              <a:t>≠</a:t>
            </a:r>
            <a:endParaRPr lang="en-US" sz="2600" dirty="0"/>
          </a:p>
        </p:txBody>
      </p:sp>
      <p:sp>
        <p:nvSpPr>
          <p:cNvPr id="31" name="Text 25"/>
          <p:cNvSpPr txBox="1"/>
          <p:nvPr/>
        </p:nvSpPr>
        <p:spPr>
          <a:xfrm>
            <a:off x="7626096" y="3749040"/>
            <a:ext cx="3364992" cy="420624"/>
          </a:xfrm>
          <a:prstGeom prst="rect">
            <a:avLst/>
          </a:prstGeom>
          <a:noFill/>
          <a:ln/>
        </p:spPr>
        <p:txBody>
          <a:bodyPr wrap="square" lIns="0" tIns="0" rIns="0" bIns="0" rtlCol="0" anchor="ctr">
            <a:normAutofit/>
          </a:bodyPr>
          <a:lstStyle/>
          <a:p>
            <a:pPr marL="0" indent="0" algn="ctr">
              <a:buNone/>
            </a:pPr>
            <a:r>
              <a:rPr lang="en-US" sz="2100" b="1" dirty="0">
                <a:solidFill>
                  <a:srgbClr val="FFFFFF"/>
                </a:solidFill>
                <a:latin typeface="Arial" pitchFamily="34" charset="0"/>
                <a:ea typeface="Arial" pitchFamily="34" charset="-122"/>
                <a:cs typeface="Arial" pitchFamily="34" charset="-120"/>
              </a:rPr>
              <a:t>Model đủ tốt</a:t>
            </a:r>
            <a:endParaRPr lang="en-US" sz="2100" dirty="0"/>
          </a:p>
        </p:txBody>
      </p:sp>
      <p:sp>
        <p:nvSpPr>
          <p:cNvPr id="32" name="Text 26"/>
          <p:cNvSpPr txBox="1"/>
          <p:nvPr/>
        </p:nvSpPr>
        <p:spPr>
          <a:xfrm>
            <a:off x="7662672" y="4645152"/>
            <a:ext cx="3291840" cy="475488"/>
          </a:xfrm>
          <a:prstGeom prst="rect">
            <a:avLst/>
          </a:prstGeom>
          <a:noFill/>
          <a:ln/>
        </p:spPr>
        <p:txBody>
          <a:bodyPr wrap="square" lIns="0" tIns="0" rIns="0" bIns="0" rtlCol="0" anchor="ctr">
            <a:normAutofit/>
          </a:bodyPr>
          <a:lstStyle/>
          <a:p>
            <a:pPr marL="0" indent="0" algn="ctr">
              <a:buNone/>
            </a:pPr>
            <a:r>
              <a:rPr lang="en-US" sz="1150" b="1" dirty="0">
                <a:solidFill>
                  <a:srgbClr val="CBD5E1"/>
                </a:solidFill>
                <a:latin typeface="Arial" pitchFamily="34" charset="0"/>
                <a:ea typeface="Arial" pitchFamily="34" charset="-122"/>
                <a:cs typeface="Arial" pitchFamily="34" charset="-120"/>
              </a:rPr>
              <a:t>Tính trung thực là một phần của chất lượng kỹ thuật.</a:t>
            </a:r>
            <a:endParaRPr lang="en-US" sz="1150" dirty="0"/>
          </a:p>
        </p:txBody>
      </p:sp>
      <p:sp>
        <p:nvSpPr>
          <p:cNvPr id="33" name="Shape 27"/>
          <p:cNvSpPr/>
          <p:nvPr/>
        </p:nvSpPr>
        <p:spPr>
          <a:xfrm>
            <a:off x="566928" y="5742432"/>
            <a:ext cx="11073384" cy="402336"/>
          </a:xfrm>
          <a:prstGeom prst="roundRect">
            <a:avLst>
              <a:gd name="adj" fmla="val 9091"/>
            </a:avLst>
          </a:prstGeom>
          <a:solidFill>
            <a:srgbClr val="DCFCE7"/>
          </a:solidFill>
          <a:ln w="12700">
            <a:solidFill>
              <a:srgbClr val="DCFCE7"/>
            </a:solidFill>
            <a:prstDash val="solid"/>
          </a:ln>
        </p:spPr>
      </p:sp>
      <p:sp>
        <p:nvSpPr>
          <p:cNvPr id="34" name="Text 28"/>
          <p:cNvSpPr txBox="1"/>
          <p:nvPr/>
        </p:nvSpPr>
        <p:spPr>
          <a:xfrm>
            <a:off x="822960" y="5742432"/>
            <a:ext cx="10570464" cy="402336"/>
          </a:xfrm>
          <a:prstGeom prst="rect">
            <a:avLst/>
          </a:prstGeom>
          <a:noFill/>
          <a:ln/>
        </p:spPr>
        <p:txBody>
          <a:bodyPr wrap="square" lIns="0" tIns="0" rIns="0" bIns="0" rtlCol="0" anchor="ctr">
            <a:normAutofit/>
          </a:bodyPr>
          <a:lstStyle/>
          <a:p>
            <a:pPr marL="0" indent="0" algn="ctr">
              <a:buNone/>
            </a:pPr>
            <a:r>
              <a:rPr lang="en-US" sz="1150" b="1" dirty="0">
                <a:solidFill>
                  <a:srgbClr val="15803D"/>
                </a:solidFill>
                <a:latin typeface="Arial" pitchFamily="34" charset="0"/>
                <a:ea typeface="Arial" pitchFamily="34" charset="-122"/>
                <a:cs typeface="Arial" pitchFamily="34" charset="-120"/>
              </a:rPr>
              <a:t>Nền tảng hiện tại đủ rõ để tiếp tục fine-tune, so sánh model và mở rộng evaluation.</a:t>
            </a:r>
            <a:endParaRPr lang="en-US" sz="1150" dirty="0"/>
          </a:p>
        </p:txBody>
      </p:sp>
      <p:sp>
        <p:nvSpPr>
          <p:cNvPr id="35" name="Shape 29"/>
          <p:cNvSpPr/>
          <p:nvPr/>
        </p:nvSpPr>
        <p:spPr>
          <a:xfrm>
            <a:off x="530352" y="6382512"/>
            <a:ext cx="11128248" cy="0"/>
          </a:xfrm>
          <a:prstGeom prst="line">
            <a:avLst/>
          </a:prstGeom>
          <a:noFill/>
          <a:ln w="10160">
            <a:solidFill>
              <a:srgbClr val="E2E8F0"/>
            </a:solidFill>
            <a:prstDash val="solid"/>
          </a:ln>
        </p:spPr>
      </p:sp>
      <p:sp>
        <p:nvSpPr>
          <p:cNvPr id="36" name="Text 30"/>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Nguồn: docs/ARCHITECTURE.md • tests/test_no_fabrication.py • tests/test_inference.py.</a:t>
            </a:r>
            <a:endParaRPr lang="en-US" sz="850" dirty="0"/>
          </a:p>
        </p:txBody>
      </p:sp>
      <p:sp>
        <p:nvSpPr>
          <p:cNvPr id="37"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30352" y="310896"/>
            <a:ext cx="4389120" cy="219456"/>
          </a:xfrm>
          <a:prstGeom prst="rect">
            <a:avLst/>
          </a:prstGeom>
          <a:noFill/>
          <a:ln/>
        </p:spPr>
        <p:txBody>
          <a:bodyPr wrap="square" lIns="0" tIns="0" rIns="0" bIns="0" rtlCol="0" anchor="ctr">
            <a:normAutofit/>
          </a:bodyPr>
          <a:lstStyle/>
          <a:p>
            <a:pPr marL="0" indent="0" algn="l">
              <a:buNone/>
            </a:pPr>
            <a:r>
              <a:rPr lang="en-US" sz="1050" b="1" dirty="0">
                <a:solidFill>
                  <a:srgbClr val="1D4ED8"/>
                </a:solidFill>
                <a:latin typeface="Arial" pitchFamily="34" charset="0"/>
                <a:ea typeface="Arial" pitchFamily="34" charset="-122"/>
                <a:cs typeface="Arial" pitchFamily="34" charset="-120"/>
              </a:rPr>
              <a:t>25  /  HƯỚNG PHÁT TRIỂN</a:t>
            </a:r>
            <a:endParaRPr lang="en-US" sz="1050" dirty="0"/>
          </a:p>
        </p:txBody>
      </p:sp>
      <p:sp>
        <p:nvSpPr>
          <p:cNvPr id="3" name="Text 1"/>
          <p:cNvSpPr txBox="1"/>
          <p:nvPr/>
        </p:nvSpPr>
        <p:spPr>
          <a:xfrm>
            <a:off x="530352" y="630936"/>
            <a:ext cx="10927080" cy="438912"/>
          </a:xfrm>
          <a:prstGeom prst="rect">
            <a:avLst/>
          </a:prstGeom>
          <a:noFill/>
          <a:ln/>
        </p:spPr>
        <p:txBody>
          <a:bodyPr wrap="square" lIns="0" tIns="0" rIns="0" bIns="0" rtlCol="0" anchor="ctr">
            <a:normAutofit/>
          </a:bodyPr>
          <a:lstStyle/>
          <a:p>
            <a:pPr marL="0" indent="0" algn="l">
              <a:buNone/>
            </a:pPr>
            <a:r>
              <a:rPr lang="en-US" sz="2500" b="1" dirty="0">
                <a:solidFill>
                  <a:srgbClr val="0F172A"/>
                </a:solidFill>
                <a:latin typeface="Arial" pitchFamily="34" charset="0"/>
                <a:ea typeface="Arial" pitchFamily="34" charset="-122"/>
                <a:cs typeface="Arial" pitchFamily="34" charset="-120"/>
              </a:rPr>
              <a:t>Fine-tune là bước tiếp theo hợp lý</a:t>
            </a:r>
            <a:endParaRPr lang="en-US" sz="2500" dirty="0"/>
          </a:p>
        </p:txBody>
      </p:sp>
      <p:sp>
        <p:nvSpPr>
          <p:cNvPr id="4" name="Text 2"/>
          <p:cNvSpPr txBox="1"/>
          <p:nvPr/>
        </p:nvSpPr>
        <p:spPr>
          <a:xfrm>
            <a:off x="530352" y="1069848"/>
            <a:ext cx="10789920" cy="256032"/>
          </a:xfrm>
          <a:prstGeom prst="rect">
            <a:avLst/>
          </a:prstGeom>
          <a:noFill/>
          <a:ln/>
        </p:spPr>
        <p:txBody>
          <a:bodyPr wrap="square" lIns="0" tIns="0" rIns="0" bIns="0" rtlCol="0" anchor="ctr">
            <a:normAutofit/>
          </a:bodyPr>
          <a:lstStyle/>
          <a:p>
            <a:pPr marL="0" indent="0" algn="l">
              <a:buNone/>
            </a:pPr>
            <a:r>
              <a:rPr lang="en-US" sz="1150" dirty="0">
                <a:solidFill>
                  <a:srgbClr val="64748B"/>
                </a:solidFill>
                <a:latin typeface="Arial" pitchFamily="34" charset="0"/>
                <a:ea typeface="Arial" pitchFamily="34" charset="-122"/>
                <a:cs typeface="Arial" pitchFamily="34" charset="-120"/>
              </a:rPr>
              <a:t>Roadmap ba giai đoạn: nâng chất lượng, tăng độ bền, rồi tối ưu triển khai.</a:t>
            </a:r>
            <a:endParaRPr lang="en-US" sz="1150" dirty="0"/>
          </a:p>
        </p:txBody>
      </p:sp>
      <p:sp>
        <p:nvSpPr>
          <p:cNvPr id="5" name="Shape 3"/>
          <p:cNvSpPr/>
          <p:nvPr/>
        </p:nvSpPr>
        <p:spPr>
          <a:xfrm>
            <a:off x="530352" y="1353312"/>
            <a:ext cx="585216" cy="50292"/>
          </a:xfrm>
          <a:prstGeom prst="rect">
            <a:avLst/>
          </a:prstGeom>
          <a:solidFill>
            <a:srgbClr val="1D4ED8"/>
          </a:solidFill>
          <a:ln w="12700">
            <a:solidFill>
              <a:srgbClr val="1D4ED8"/>
            </a:solidFill>
            <a:prstDash val="solid"/>
          </a:ln>
        </p:spPr>
      </p:sp>
      <p:sp>
        <p:nvSpPr>
          <p:cNvPr id="6" name="Shape 4"/>
          <p:cNvSpPr/>
          <p:nvPr/>
        </p:nvSpPr>
        <p:spPr>
          <a:xfrm>
            <a:off x="1115568" y="1353312"/>
            <a:ext cx="10533888" cy="50292"/>
          </a:xfrm>
          <a:prstGeom prst="rect">
            <a:avLst/>
          </a:prstGeom>
          <a:solidFill>
            <a:srgbClr val="E2E8F0"/>
          </a:solidFill>
          <a:ln w="12700">
            <a:solidFill>
              <a:srgbClr val="E2E8F0"/>
            </a:solidFill>
            <a:prstDash val="solid"/>
          </a:ln>
        </p:spPr>
      </p:sp>
      <p:sp>
        <p:nvSpPr>
          <p:cNvPr id="7" name="Shape 5"/>
          <p:cNvSpPr/>
          <p:nvPr/>
        </p:nvSpPr>
        <p:spPr>
          <a:xfrm>
            <a:off x="566928" y="1865376"/>
            <a:ext cx="3310128" cy="3346704"/>
          </a:xfrm>
          <a:prstGeom prst="roundRect">
            <a:avLst>
              <a:gd name="adj" fmla="val 1381"/>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8" name="Shape 6"/>
          <p:cNvSpPr/>
          <p:nvPr/>
        </p:nvSpPr>
        <p:spPr>
          <a:xfrm>
            <a:off x="566928" y="1865376"/>
            <a:ext cx="3310128" cy="512064"/>
          </a:xfrm>
          <a:prstGeom prst="roundRect">
            <a:avLst>
              <a:gd name="adj" fmla="val 8929"/>
            </a:avLst>
          </a:prstGeom>
          <a:solidFill>
            <a:srgbClr val="1D4ED8"/>
          </a:solidFill>
          <a:ln w="12700">
            <a:solidFill>
              <a:srgbClr val="1D4ED8"/>
            </a:solidFill>
            <a:prstDash val="solid"/>
          </a:ln>
        </p:spPr>
      </p:sp>
      <p:sp>
        <p:nvSpPr>
          <p:cNvPr id="9" name="Text 7"/>
          <p:cNvSpPr txBox="1"/>
          <p:nvPr/>
        </p:nvSpPr>
        <p:spPr>
          <a:xfrm>
            <a:off x="768096" y="1865376"/>
            <a:ext cx="420624" cy="512064"/>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10" name="Text 8"/>
          <p:cNvSpPr txBox="1"/>
          <p:nvPr/>
        </p:nvSpPr>
        <p:spPr>
          <a:xfrm>
            <a:off x="1920240" y="1865376"/>
            <a:ext cx="1682496" cy="512064"/>
          </a:xfrm>
          <a:prstGeom prst="rect">
            <a:avLst/>
          </a:prstGeom>
          <a:noFill/>
          <a:ln/>
        </p:spPr>
        <p:txBody>
          <a:bodyPr wrap="square" lIns="0" tIns="0" rIns="0" bIns="0" rtlCol="0" anchor="ctr">
            <a:normAutofit/>
          </a:bodyPr>
          <a:lstStyle/>
          <a:p>
            <a:pPr marL="0" indent="0" algn="r">
              <a:buNone/>
            </a:pPr>
            <a:r>
              <a:rPr lang="en-US" sz="950" b="1" dirty="0">
                <a:solidFill>
                  <a:srgbClr val="FFFFFF"/>
                </a:solidFill>
                <a:latin typeface="Arial" pitchFamily="34" charset="0"/>
                <a:ea typeface="Arial" pitchFamily="34" charset="-122"/>
                <a:cs typeface="Arial" pitchFamily="34" charset="-120"/>
              </a:rPr>
              <a:t>Ưu tiên gần</a:t>
            </a:r>
            <a:endParaRPr lang="en-US" sz="950" dirty="0"/>
          </a:p>
        </p:txBody>
      </p:sp>
      <p:sp>
        <p:nvSpPr>
          <p:cNvPr id="11" name="Shape 9"/>
          <p:cNvSpPr/>
          <p:nvPr/>
        </p:nvSpPr>
        <p:spPr>
          <a:xfrm>
            <a:off x="804672" y="2670048"/>
            <a:ext cx="493776" cy="493776"/>
          </a:xfrm>
          <a:prstGeom prst="ellipse">
            <a:avLst/>
          </a:prstGeom>
          <a:solidFill>
            <a:srgbClr val="DBEAFE"/>
          </a:solidFill>
          <a:ln w="12700">
            <a:solidFill>
              <a:srgbClr val="DBEAFE"/>
            </a:solidFill>
            <a:prstDash val="solid"/>
          </a:ln>
        </p:spPr>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8116" y="2793492"/>
            <a:ext cx="246888" cy="246888"/>
          </a:xfrm>
          <a:prstGeom prst="rect">
            <a:avLst/>
          </a:prstGeom>
        </p:spPr>
      </p:pic>
      <p:sp>
        <p:nvSpPr>
          <p:cNvPr id="13" name="Text 10"/>
          <p:cNvSpPr txBox="1"/>
          <p:nvPr/>
        </p:nvSpPr>
        <p:spPr>
          <a:xfrm>
            <a:off x="1463040" y="2670048"/>
            <a:ext cx="2084832" cy="402336"/>
          </a:xfrm>
          <a:prstGeom prst="rect">
            <a:avLst/>
          </a:prstGeom>
          <a:noFill/>
          <a:ln/>
        </p:spPr>
        <p:txBody>
          <a:bodyPr wrap="square" lIns="0" tIns="0" rIns="0" bIns="0" rtlCol="0" anchor="ctr">
            <a:normAutofit/>
          </a:bodyPr>
          <a:lstStyle/>
          <a:p>
            <a:pPr marL="0" indent="0" algn="l">
              <a:buNone/>
            </a:pPr>
            <a:r>
              <a:rPr lang="en-US" sz="1300" b="1" dirty="0">
                <a:solidFill>
                  <a:srgbClr val="1D4ED8"/>
                </a:solidFill>
                <a:latin typeface="Arial" pitchFamily="34" charset="0"/>
                <a:ea typeface="Arial" pitchFamily="34" charset="-122"/>
                <a:cs typeface="Arial" pitchFamily="34" charset="-120"/>
              </a:rPr>
              <a:t>NÂNG CHẤT LƯỢNG</a:t>
            </a:r>
            <a:endParaRPr lang="en-US" sz="1300" dirty="0"/>
          </a:p>
        </p:txBody>
      </p:sp>
      <p:sp>
        <p:nvSpPr>
          <p:cNvPr id="14" name="Shape 11"/>
          <p:cNvSpPr/>
          <p:nvPr/>
        </p:nvSpPr>
        <p:spPr>
          <a:xfrm>
            <a:off x="841248" y="3557016"/>
            <a:ext cx="73152" cy="73152"/>
          </a:xfrm>
          <a:prstGeom prst="ellipse">
            <a:avLst/>
          </a:prstGeom>
          <a:solidFill>
            <a:srgbClr val="1D4ED8"/>
          </a:solidFill>
          <a:ln w="12700">
            <a:solidFill>
              <a:srgbClr val="1D4ED8"/>
            </a:solidFill>
            <a:prstDash val="solid"/>
          </a:ln>
        </p:spPr>
      </p:sp>
      <p:sp>
        <p:nvSpPr>
          <p:cNvPr id="15" name="Text 12"/>
          <p:cNvSpPr txBox="1"/>
          <p:nvPr/>
        </p:nvSpPr>
        <p:spPr>
          <a:xfrm>
            <a:off x="1005840" y="3456432"/>
            <a:ext cx="2578608" cy="347472"/>
          </a:xfrm>
          <a:prstGeom prst="rect">
            <a:avLst/>
          </a:prstGeom>
          <a:noFill/>
          <a:ln/>
        </p:spPr>
        <p:txBody>
          <a:bodyPr wrap="square" lIns="0" tIns="0" rIns="0" bIns="0" rtlCol="0" anchor="t">
            <a:normAutofit/>
          </a:bodyPr>
          <a:lstStyle/>
          <a:p>
            <a:pPr marL="0" indent="0" algn="l">
              <a:buNone/>
            </a:pPr>
            <a:r>
              <a:rPr lang="en-US" sz="1150" dirty="0">
                <a:solidFill>
                  <a:srgbClr val="334155"/>
                </a:solidFill>
                <a:latin typeface="Arial" pitchFamily="34" charset="0"/>
                <a:ea typeface="Arial" pitchFamily="34" charset="-122"/>
                <a:cs typeface="Arial" pitchFamily="34" charset="-120"/>
              </a:rPr>
              <a:t>Fine-tune trên full ViSEC</a:t>
            </a:r>
            <a:endParaRPr lang="en-US" sz="1150" dirty="0"/>
          </a:p>
        </p:txBody>
      </p:sp>
      <p:sp>
        <p:nvSpPr>
          <p:cNvPr id="16" name="Shape 13"/>
          <p:cNvSpPr/>
          <p:nvPr/>
        </p:nvSpPr>
        <p:spPr>
          <a:xfrm>
            <a:off x="841248" y="4178808"/>
            <a:ext cx="73152" cy="73152"/>
          </a:xfrm>
          <a:prstGeom prst="ellipse">
            <a:avLst/>
          </a:prstGeom>
          <a:solidFill>
            <a:srgbClr val="1D4ED8"/>
          </a:solidFill>
          <a:ln w="12700">
            <a:solidFill>
              <a:srgbClr val="1D4ED8"/>
            </a:solidFill>
            <a:prstDash val="solid"/>
          </a:ln>
        </p:spPr>
      </p:sp>
      <p:sp>
        <p:nvSpPr>
          <p:cNvPr id="17" name="Text 14"/>
          <p:cNvSpPr txBox="1"/>
          <p:nvPr/>
        </p:nvSpPr>
        <p:spPr>
          <a:xfrm>
            <a:off x="1005840" y="4078224"/>
            <a:ext cx="2578608" cy="347472"/>
          </a:xfrm>
          <a:prstGeom prst="rect">
            <a:avLst/>
          </a:prstGeom>
          <a:noFill/>
          <a:ln/>
        </p:spPr>
        <p:txBody>
          <a:bodyPr wrap="square" lIns="0" tIns="0" rIns="0" bIns="0" rtlCol="0" anchor="t">
            <a:normAutofit/>
          </a:bodyPr>
          <a:lstStyle/>
          <a:p>
            <a:pPr marL="0" indent="0" algn="l">
              <a:buNone/>
            </a:pPr>
            <a:r>
              <a:rPr lang="en-US" sz="1150" dirty="0">
                <a:solidFill>
                  <a:srgbClr val="334155"/>
                </a:solidFill>
                <a:latin typeface="Arial" pitchFamily="34" charset="0"/>
                <a:ea typeface="Arial" pitchFamily="34" charset="-122"/>
                <a:cs typeface="Arial" pitchFamily="34" charset="-120"/>
              </a:rPr>
              <a:t>Pitch shift • time stretch • noise</a:t>
            </a:r>
            <a:endParaRPr lang="en-US" sz="1150" dirty="0"/>
          </a:p>
        </p:txBody>
      </p:sp>
      <p:sp>
        <p:nvSpPr>
          <p:cNvPr id="18" name="Shape 15"/>
          <p:cNvSpPr/>
          <p:nvPr/>
        </p:nvSpPr>
        <p:spPr>
          <a:xfrm>
            <a:off x="3913632" y="3584448"/>
            <a:ext cx="384048" cy="0"/>
          </a:xfrm>
          <a:prstGeom prst="line">
            <a:avLst/>
          </a:prstGeom>
          <a:noFill/>
          <a:ln w="19050">
            <a:solidFill>
              <a:srgbClr val="1D4ED8"/>
            </a:solidFill>
            <a:prstDash val="solid"/>
            <a:tailEnd type="triangle"/>
          </a:ln>
        </p:spPr>
      </p:sp>
      <p:sp>
        <p:nvSpPr>
          <p:cNvPr id="19" name="Shape 16"/>
          <p:cNvSpPr/>
          <p:nvPr/>
        </p:nvSpPr>
        <p:spPr>
          <a:xfrm>
            <a:off x="4352544" y="1865376"/>
            <a:ext cx="3310128" cy="3346704"/>
          </a:xfrm>
          <a:prstGeom prst="roundRect">
            <a:avLst>
              <a:gd name="adj" fmla="val 1381"/>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20" name="Shape 17"/>
          <p:cNvSpPr/>
          <p:nvPr/>
        </p:nvSpPr>
        <p:spPr>
          <a:xfrm>
            <a:off x="4352544" y="1865376"/>
            <a:ext cx="3310128" cy="512064"/>
          </a:xfrm>
          <a:prstGeom prst="roundRect">
            <a:avLst>
              <a:gd name="adj" fmla="val 8929"/>
            </a:avLst>
          </a:prstGeom>
          <a:solidFill>
            <a:srgbClr val="15803D"/>
          </a:solidFill>
          <a:ln w="12700">
            <a:solidFill>
              <a:srgbClr val="15803D"/>
            </a:solidFill>
            <a:prstDash val="solid"/>
          </a:ln>
        </p:spPr>
      </p:sp>
      <p:sp>
        <p:nvSpPr>
          <p:cNvPr id="21" name="Text 18"/>
          <p:cNvSpPr txBox="1"/>
          <p:nvPr/>
        </p:nvSpPr>
        <p:spPr>
          <a:xfrm>
            <a:off x="4553712" y="1865376"/>
            <a:ext cx="420624" cy="512064"/>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22" name="Text 19"/>
          <p:cNvSpPr txBox="1"/>
          <p:nvPr/>
        </p:nvSpPr>
        <p:spPr>
          <a:xfrm>
            <a:off x="5705856" y="1865376"/>
            <a:ext cx="1682496" cy="512064"/>
          </a:xfrm>
          <a:prstGeom prst="rect">
            <a:avLst/>
          </a:prstGeom>
          <a:noFill/>
          <a:ln/>
        </p:spPr>
        <p:txBody>
          <a:bodyPr wrap="square" lIns="0" tIns="0" rIns="0" bIns="0" rtlCol="0" anchor="ctr">
            <a:normAutofit/>
          </a:bodyPr>
          <a:lstStyle/>
          <a:p>
            <a:pPr marL="0" indent="0" algn="r">
              <a:buNone/>
            </a:pPr>
            <a:r>
              <a:rPr lang="en-US" sz="950" b="1" dirty="0">
                <a:solidFill>
                  <a:srgbClr val="FFFFFF"/>
                </a:solidFill>
                <a:latin typeface="Arial" pitchFamily="34" charset="0"/>
                <a:ea typeface="Arial" pitchFamily="34" charset="-122"/>
                <a:cs typeface="Arial" pitchFamily="34" charset="-120"/>
              </a:rPr>
              <a:t>Giai đoạn hai</a:t>
            </a:r>
            <a:endParaRPr lang="en-US" sz="950" dirty="0"/>
          </a:p>
        </p:txBody>
      </p:sp>
      <p:sp>
        <p:nvSpPr>
          <p:cNvPr id="23" name="Shape 20"/>
          <p:cNvSpPr/>
          <p:nvPr/>
        </p:nvSpPr>
        <p:spPr>
          <a:xfrm>
            <a:off x="4590288" y="2670048"/>
            <a:ext cx="493776" cy="493776"/>
          </a:xfrm>
          <a:prstGeom prst="ellipse">
            <a:avLst/>
          </a:prstGeom>
          <a:solidFill>
            <a:srgbClr val="DCFCE7"/>
          </a:solidFill>
          <a:ln w="12700">
            <a:solidFill>
              <a:srgbClr val="DCFCE7"/>
            </a:solidFill>
            <a:prstDash val="solid"/>
          </a:ln>
        </p:spPr>
      </p:sp>
      <p:pic>
        <p:nvPicPr>
          <p:cNvPr id="2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3732" y="2793492"/>
            <a:ext cx="246888" cy="246888"/>
          </a:xfrm>
          <a:prstGeom prst="rect">
            <a:avLst/>
          </a:prstGeom>
        </p:spPr>
      </p:pic>
      <p:sp>
        <p:nvSpPr>
          <p:cNvPr id="25" name="Text 21"/>
          <p:cNvSpPr txBox="1"/>
          <p:nvPr/>
        </p:nvSpPr>
        <p:spPr>
          <a:xfrm>
            <a:off x="5248656" y="2670048"/>
            <a:ext cx="2084832" cy="402336"/>
          </a:xfrm>
          <a:prstGeom prst="rect">
            <a:avLst/>
          </a:prstGeom>
          <a:noFill/>
          <a:ln/>
        </p:spPr>
        <p:txBody>
          <a:bodyPr wrap="square" lIns="0" tIns="0" rIns="0" bIns="0" rtlCol="0" anchor="ctr">
            <a:normAutofit/>
          </a:bodyPr>
          <a:lstStyle/>
          <a:p>
            <a:pPr marL="0" indent="0" algn="l">
              <a:buNone/>
            </a:pPr>
            <a:r>
              <a:rPr lang="en-US" sz="1300" b="1" dirty="0">
                <a:solidFill>
                  <a:srgbClr val="15803D"/>
                </a:solidFill>
                <a:latin typeface="Arial" pitchFamily="34" charset="0"/>
                <a:ea typeface="Arial" pitchFamily="34" charset="-122"/>
                <a:cs typeface="Arial" pitchFamily="34" charset="-120"/>
              </a:rPr>
              <a:t>TĂNG ĐỘ BỀN</a:t>
            </a:r>
            <a:endParaRPr lang="en-US" sz="1300" dirty="0"/>
          </a:p>
        </p:txBody>
      </p:sp>
      <p:sp>
        <p:nvSpPr>
          <p:cNvPr id="26" name="Shape 22"/>
          <p:cNvSpPr/>
          <p:nvPr/>
        </p:nvSpPr>
        <p:spPr>
          <a:xfrm>
            <a:off x="4626864" y="3557016"/>
            <a:ext cx="73152" cy="73152"/>
          </a:xfrm>
          <a:prstGeom prst="ellipse">
            <a:avLst/>
          </a:prstGeom>
          <a:solidFill>
            <a:srgbClr val="15803D"/>
          </a:solidFill>
          <a:ln w="12700">
            <a:solidFill>
              <a:srgbClr val="15803D"/>
            </a:solidFill>
            <a:prstDash val="solid"/>
          </a:ln>
        </p:spPr>
      </p:sp>
      <p:sp>
        <p:nvSpPr>
          <p:cNvPr id="27" name="Text 23"/>
          <p:cNvSpPr txBox="1"/>
          <p:nvPr/>
        </p:nvSpPr>
        <p:spPr>
          <a:xfrm>
            <a:off x="4791456" y="3456432"/>
            <a:ext cx="2578608" cy="347472"/>
          </a:xfrm>
          <a:prstGeom prst="rect">
            <a:avLst/>
          </a:prstGeom>
          <a:noFill/>
          <a:ln/>
        </p:spPr>
        <p:txBody>
          <a:bodyPr wrap="square" lIns="0" tIns="0" rIns="0" bIns="0" rtlCol="0" anchor="t">
            <a:normAutofit/>
          </a:bodyPr>
          <a:lstStyle/>
          <a:p>
            <a:pPr marL="0" indent="0" algn="l">
              <a:buNone/>
            </a:pPr>
            <a:r>
              <a:rPr lang="en-US" sz="1150" dirty="0">
                <a:solidFill>
                  <a:srgbClr val="334155"/>
                </a:solidFill>
                <a:latin typeface="Arial" pitchFamily="34" charset="0"/>
                <a:ea typeface="Arial" pitchFamily="34" charset="-122"/>
                <a:cs typeface="Arial" pitchFamily="34" charset="-120"/>
              </a:rPr>
              <a:t>Ensemble MERaLiON + Wav2Vec2-VN</a:t>
            </a:r>
            <a:endParaRPr lang="en-US" sz="1150" dirty="0"/>
          </a:p>
        </p:txBody>
      </p:sp>
      <p:sp>
        <p:nvSpPr>
          <p:cNvPr id="28" name="Shape 24"/>
          <p:cNvSpPr/>
          <p:nvPr/>
        </p:nvSpPr>
        <p:spPr>
          <a:xfrm>
            <a:off x="4626864" y="4178808"/>
            <a:ext cx="73152" cy="73152"/>
          </a:xfrm>
          <a:prstGeom prst="ellipse">
            <a:avLst/>
          </a:prstGeom>
          <a:solidFill>
            <a:srgbClr val="15803D"/>
          </a:solidFill>
          <a:ln w="12700">
            <a:solidFill>
              <a:srgbClr val="15803D"/>
            </a:solidFill>
            <a:prstDash val="solid"/>
          </a:ln>
        </p:spPr>
      </p:sp>
      <p:sp>
        <p:nvSpPr>
          <p:cNvPr id="29" name="Text 25"/>
          <p:cNvSpPr txBox="1"/>
          <p:nvPr/>
        </p:nvSpPr>
        <p:spPr>
          <a:xfrm>
            <a:off x="4791456" y="4078224"/>
            <a:ext cx="2578608" cy="347472"/>
          </a:xfrm>
          <a:prstGeom prst="rect">
            <a:avLst/>
          </a:prstGeom>
          <a:noFill/>
          <a:ln/>
        </p:spPr>
        <p:txBody>
          <a:bodyPr wrap="square" lIns="0" tIns="0" rIns="0" bIns="0" rtlCol="0" anchor="t">
            <a:normAutofit/>
          </a:bodyPr>
          <a:lstStyle/>
          <a:p>
            <a:pPr marL="0" indent="0" algn="l">
              <a:buNone/>
            </a:pPr>
            <a:r>
              <a:rPr lang="en-US" sz="1150" dirty="0">
                <a:solidFill>
                  <a:srgbClr val="334155"/>
                </a:solidFill>
                <a:latin typeface="Arial" pitchFamily="34" charset="0"/>
                <a:ea typeface="Arial" pitchFamily="34" charset="-122"/>
                <a:cs typeface="Arial" pitchFamily="34" charset="-120"/>
              </a:rPr>
              <a:t>Pseudo-labeling có kiểm soát</a:t>
            </a:r>
            <a:endParaRPr lang="en-US" sz="1150" dirty="0"/>
          </a:p>
        </p:txBody>
      </p:sp>
      <p:sp>
        <p:nvSpPr>
          <p:cNvPr id="30" name="Shape 26"/>
          <p:cNvSpPr/>
          <p:nvPr/>
        </p:nvSpPr>
        <p:spPr>
          <a:xfrm>
            <a:off x="7699248" y="3584448"/>
            <a:ext cx="384048" cy="0"/>
          </a:xfrm>
          <a:prstGeom prst="line">
            <a:avLst/>
          </a:prstGeom>
          <a:noFill/>
          <a:ln w="19050">
            <a:solidFill>
              <a:srgbClr val="1D4ED8"/>
            </a:solidFill>
            <a:prstDash val="solid"/>
            <a:tailEnd type="triangle"/>
          </a:ln>
        </p:spPr>
      </p:sp>
      <p:sp>
        <p:nvSpPr>
          <p:cNvPr id="31" name="Shape 27"/>
          <p:cNvSpPr/>
          <p:nvPr/>
        </p:nvSpPr>
        <p:spPr>
          <a:xfrm>
            <a:off x="8138160" y="1865376"/>
            <a:ext cx="3310128" cy="3346704"/>
          </a:xfrm>
          <a:prstGeom prst="roundRect">
            <a:avLst>
              <a:gd name="adj" fmla="val 1381"/>
            </a:avLst>
          </a:prstGeom>
          <a:solidFill>
            <a:srgbClr val="FFFFFF"/>
          </a:solidFill>
          <a:ln w="12700">
            <a:solidFill>
              <a:srgbClr val="E2E8F0"/>
            </a:solidFill>
            <a:prstDash val="solid"/>
          </a:ln>
          <a:effectLst>
            <a:outerShdw blurRad="12700" dist="50800" dir="2700000" algn="bl" rotWithShape="0">
              <a:srgbClr val="94A3B8">
                <a:alpha val="14000"/>
              </a:srgbClr>
            </a:outerShdw>
          </a:effectLst>
        </p:spPr>
      </p:sp>
      <p:sp>
        <p:nvSpPr>
          <p:cNvPr id="32" name="Shape 28"/>
          <p:cNvSpPr/>
          <p:nvPr/>
        </p:nvSpPr>
        <p:spPr>
          <a:xfrm>
            <a:off x="8138160" y="1865376"/>
            <a:ext cx="3310128" cy="512064"/>
          </a:xfrm>
          <a:prstGeom prst="roundRect">
            <a:avLst>
              <a:gd name="adj" fmla="val 8929"/>
            </a:avLst>
          </a:prstGeom>
          <a:solidFill>
            <a:srgbClr val="B45309"/>
          </a:solidFill>
          <a:ln w="12700">
            <a:solidFill>
              <a:srgbClr val="B45309"/>
            </a:solidFill>
            <a:prstDash val="solid"/>
          </a:ln>
        </p:spPr>
      </p:sp>
      <p:sp>
        <p:nvSpPr>
          <p:cNvPr id="33" name="Text 29"/>
          <p:cNvSpPr txBox="1"/>
          <p:nvPr/>
        </p:nvSpPr>
        <p:spPr>
          <a:xfrm>
            <a:off x="8339328" y="1865376"/>
            <a:ext cx="420624" cy="512064"/>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34" name="Text 30"/>
          <p:cNvSpPr txBox="1"/>
          <p:nvPr/>
        </p:nvSpPr>
        <p:spPr>
          <a:xfrm>
            <a:off x="9491472" y="1865376"/>
            <a:ext cx="1682496" cy="512064"/>
          </a:xfrm>
          <a:prstGeom prst="rect">
            <a:avLst/>
          </a:prstGeom>
          <a:noFill/>
          <a:ln/>
        </p:spPr>
        <p:txBody>
          <a:bodyPr wrap="square" lIns="0" tIns="0" rIns="0" bIns="0" rtlCol="0" anchor="ctr">
            <a:normAutofit/>
          </a:bodyPr>
          <a:lstStyle/>
          <a:p>
            <a:pPr marL="0" indent="0" algn="r">
              <a:buNone/>
            </a:pPr>
            <a:r>
              <a:rPr lang="en-US" sz="950" b="1" dirty="0">
                <a:solidFill>
                  <a:srgbClr val="FFFFFF"/>
                </a:solidFill>
                <a:latin typeface="Arial" pitchFamily="34" charset="0"/>
                <a:ea typeface="Arial" pitchFamily="34" charset="-122"/>
                <a:cs typeface="Arial" pitchFamily="34" charset="-120"/>
              </a:rPr>
              <a:t>Sau khi đủ tốt</a:t>
            </a:r>
            <a:endParaRPr lang="en-US" sz="950" dirty="0"/>
          </a:p>
        </p:txBody>
      </p:sp>
      <p:sp>
        <p:nvSpPr>
          <p:cNvPr id="35" name="Shape 31"/>
          <p:cNvSpPr/>
          <p:nvPr/>
        </p:nvSpPr>
        <p:spPr>
          <a:xfrm>
            <a:off x="8375904" y="2670048"/>
            <a:ext cx="493776" cy="493776"/>
          </a:xfrm>
          <a:prstGeom prst="ellipse">
            <a:avLst/>
          </a:prstGeom>
          <a:solidFill>
            <a:srgbClr val="FEF3C7"/>
          </a:solidFill>
          <a:ln w="12700">
            <a:solidFill>
              <a:srgbClr val="FEF3C7"/>
            </a:solidFill>
            <a:prstDash val="solid"/>
          </a:ln>
        </p:spPr>
      </p:sp>
      <p:pic>
        <p:nvPicPr>
          <p:cNvPr id="3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99348" y="2793492"/>
            <a:ext cx="246888" cy="246888"/>
          </a:xfrm>
          <a:prstGeom prst="rect">
            <a:avLst/>
          </a:prstGeom>
        </p:spPr>
      </p:pic>
      <p:sp>
        <p:nvSpPr>
          <p:cNvPr id="37" name="Text 32"/>
          <p:cNvSpPr txBox="1"/>
          <p:nvPr/>
        </p:nvSpPr>
        <p:spPr>
          <a:xfrm>
            <a:off x="9034272" y="2670048"/>
            <a:ext cx="2084832" cy="402336"/>
          </a:xfrm>
          <a:prstGeom prst="rect">
            <a:avLst/>
          </a:prstGeom>
          <a:noFill/>
          <a:ln/>
        </p:spPr>
        <p:txBody>
          <a:bodyPr wrap="square" lIns="0" tIns="0" rIns="0" bIns="0" rtlCol="0" anchor="ctr">
            <a:normAutofit/>
          </a:bodyPr>
          <a:lstStyle/>
          <a:p>
            <a:pPr marL="0" indent="0" algn="l">
              <a:buNone/>
            </a:pPr>
            <a:r>
              <a:rPr lang="en-US" sz="1300" b="1" dirty="0">
                <a:solidFill>
                  <a:srgbClr val="B45309"/>
                </a:solidFill>
                <a:latin typeface="Arial" pitchFamily="34" charset="0"/>
                <a:ea typeface="Arial" pitchFamily="34" charset="-122"/>
                <a:cs typeface="Arial" pitchFamily="34" charset="-120"/>
              </a:rPr>
              <a:t>TỐI ƯU TRIỂN KHAI</a:t>
            </a:r>
            <a:endParaRPr lang="en-US" sz="1300" dirty="0"/>
          </a:p>
        </p:txBody>
      </p:sp>
      <p:sp>
        <p:nvSpPr>
          <p:cNvPr id="38" name="Shape 33"/>
          <p:cNvSpPr/>
          <p:nvPr/>
        </p:nvSpPr>
        <p:spPr>
          <a:xfrm>
            <a:off x="8412480" y="3557016"/>
            <a:ext cx="73152" cy="73152"/>
          </a:xfrm>
          <a:prstGeom prst="ellipse">
            <a:avLst/>
          </a:prstGeom>
          <a:solidFill>
            <a:srgbClr val="B45309"/>
          </a:solidFill>
          <a:ln w="12700">
            <a:solidFill>
              <a:srgbClr val="B45309"/>
            </a:solidFill>
            <a:prstDash val="solid"/>
          </a:ln>
        </p:spPr>
      </p:sp>
      <p:sp>
        <p:nvSpPr>
          <p:cNvPr id="39" name="Text 34"/>
          <p:cNvSpPr txBox="1"/>
          <p:nvPr/>
        </p:nvSpPr>
        <p:spPr>
          <a:xfrm>
            <a:off x="8577072" y="3456432"/>
            <a:ext cx="2578608" cy="347472"/>
          </a:xfrm>
          <a:prstGeom prst="rect">
            <a:avLst/>
          </a:prstGeom>
          <a:noFill/>
          <a:ln/>
        </p:spPr>
        <p:txBody>
          <a:bodyPr wrap="square" lIns="0" tIns="0" rIns="0" bIns="0" rtlCol="0" anchor="t">
            <a:normAutofit/>
          </a:bodyPr>
          <a:lstStyle/>
          <a:p>
            <a:pPr marL="0" indent="0" algn="l">
              <a:buNone/>
            </a:pPr>
            <a:r>
              <a:rPr lang="en-US" sz="1150" dirty="0">
                <a:solidFill>
                  <a:srgbClr val="334155"/>
                </a:solidFill>
                <a:latin typeface="Arial" pitchFamily="34" charset="0"/>
                <a:ea typeface="Arial" pitchFamily="34" charset="-122"/>
                <a:cs typeface="Arial" pitchFamily="34" charset="-120"/>
              </a:rPr>
              <a:t>Quantization cho footprint nhỏ</a:t>
            </a:r>
            <a:endParaRPr lang="en-US" sz="1150" dirty="0"/>
          </a:p>
        </p:txBody>
      </p:sp>
      <p:sp>
        <p:nvSpPr>
          <p:cNvPr id="40" name="Shape 35"/>
          <p:cNvSpPr/>
          <p:nvPr/>
        </p:nvSpPr>
        <p:spPr>
          <a:xfrm>
            <a:off x="8412480" y="4178808"/>
            <a:ext cx="73152" cy="73152"/>
          </a:xfrm>
          <a:prstGeom prst="ellipse">
            <a:avLst/>
          </a:prstGeom>
          <a:solidFill>
            <a:srgbClr val="B45309"/>
          </a:solidFill>
          <a:ln w="12700">
            <a:solidFill>
              <a:srgbClr val="B45309"/>
            </a:solidFill>
            <a:prstDash val="solid"/>
          </a:ln>
        </p:spPr>
      </p:sp>
      <p:sp>
        <p:nvSpPr>
          <p:cNvPr id="41" name="Text 36"/>
          <p:cNvSpPr txBox="1"/>
          <p:nvPr/>
        </p:nvSpPr>
        <p:spPr>
          <a:xfrm>
            <a:off x="8577072" y="4078224"/>
            <a:ext cx="2578608" cy="347472"/>
          </a:xfrm>
          <a:prstGeom prst="rect">
            <a:avLst/>
          </a:prstGeom>
          <a:noFill/>
          <a:ln/>
        </p:spPr>
        <p:txBody>
          <a:bodyPr wrap="square" lIns="0" tIns="0" rIns="0" bIns="0" rtlCol="0" anchor="t">
            <a:normAutofit/>
          </a:bodyPr>
          <a:lstStyle/>
          <a:p>
            <a:pPr marL="0" indent="0" algn="l">
              <a:buNone/>
            </a:pPr>
            <a:r>
              <a:rPr lang="en-US" sz="1150" dirty="0">
                <a:solidFill>
                  <a:srgbClr val="334155"/>
                </a:solidFill>
                <a:latin typeface="Arial" pitchFamily="34" charset="0"/>
                <a:ea typeface="Arial" pitchFamily="34" charset="-122"/>
                <a:cs typeface="Arial" pitchFamily="34" charset="-120"/>
              </a:rPr>
              <a:t>Cross-validation + monitoring</a:t>
            </a:r>
            <a:endParaRPr lang="en-US" sz="1150" dirty="0"/>
          </a:p>
        </p:txBody>
      </p:sp>
      <p:sp>
        <p:nvSpPr>
          <p:cNvPr id="42" name="Shape 37"/>
          <p:cNvSpPr/>
          <p:nvPr/>
        </p:nvSpPr>
        <p:spPr>
          <a:xfrm>
            <a:off x="566928" y="5486400"/>
            <a:ext cx="11073384" cy="658368"/>
          </a:xfrm>
          <a:prstGeom prst="roundRect">
            <a:avLst>
              <a:gd name="adj" fmla="val 5556"/>
            </a:avLst>
          </a:prstGeom>
          <a:solidFill>
            <a:srgbClr val="0F172A"/>
          </a:solidFill>
          <a:ln w="12700">
            <a:solidFill>
              <a:srgbClr val="0F172A"/>
            </a:solidFill>
            <a:prstDash val="solid"/>
          </a:ln>
        </p:spPr>
      </p:sp>
      <p:sp>
        <p:nvSpPr>
          <p:cNvPr id="43" name="Text 38"/>
          <p:cNvSpPr txBox="1"/>
          <p:nvPr/>
        </p:nvSpPr>
        <p:spPr>
          <a:xfrm>
            <a:off x="859536" y="5486400"/>
            <a:ext cx="1170432" cy="658368"/>
          </a:xfrm>
          <a:prstGeom prst="rect">
            <a:avLst/>
          </a:prstGeom>
          <a:noFill/>
          <a:ln/>
        </p:spPr>
        <p:txBody>
          <a:bodyPr wrap="square" lIns="0" tIns="0" rIns="0" bIns="0" rtlCol="0" anchor="ctr">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Q&amp;A</a:t>
            </a:r>
            <a:endParaRPr lang="en-US" sz="2400" dirty="0"/>
          </a:p>
        </p:txBody>
      </p:sp>
      <p:sp>
        <p:nvSpPr>
          <p:cNvPr id="44" name="Text 39"/>
          <p:cNvSpPr txBox="1"/>
          <p:nvPr/>
        </p:nvSpPr>
        <p:spPr>
          <a:xfrm>
            <a:off x="2139696" y="5486400"/>
            <a:ext cx="4919472" cy="658368"/>
          </a:xfrm>
          <a:prstGeom prst="rect">
            <a:avLst/>
          </a:prstGeom>
          <a:noFill/>
          <a:ln/>
        </p:spPr>
        <p:txBody>
          <a:bodyPr wrap="square" lIns="0" tIns="0" rIns="0" bIns="0" rtlCol="0" anchor="ctr">
            <a:normAutofit/>
          </a:bodyPr>
          <a:lstStyle/>
          <a:p>
            <a:pPr marL="0" indent="0" algn="l">
              <a:buNone/>
            </a:pPr>
            <a:r>
              <a:rPr lang="en-US" sz="1400" b="1" dirty="0">
                <a:solidFill>
                  <a:srgbClr val="CBD5E1"/>
                </a:solidFill>
                <a:latin typeface="Arial" pitchFamily="34" charset="0"/>
                <a:ea typeface="Arial" pitchFamily="34" charset="-122"/>
                <a:cs typeface="Arial" pitchFamily="34" charset="-120"/>
              </a:rPr>
              <a:t>Cảm ơn thầy cô và các bạn đã lắng nghe.</a:t>
            </a:r>
            <a:endParaRPr lang="en-US" sz="1400" dirty="0"/>
          </a:p>
        </p:txBody>
      </p:sp>
      <p:sp>
        <p:nvSpPr>
          <p:cNvPr id="45" name="Shape 40"/>
          <p:cNvSpPr/>
          <p:nvPr/>
        </p:nvSpPr>
        <p:spPr>
          <a:xfrm>
            <a:off x="8942832" y="5641848"/>
            <a:ext cx="2267712" cy="347472"/>
          </a:xfrm>
          <a:prstGeom prst="roundRect">
            <a:avLst>
              <a:gd name="adj" fmla="val 10526"/>
            </a:avLst>
          </a:prstGeom>
          <a:solidFill>
            <a:srgbClr val="17375E"/>
          </a:solidFill>
          <a:ln w="12700">
            <a:solidFill>
              <a:srgbClr val="17375E"/>
            </a:solidFill>
            <a:prstDash val="solid"/>
          </a:ln>
        </p:spPr>
      </p:sp>
      <p:sp>
        <p:nvSpPr>
          <p:cNvPr id="46" name="Text 41"/>
          <p:cNvSpPr txBox="1"/>
          <p:nvPr/>
        </p:nvSpPr>
        <p:spPr>
          <a:xfrm>
            <a:off x="9015984" y="5641848"/>
            <a:ext cx="2121408" cy="347472"/>
          </a:xfrm>
          <a:prstGeom prst="rect">
            <a:avLst/>
          </a:prstGeom>
          <a:noFill/>
          <a:ln/>
        </p:spPr>
        <p:txBody>
          <a:bodyPr wrap="square" lIns="0" tIns="0" rIns="0" bIns="0" rtlCol="0" anchor="ctr">
            <a:normAutofit/>
          </a:bodyPr>
          <a:lstStyle/>
          <a:p>
            <a:pPr marL="0" indent="0" algn="ctr">
              <a:buNone/>
            </a:pPr>
            <a:r>
              <a:rPr lang="en-US" sz="1000" b="1" dirty="0">
                <a:solidFill>
                  <a:srgbClr val="BAE6FD"/>
                </a:solidFill>
                <a:latin typeface="Arial" pitchFamily="34" charset="0"/>
                <a:ea typeface="Arial" pitchFamily="34" charset="-122"/>
                <a:cs typeface="Arial" pitchFamily="34" charset="-120"/>
              </a:rPr>
              <a:t>40,25% → mục tiêu ≥ 65%</a:t>
            </a:r>
            <a:endParaRPr lang="en-US" sz="1000" dirty="0"/>
          </a:p>
        </p:txBody>
      </p:sp>
      <p:sp>
        <p:nvSpPr>
          <p:cNvPr id="47" name="Shape 42"/>
          <p:cNvSpPr/>
          <p:nvPr/>
        </p:nvSpPr>
        <p:spPr>
          <a:xfrm>
            <a:off x="530352" y="6382512"/>
            <a:ext cx="11128248" cy="0"/>
          </a:xfrm>
          <a:prstGeom prst="line">
            <a:avLst/>
          </a:prstGeom>
          <a:noFill/>
          <a:ln w="10160">
            <a:solidFill>
              <a:srgbClr val="E2E8F0"/>
            </a:solidFill>
            <a:prstDash val="solid"/>
          </a:ln>
        </p:spPr>
      </p:sp>
      <p:sp>
        <p:nvSpPr>
          <p:cNvPr id="48" name="Text 43"/>
          <p:cNvSpPr txBox="1"/>
          <p:nvPr/>
        </p:nvSpPr>
        <p:spPr>
          <a:xfrm>
            <a:off x="530352" y="6437376"/>
            <a:ext cx="10241280" cy="182880"/>
          </a:xfrm>
          <a:prstGeom prst="rect">
            <a:avLst/>
          </a:prstGeom>
          <a:noFill/>
          <a:ln/>
        </p:spPr>
        <p:txBody>
          <a:bodyPr wrap="square" lIns="0" tIns="0" rIns="0" bIns="0" rtlCol="0" anchor="t">
            <a:normAutofit/>
          </a:bodyPr>
          <a:lstStyle/>
          <a:p>
            <a:pPr marL="0" indent="0" algn="l">
              <a:buNone/>
            </a:pPr>
            <a:r>
              <a:rPr lang="en-US" sz="850" dirty="0">
                <a:solidFill>
                  <a:srgbClr val="64748B"/>
                </a:solidFill>
                <a:latin typeface="Arial" pitchFamily="34" charset="0"/>
                <a:ea typeface="Arial" pitchFamily="34" charset="-122"/>
                <a:cs typeface="Arial" pitchFamily="34" charset="-120"/>
              </a:rPr>
              <a:t>Roadmap: docs/USAGE.md (FAQ cải thiện) • đề xuất không kèm số gain chưa đo.</a:t>
            </a:r>
            <a:endParaRPr lang="en-US" sz="850" dirty="0"/>
          </a:p>
        </p:txBody>
      </p:sp>
      <p:sp>
        <p:nvSpPr>
          <p:cNvPr id="49" name="Slide Number Placeholder 0"/>
          <p:cNvSpPr>
            <a:spLocks noGrp="1"/>
          </p:cNvSpPr>
          <p:nvPr>
            <p:ph type="sldNum" sz="quarter" idx="4294967295"/>
          </p:nvPr>
        </p:nvSpPr>
        <p:spPr>
          <a:xfrm>
            <a:off x="11356848" y="6483096"/>
            <a:ext cx="384048"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4461</Words>
  <Application>Microsoft Macintosh PowerPoint</Application>
  <PresentationFormat>Widescreen</PresentationFormat>
  <Paragraphs>610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Liberation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Vietnamese Speech Emotion Recognition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Vietnamese Speech Emotion Recognition</dc:title>
  <dc:subject>AI/NLP thesis defense presentation</dc:subject>
  <dc:creator>OpenAI Codex</dc:creator>
  <cp:lastModifiedBy>Long Tran</cp:lastModifiedBy>
  <cp:revision>2</cp:revision>
  <dcterms:created xsi:type="dcterms:W3CDTF">2026-07-11T13:04:48Z</dcterms:created>
  <dcterms:modified xsi:type="dcterms:W3CDTF">2026-08-03T12:09:43Z</dcterms:modified>
</cp:coreProperties>
</file>